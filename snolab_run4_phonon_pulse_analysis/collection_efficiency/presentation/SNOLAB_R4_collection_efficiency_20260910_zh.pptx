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9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66666"/>
                </a:solidFill>
                <a:latin typeface="Droid Sans Fallback"/>
              </a:rP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103120"/>
            <a:ext cx="105156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 i="0">
                <a:solidFill>
                  <a:srgbClr val="1F3864"/>
                </a:solidFill>
                <a:latin typeface="Droid Sans Fallback"/>
              </a:rPr>
              <a:t>Z7 的声子收集效率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42976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333333"/>
                </a:solidFill>
                <a:latin typeface="Droid Sans Fallback"/>
              </a:rPr>
              <a:t>李志恒  ·  明尼苏达大学  ·  SuperCDMS SNOLAB Run 4  ·  2026 年 9 月</a:t>
            </a:r>
          </a:p>
          <a:p>
            <a:r>
              <a:rPr sz="1300" b="0" i="0">
                <a:solidFill>
                  <a:srgbClr val="666666"/>
                </a:solidFill>
                <a:latin typeface="Droid Sans Fallback"/>
              </a:rPr>
              <a:t>github.com/ZhihengLi0/urop  →  snolab_run4_phonon_pulse_analysis/collection_efficiency/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F3864"/>
                </a:solidFill>
                <a:latin typeface="Droid Sans Fallback"/>
              </a:rPr>
              <a:t>主要思路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11247120" cy="1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66666"/>
                </a:solidFill>
                <a:latin typeface="Droid Sans Fallback"/>
              </a:rPr>
              <a:t>2</a:t>
            </a:r>
          </a:p>
        </p:txBody>
      </p:sp>
      <p:pic>
        <p:nvPicPr>
          <p:cNvPr id="5" name="Picture 4" descr="ch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280160"/>
            <a:ext cx="10972800" cy="2377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3931920"/>
            <a:ext cx="1124712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 b="1" i="0">
                <a:solidFill>
                  <a:srgbClr val="C0392B"/>
                </a:solidFill>
                <a:latin typeface="Droid Sans Fallback"/>
              </a:rPr>
              <a:t>对于在 0 V 下工作的探测器（没有 NTL 效应）：</a:t>
            </a:r>
          </a:p>
          <a:p>
            <a:pPr>
              <a:spcAft>
                <a:spcPts val="800"/>
              </a:spcAft>
            </a:pPr>
            <a:r>
              <a:rPr sz="1800" b="0" i="0">
                <a:solidFill>
                  <a:srgbClr val="333333"/>
                </a:solidFill>
                <a:latin typeface="Droid Sans Fallback"/>
              </a:rPr>
              <a:t>收集效率  =  TES 吸收的能量（所有通道求和）  ÷  事件放进晶体的 10.37 keV</a:t>
            </a:r>
          </a:p>
          <a:p>
            <a:pPr>
              <a:spcAft>
                <a:spcPts val="800"/>
              </a:spcAft>
            </a:pPr>
            <a:r>
              <a:rPr sz="1800" b="0" i="0">
                <a:solidFill>
                  <a:srgbClr val="333333"/>
                </a:solidFill>
                <a:latin typeface="Droid Sans Fallback"/>
              </a:rPr>
              <a:t>样本：Z7，Ge 活化的 K 线事件，来自 SNOLAB R4（2207 个事件，30 个 series，11 个通道）。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F3864"/>
                </a:solidFill>
                <a:latin typeface="Droid Sans Fallback"/>
              </a:rPr>
              <a:t>公式和它需要的两个数</a:t>
            </a:r>
          </a:p>
          <a:p>
            <a:r>
              <a:rPr sz="1400" b="0" i="0">
                <a:solidFill>
                  <a:srgbClr val="666666"/>
                </a:solidFill>
                <a:latin typeface="Droid Sans Fallback"/>
              </a:rPr>
              <a:t>采用 CDMS 收集效率文档里的 Method 1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11247120" cy="1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66666"/>
                </a:solidFill>
                <a:latin typeface="Droid Sans Fallback"/>
              </a:rPr>
              <a:t>3</a:t>
            </a:r>
          </a:p>
        </p:txBody>
      </p:sp>
      <p:pic>
        <p:nvPicPr>
          <p:cNvPr id="5" name="Picture 4" descr="formul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2410" y="1143000"/>
            <a:ext cx="8468139" cy="32461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452628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 i="0">
                <a:solidFill>
                  <a:srgbClr val="333333"/>
                </a:solidFill>
                <a:latin typeface="Droid Sans Fallback"/>
              </a:rPr>
              <a:t>δP = 电流变化 δI 之后焦耳热的变化量：一个线性项，加一个很小的二次项。</a:t>
            </a:r>
          </a:p>
          <a:p>
            <a:pPr>
              <a:spcAft>
                <a:spcPts val="800"/>
              </a:spcAft>
            </a:pPr>
            <a:r>
              <a:rPr sz="1300" b="0" i="0">
                <a:solidFill>
                  <a:srgbClr val="333333"/>
                </a:solidFill>
                <a:latin typeface="Droid Sans Fallback"/>
              </a:rPr>
              <a:t>I₀：工作点上流过 TES 的电流 · R₀：工作点上 TES 的电阻 · R_L = R_p + R_sh：负载电阻（R_p 寄生电阻，R_sh 分流电阻）· δI：电流的变化，来自波形</a:t>
            </a:r>
          </a:p>
          <a:p>
            <a:pPr>
              <a:spcAft>
                <a:spcPts val="800"/>
              </a:spcAft>
            </a:pPr>
            <a:r>
              <a:rPr sz="1300" b="0" i="0">
                <a:solidFill>
                  <a:srgbClr val="333333"/>
                </a:solidFill>
                <a:latin typeface="Droid Sans Fallback"/>
              </a:rPr>
              <a:t>文档里还有一个 Method 2：换成我们的符号是 δP = I₀(R_L − R₀)·δI − R_L·(δI)² —— 线性项相同，只有二次项不同，能量低 1.7%（PBS1，15 个事件的中位数）。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5806440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 i="1">
                <a:solidFill>
                  <a:srgbClr val="666666"/>
                </a:solidFill>
                <a:latin typeface="Droid Sans Fallback"/>
              </a:rPr>
              <a:t>来源：Antoine Rehberg 的 CDMS wiki 页面 Collection Efficiency Analysis   —   confluence.slac.stanford.edu/spaces/CDMS/pages/542577254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F3864"/>
                </a:solidFill>
                <a:latin typeface="Droid Sans Fallback"/>
              </a:rPr>
              <a:t>例子：一个脉冲</a:t>
            </a:r>
          </a:p>
          <a:p>
            <a:r>
              <a:rPr sz="1400" b="0" i="0">
                <a:solidFill>
                  <a:srgbClr val="666666"/>
                </a:solidFill>
                <a:latin typeface="Droid Sans Fallback"/>
              </a:rPr>
              <a:t>Z7 PBS1，事件 30646：  </a:t>
            </a:r>
            <a:r>
              <a:rPr sz="1400" b="1" i="0">
                <a:solidFill>
                  <a:srgbClr val="333333"/>
                </a:solidFill>
                <a:latin typeface="Droid Sans Fallback"/>
              </a:rPr>
              <a:t>同一条波形，读成 ADC 计数、读成电流、读成功率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11247120" cy="1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66666"/>
                </a:solidFill>
                <a:latin typeface="Droid Sans Fallback"/>
              </a:rPr>
              <a:t>4</a:t>
            </a:r>
          </a:p>
        </p:txBody>
      </p:sp>
      <p:pic>
        <p:nvPicPr>
          <p:cNvPr id="5" name="Picture 4" descr="peak_ful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7530" y="1143000"/>
            <a:ext cx="6057900" cy="4846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6053328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 i="0">
                <a:solidFill>
                  <a:srgbClr val="C0392B"/>
                </a:solidFill>
                <a:latin typeface="Droid Sans Fallback"/>
              </a:rPr>
              <a:t>双指数拟合用的是 100 kHz 低通之后的波形（蓝线），不是原始采样点；原始采样点只是画出来对照。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F3864"/>
                </a:solidFill>
                <a:latin typeface="Droid Sans Fallback"/>
              </a:rPr>
              <a:t>脉冲高度：从拟合取，不从最大的采样点取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11247120" cy="1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66666"/>
                </a:solidFill>
                <a:latin typeface="Droid Sans Fallback"/>
              </a:rPr>
              <a:t>5</a:t>
            </a:r>
          </a:p>
        </p:txBody>
      </p:sp>
      <p:pic>
        <p:nvPicPr>
          <p:cNvPr id="5" name="Picture 4" descr="peak_t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272881"/>
            <a:ext cx="11247120" cy="513519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F3864"/>
                </a:solidFill>
                <a:latin typeface="Droid Sans Fallback"/>
              </a:rPr>
              <a:t>功率脉冲，它的面积就是能量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11247120" cy="1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66666"/>
                </a:solidFill>
                <a:latin typeface="Droid Sans Fallback"/>
              </a:rPr>
              <a:t>6</a:t>
            </a:r>
          </a:p>
        </p:txBody>
      </p:sp>
      <p:pic>
        <p:nvPicPr>
          <p:cNvPr id="5" name="Picture 4" descr="power_pane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6417" y="1143000"/>
            <a:ext cx="6031005" cy="5257800"/>
          </a:xfrm>
          <a:prstGeom prst="rect">
            <a:avLst/>
          </a:prstGeom>
        </p:spPr>
      </p:pic>
      <p:pic>
        <p:nvPicPr>
          <p:cNvPr id="6" name="Picture 5" descr="power_legend_z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8892" y="1920240"/>
            <a:ext cx="4284616" cy="374903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F3864"/>
                </a:solidFill>
                <a:latin typeface="Droid Sans Fallback"/>
              </a:rPr>
              <a:t>为什么对拟合积分，不是对原始数据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11247120" cy="1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66666"/>
                </a:solidFill>
                <a:latin typeface="Droid Sans Fallback"/>
              </a:rPr>
              <a:t>7</a:t>
            </a:r>
          </a:p>
        </p:txBody>
      </p:sp>
      <p:pic>
        <p:nvPicPr>
          <p:cNvPr id="5" name="Picture 4" descr="raw_cum_sl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8880" y="1143000"/>
            <a:ext cx="7315200" cy="466344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5788152"/>
            <a:ext cx="112471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 b="0" i="0">
                <a:solidFill>
                  <a:srgbClr val="333333"/>
                </a:solidFill>
                <a:latin typeface="Droid Sans Fallback"/>
              </a:rPr>
              <a:t>上：这两个事件的原始电流；右上角小图把脉冲之后的基线放大。下：由原始电流累计的能量（灰）和由拟合累计的能量（红）。</a:t>
            </a:r>
          </a:p>
          <a:p>
            <a:pPr>
              <a:spcAft>
                <a:spcPts val="800"/>
              </a:spcAft>
            </a:pPr>
            <a:r>
              <a:rPr sz="1300" b="1" i="0">
                <a:solidFill>
                  <a:srgbClr val="C0392B"/>
                </a:solidFill>
                <a:latin typeface="Droid Sans Fallback"/>
              </a:rPr>
              <a:t>右：脉冲过后电流比基线低 6 nA —— 埋在 28 nA 的噪声里看不出来，但 24 ms 积下来就是 −420 eV：原始 −169 eV，拟合 277 eV。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F3864"/>
                </a:solidFill>
                <a:latin typeface="Droid Sans Fallback"/>
              </a:rPr>
              <a:t>同一个事件的其他通道：加起来是 33%</a:t>
            </a:r>
          </a:p>
          <a:p>
            <a:r>
              <a:rPr sz="1400" b="0" i="0">
                <a:solidFill>
                  <a:srgbClr val="666666"/>
                </a:solidFill>
                <a:latin typeface="Droid Sans Fallback"/>
              </a:rPr>
              <a:t>Z7 事件 30646；11 个通道里的 4 个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11247120" cy="1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66666"/>
                </a:solidFill>
                <a:latin typeface="Droid Sans Fallback"/>
              </a:rPr>
              <a:t>8</a:t>
            </a:r>
          </a:p>
        </p:txBody>
      </p:sp>
      <p:pic>
        <p:nvPicPr>
          <p:cNvPr id="5" name="Picture 4" descr="allchan_sli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323022"/>
            <a:ext cx="7772400" cy="3983355"/>
          </a:xfrm>
          <a:prstGeom prst="rect">
            <a:avLst/>
          </a:prstGeom>
        </p:spPr>
      </p:pic>
      <p:pic>
        <p:nvPicPr>
          <p:cNvPr id="6" name="Picture 5" descr="chan_table_z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58200" y="1608151"/>
            <a:ext cx="3291840" cy="400745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02920" y="5577840"/>
            <a:ext cx="7863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0" i="0">
                <a:solidFill>
                  <a:srgbClr val="333333"/>
                </a:solidFill>
                <a:latin typeface="Droid Sans Fallback"/>
              </a:rPr>
              <a:t>各通道分到的能量很不均匀：60% 落在第 1 面；PES1 一个通道就有 489 eV，而 PES2 只有 195 eV。</a:t>
            </a:r>
          </a:p>
          <a:p>
            <a:pPr>
              <a:spcAft>
                <a:spcPts val="800"/>
              </a:spcAft>
            </a:pPr>
            <a:r>
              <a:rPr sz="1400" b="1" i="0">
                <a:solidFill>
                  <a:srgbClr val="C0392B"/>
                </a:solidFill>
                <a:latin typeface="Droid Sans Fallback"/>
              </a:rPr>
              <a:t>11 个通道加起来：3419 eV = 10.37 keV 的 33.0%。   PDS2（右下）有一个缓慢的大起伏。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F3864"/>
                </a:solidFill>
                <a:latin typeface="Droid Sans Fallback"/>
              </a:rPr>
              <a:t>现在看所有事件：一个通道给出又宽又歪的分布</a:t>
            </a:r>
          </a:p>
          <a:p>
            <a:r>
              <a:rPr sz="1400" b="0" i="0">
                <a:solidFill>
                  <a:srgbClr val="666666"/>
                </a:solidFill>
                <a:latin typeface="Droid Sans Fallback"/>
              </a:rPr>
              <a:t>PBS1，1917 个 K 线事件，每个事件一次拟合、一次积分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11247120" cy="1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66666"/>
                </a:solidFill>
                <a:latin typeface="Droid Sans Fallback"/>
              </a:rPr>
              <a:t>9</a:t>
            </a:r>
          </a:p>
        </p:txBody>
      </p:sp>
      <p:pic>
        <p:nvPicPr>
          <p:cNvPr id="5" name="Picture 4" descr="hist_PBS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148415"/>
            <a:ext cx="8046719" cy="538413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49640" y="146304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0" i="0">
                <a:solidFill>
                  <a:srgbClr val="333333"/>
                </a:solidFill>
                <a:latin typeface="Droid Sans Fallback"/>
              </a:rPr>
              <a:t>红色：来自拟合。灰色：官方窗口在原始波形上算的。峰位只差 0.2%。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C0392B"/>
                </a:solidFill>
                <a:latin typeface="Droid Sans Fallback"/>
              </a:rPr>
              <a:t>峰 285 eV，宽度 15% —— 这可是一条能量固定的谱线。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333333"/>
                </a:solidFill>
                <a:latin typeface="Droid Sans Fallback"/>
              </a:rPr>
              <a:t>往右拖的尾巴，是发生在这个通道附近的事件。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C0392B"/>
                </a:solidFill>
                <a:latin typeface="Droid Sans Fallback"/>
              </a:rPr>
              <a:t>单通道的宽度是事件位置，不是噪声。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F3864"/>
                </a:solidFill>
                <a:latin typeface="Droid Sans Fallback"/>
              </a:rPr>
              <a:t>各通道求和：30.5%</a:t>
            </a:r>
          </a:p>
          <a:p>
            <a:r>
              <a:rPr sz="1400" b="0" i="0">
                <a:solidFill>
                  <a:srgbClr val="666666"/>
                </a:solidFill>
                <a:latin typeface="Droid Sans Fallback"/>
              </a:rPr>
              <a:t>每个 K 线事件被 TES 吸收的总能量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11247120" cy="1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66666"/>
                </a:solidFill>
                <a:latin typeface="Droid Sans Fallback"/>
              </a:rPr>
              <a:t>10</a:t>
            </a:r>
          </a:p>
        </p:txBody>
      </p:sp>
      <p:pic>
        <p:nvPicPr>
          <p:cNvPr id="5" name="Picture 4" descr="hist_su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173806"/>
            <a:ext cx="8046719" cy="533334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549640" y="1463040"/>
            <a:ext cx="32918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C0392B"/>
                </a:solidFill>
                <a:latin typeface="Droid Sans Fallback"/>
              </a:rPr>
              <a:t>10 个通道求和，1827 个事件：3162 eV = 30.5%，宽度降到 7.5% —— 位置效应抵消了。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333333"/>
                </a:solidFill>
                <a:latin typeface="Droid Sans Fallback"/>
              </a:rPr>
              <a:t>PDS2 不算在内：它只有 42% 的事件能拟合上，而这些事件都发生在它附近。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C0392B"/>
                </a:solidFill>
                <a:latin typeface="Droid Sans Fallback"/>
              </a:rPr>
              <a:t>收集效率 30.5% ± 2.3%（σ/μ = 7.5%）。</a:t>
            </a:r>
          </a:p>
          <a:p>
            <a:pPr>
              <a:spcAft>
                <a:spcPts val="800"/>
              </a:spcAft>
            </a:pPr>
            <a:r>
              <a:rPr sz="1500" b="0" i="0">
                <a:solidFill>
                  <a:srgbClr val="333333"/>
                </a:solidFill>
                <a:latin typeface="Droid Sans Fallback"/>
              </a:rPr>
              <a:t>红线：10.37 keV —— 三分之二的能量根本没到 TES。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F3864"/>
                </a:solidFill>
                <a:latin typeface="Droid Sans Fallback"/>
              </a:rPr>
              <a:t>总结，以及还没落实的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11247120" cy="1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66666"/>
                </a:solidFill>
                <a:latin typeface="Droid Sans Fallback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63040"/>
            <a:ext cx="11247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 b="0" i="0">
                <a:solidFill>
                  <a:srgbClr val="333333"/>
                </a:solidFill>
                <a:latin typeface="Droid Sans Fallback"/>
              </a:rPr>
              <a:t>电流脉冲通过 TES 方程变成功率脉冲；功率下面的面积就是能量。</a:t>
            </a:r>
          </a:p>
          <a:p>
            <a:pPr>
              <a:spcAft>
                <a:spcPts val="800"/>
              </a:spcAft>
            </a:pPr>
            <a:r>
              <a:rPr sz="1900" b="0" i="0">
                <a:solidFill>
                  <a:srgbClr val="333333"/>
                </a:solidFill>
                <a:latin typeface="Droid Sans Fallback"/>
              </a:rPr>
              <a:t>能量用拟合脉冲来算，所以不受峰值噪声和基线漂移的影响。</a:t>
            </a:r>
          </a:p>
          <a:p>
            <a:pPr>
              <a:spcAft>
                <a:spcPts val="800"/>
              </a:spcAft>
            </a:pPr>
            <a:r>
              <a:rPr sz="1900" b="1" i="0">
                <a:solidFill>
                  <a:srgbClr val="C0392B"/>
                </a:solidFill>
                <a:latin typeface="Droid Sans Fallback"/>
              </a:rPr>
              <a:t>Z7 把一个 10.37 keV 事件的 30.5% ± 2.3%（σ/μ = 7.5%）吸收进 TES，10 个通道求和。   CDMS 文档在 R37 CUTE tower 上得到的是 26–41%。</a:t>
            </a:r>
          </a:p>
          <a:p>
            <a:pPr>
              <a:spcAft>
                <a:spcPts val="800"/>
              </a:spcAft>
            </a:pPr>
            <a:r>
              <a:rPr sz="1900" b="0" i="0">
                <a:solidFill>
                  <a:srgbClr val="333333"/>
                </a:solidFill>
                <a:latin typeface="Droid Sans Fallback"/>
              </a:rPr>
              <a:t>还没落实：只做了 Z7 · Z7 的偏压没有确认（按 0 V 算） · 没有 dI/dV · PDS2 没有算进去 · 12.5% 的事件在任何通道都拟合不上。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F3864"/>
                </a:solidFill>
                <a:latin typeface="Droid Sans Fallback"/>
              </a:rPr>
              <a:t>Backup — 事件谱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11247120" cy="1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66666"/>
                </a:solidFill>
                <a:latin typeface="Droid Sans Fallback"/>
              </a:rPr>
              <a:t>12</a:t>
            </a:r>
          </a:p>
        </p:txBody>
      </p:sp>
      <p:pic>
        <p:nvPicPr>
          <p:cNvPr id="5" name="Picture 4" descr="spectrum_zip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1910" y="1143000"/>
            <a:ext cx="10269140" cy="5257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F3864"/>
                </a:solidFill>
                <a:latin typeface="Droid Sans Fallback"/>
              </a:rPr>
              <a:t>Backup — 文档里的两个 Method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11247120" cy="1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66666"/>
                </a:solidFill>
                <a:latin typeface="Droid Sans Fallback"/>
              </a:rPr>
              <a:t>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25880"/>
            <a:ext cx="11247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 i="0">
                <a:solidFill>
                  <a:srgbClr val="333333"/>
                </a:solidFill>
                <a:latin typeface="Droid Sans Fallback"/>
              </a:rPr>
              <a:t>δP = I₀(R_L − R₀)·δI + c₂·R_L·(δI)²     c₂ = 2 是 Method 1（本报告用的），c₂ = −1 是 Method 2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333333"/>
                </a:solidFill>
                <a:latin typeface="Droid Sans Fallback"/>
              </a:rPr>
              <a:t>两者只有二次项不同：能量差 1.7%（PBS1，15 个事件的中位数）—— 远小于单通道 15% 的宽度和求和后 7.5% 的宽度。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333333"/>
                </a:solidFill>
                <a:latin typeface="Droid Sans Fallback"/>
              </a:rPr>
              <a:t>完整方程里的电感项需要 L 和 loop gain，要从 dI/dV 来，MSI 上这些 series 没有这个数据；这一项被忽略。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333333"/>
                </a:solidFill>
                <a:latin typeface="Droid Sans Fallback"/>
              </a:rPr>
              <a:t>官方 Eabs（触发在第 16383 点，基线是 93..15758 点的平均，5 阶 20 kHz 预滤波，窗口 −0.5/+1 ms，同一个公式）复现到 0.2%；直方图页上的灰色轮廓就是它。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F3864"/>
                </a:solidFill>
                <a:latin typeface="Droid Sans Fallback"/>
              </a:rPr>
              <a:t>Backup — 公式推导和逻辑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11247120" cy="1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66666"/>
                </a:solidFill>
                <a:latin typeface="Droid Sans Fallback"/>
              </a:rPr>
              <a:t>14</a:t>
            </a:r>
          </a:p>
        </p:txBody>
      </p:sp>
      <p:pic>
        <p:nvPicPr>
          <p:cNvPr id="5" name="Picture 4" descr="derivation_backup_z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7072" y="1143000"/>
            <a:ext cx="10258816" cy="53492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F3864"/>
                </a:solidFill>
                <a:latin typeface="Droid Sans Fallback"/>
              </a:rPr>
              <a:t>Backup — 15 个事件，拟合电流和功率（PBS1）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11247120" cy="1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66666"/>
                </a:solidFill>
                <a:latin typeface="Droid Sans Fallback"/>
              </a:rPr>
              <a:t>15</a:t>
            </a:r>
          </a:p>
        </p:txBody>
      </p:sp>
      <p:pic>
        <p:nvPicPr>
          <p:cNvPr id="5" name="Picture 4" descr="pulse_15ev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1354" y="1143000"/>
            <a:ext cx="6910251" cy="52578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F3864"/>
                </a:solidFill>
                <a:latin typeface="Droid Sans Fallback"/>
              </a:rPr>
              <a:t>Backup — 15 个事件，累计能量（PBS1）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11247120" cy="1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66666"/>
                </a:solidFill>
                <a:latin typeface="Droid Sans Fallback"/>
              </a:rPr>
              <a:t>16</a:t>
            </a:r>
          </a:p>
        </p:txBody>
      </p:sp>
      <p:pic>
        <p:nvPicPr>
          <p:cNvPr id="5" name="Picture 4" descr="cum_15even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1354" y="1143000"/>
            <a:ext cx="6910251" cy="52578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F3864"/>
                </a:solidFill>
                <a:latin typeface="Droid Sans Fallback"/>
              </a:rPr>
              <a:t>Backup — 事件 30646，全部通道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11247120" cy="1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66666"/>
                </a:solidFill>
                <a:latin typeface="Droid Sans Fallback"/>
              </a:rPr>
              <a:t>17</a:t>
            </a:r>
          </a:p>
        </p:txBody>
      </p:sp>
      <p:pic>
        <p:nvPicPr>
          <p:cNvPr id="5" name="Picture 4" descr="allchan_puls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758921"/>
            <a:ext cx="11247120" cy="4025957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F3864"/>
                </a:solidFill>
                <a:latin typeface="Droid Sans Fallback"/>
              </a:rPr>
              <a:t>Backup — 每个通道的能量分布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11247120" cy="1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66666"/>
                </a:solidFill>
                <a:latin typeface="Droid Sans Fallback"/>
              </a:rPr>
              <a:t>18</a:t>
            </a:r>
          </a:p>
        </p:txBody>
      </p:sp>
      <p:pic>
        <p:nvPicPr>
          <p:cNvPr id="5" name="Picture 4" descr="hist_allch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114" y="1143000"/>
            <a:ext cx="10394731" cy="52578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F3864"/>
                </a:solidFill>
                <a:latin typeface="Droid Sans Fallback"/>
              </a:rPr>
              <a:t>Backup — 事件计数：每一步排除了多少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11247120" cy="1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66666"/>
                </a:solidFill>
                <a:latin typeface="Droid Sans Fallback"/>
              </a:rPr>
              <a:t>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463040"/>
            <a:ext cx="112471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0" i="0">
                <a:solidFill>
                  <a:srgbClr val="333333"/>
                </a:solidFill>
                <a:latin typeface="Droid Sans Fallback"/>
              </a:rPr>
              <a:t>K 线附近的 PTOFamps 窗口（30 个 series，无 trigger cut）：  2207 个事件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333333"/>
                </a:solidFill>
                <a:latin typeface="Droid Sans Fallback"/>
              </a:rPr>
              <a:t>− 276 个（12.5%）：双指数拟合在每个通道上都失败（NRMSE 全部 &gt; 0.2）—— 疑似 pileup / glitch，未逐个检查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333333"/>
                </a:solidFill>
                <a:latin typeface="Droid Sans Fallback"/>
              </a:rPr>
              <a:t>= 1931 个至少有一个通道拟合成功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333333"/>
                </a:solidFill>
                <a:latin typeface="Droid Sans Fallback"/>
              </a:rPr>
              <a:t>− 104 个：10 个核心通道里至少有一个拟合失败 —— 总能量缺一块，加进去会偏低</a:t>
            </a:r>
          </a:p>
          <a:p>
            <a:pPr>
              <a:spcAft>
                <a:spcPts val="800"/>
              </a:spcAft>
            </a:pPr>
            <a:r>
              <a:rPr sz="1700" b="1" i="0">
                <a:solidFill>
                  <a:srgbClr val="C0392B"/>
                </a:solidFill>
                <a:latin typeface="Droid Sans Fallback"/>
              </a:rPr>
              <a:t>= 1827 个（占 2207 的 83%）进入总能量分布</a:t>
            </a:r>
          </a:p>
          <a:p>
            <a:pPr>
              <a:spcAft>
                <a:spcPts val="800"/>
              </a:spcAft>
            </a:pPr>
            <a:r>
              <a:rPr sz="1700" b="0" i="0">
                <a:solidFill>
                  <a:srgbClr val="333333"/>
                </a:solidFill>
                <a:latin typeface="Droid Sans Fallback"/>
              </a:rPr>
              <a:t>通道层面的排除（另算）：  PDS2 不计入（只有 42% 的事件能拟合，而且都是它附近的事件） · PFS2 在 Z7 上没有数据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286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 i="0">
                <a:solidFill>
                  <a:srgbClr val="1F3864"/>
                </a:solidFill>
                <a:latin typeface="Droid Sans Fallback"/>
              </a:rPr>
              <a:t>Backup — 系数背后的 TES 偏置电流 I₀</a:t>
            </a:r>
          </a:p>
        </p:txBody>
      </p:sp>
      <p:sp>
        <p:nvSpPr>
          <p:cNvPr id="3" name="Rectangle 2"/>
          <p:cNvSpPr/>
          <p:nvPr/>
        </p:nvSpPr>
        <p:spPr>
          <a:xfrm>
            <a:off x="502920" y="969264"/>
            <a:ext cx="11247120" cy="18000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1430000" y="6446520"/>
            <a:ext cx="548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666666"/>
                </a:solidFill>
                <a:latin typeface="Droid Sans Fallback"/>
              </a:rPr>
              <a:t>20</a:t>
            </a:r>
          </a:p>
        </p:txBody>
      </p:sp>
      <p:pic>
        <p:nvPicPr>
          <p:cNvPr id="5" name="Picture 4" descr="i0_histo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2715" y="1143000"/>
            <a:ext cx="8247529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5715000"/>
            <a:ext cx="112471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200" b="0" i="0">
                <a:solidFill>
                  <a:srgbClr val="333333"/>
                </a:solidFill>
                <a:latin typeface="Droid Sans Fallback"/>
              </a:rPr>
              <a:t>每个通道每个 series 一个 I₀（detectorConfig，30 个 series），按进入求和的 1827 个事件加权。红色虚线：所有 series 都用的那个值（第一个 series，如 PBS1 −18.07 µA）。</a:t>
            </a:r>
          </a:p>
          <a:p>
            <a:pPr>
              <a:spcAft>
                <a:spcPts val="800"/>
              </a:spcAft>
            </a:pPr>
            <a:r>
              <a:rPr sz="1200" b="1" i="0">
                <a:solidFill>
                  <a:srgbClr val="C0392B"/>
                </a:solidFill>
                <a:latin typeface="Droid Sans Fallback"/>
              </a:rPr>
              <a:t>两个偏置状态：6 月 17–20 日（1225 个事件）就是所用的值；6 月 21–23 日（602 个事件）|I₀| 大 10%、R₀ 小 20%。两个状态下拟合出的脉冲一样（能量和下降时间差 2% 以内）；组里的标准处理（Default_tag，逐 series 用各自配置）在第二个状态给出的 Eabs 低 16.5%。待解决。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