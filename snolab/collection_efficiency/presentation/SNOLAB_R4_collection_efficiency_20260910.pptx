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notesMasters/notesMaster1.xml" ContentType="application/vnd.openxmlformats-officedocument.presentationml.notesMaster+xml"/>
  <Override PartName="/ppt/notesSlides/notesSlide1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ppt/notesSlides/notesSlide17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theme/theme2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9"/>
    <p:sldId id="258" r:id="rId10"/>
    <p:sldId id="259" r:id="rId11"/>
    <p:sldId id="260" r:id="rId12"/>
    <p:sldId id="261" r:id="rId13"/>
    <p:sldId id="262" r:id="rId14"/>
    <p:sldId id="263" r:id="rId15"/>
    <p:sldId id="264" r:id="rId16"/>
    <p:sldId id="265" r:id="rId17"/>
    <p:sldId id="266" r:id="rId18"/>
    <p:sldId id="267" r:id="rId19"/>
    <p:sldId id="268" r:id="rId20"/>
    <p:sldId id="269" r:id="rId21"/>
    <p:sldId id="270" r:id="rId22"/>
    <p:sldId id="271" r:id="rId23"/>
    <p:sldId id="272" r:id="rId24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notesMaster" Target="notesMasters/notesMaster1.xml"/><Relationship Id="rId9" Type="http://schemas.openxmlformats.org/officeDocument/2006/relationships/slide" Target="slides/slide2.xml"/><Relationship Id="rId10" Type="http://schemas.openxmlformats.org/officeDocument/2006/relationships/slide" Target="slides/slide3.xml"/><Relationship Id="rId11" Type="http://schemas.openxmlformats.org/officeDocument/2006/relationships/slide" Target="slides/slide4.xml"/><Relationship Id="rId12" Type="http://schemas.openxmlformats.org/officeDocument/2006/relationships/slide" Target="slides/slide5.xml"/><Relationship Id="rId13" Type="http://schemas.openxmlformats.org/officeDocument/2006/relationships/slide" Target="slides/slide6.xml"/><Relationship Id="rId14" Type="http://schemas.openxmlformats.org/officeDocument/2006/relationships/slide" Target="slides/slide7.xml"/><Relationship Id="rId15" Type="http://schemas.openxmlformats.org/officeDocument/2006/relationships/slide" Target="slides/slide8.xml"/><Relationship Id="rId16" Type="http://schemas.openxmlformats.org/officeDocument/2006/relationships/slide" Target="slides/slide9.xml"/><Relationship Id="rId17" Type="http://schemas.openxmlformats.org/officeDocument/2006/relationships/slide" Target="slides/slide10.xml"/><Relationship Id="rId18" Type="http://schemas.openxmlformats.org/officeDocument/2006/relationships/slide" Target="slides/slide11.xml"/><Relationship Id="rId19" Type="http://schemas.openxmlformats.org/officeDocument/2006/relationships/slide" Target="slides/slide12.xml"/><Relationship Id="rId20" Type="http://schemas.openxmlformats.org/officeDocument/2006/relationships/slide" Target="slides/slide13.xml"/><Relationship Id="rId21" Type="http://schemas.openxmlformats.org/officeDocument/2006/relationships/slide" Target="slides/slide14.xml"/><Relationship Id="rId22" Type="http://schemas.openxmlformats.org/officeDocument/2006/relationships/slide" Target="slides/slide15.xml"/><Relationship Id="rId23" Type="http://schemas.openxmlformats.org/officeDocument/2006/relationships/slide" Target="slides/slide16.xml"/><Relationship Id="rId24" Type="http://schemas.openxmlformats.org/officeDocument/2006/relationships/slide" Target="slides/slide17.xml"/></Relationships>
</file>

<file path=ppt/notesMasters/_rels/notesMaster1.xml.rels><?xml version='1.0' encoding='UTF-8' standalone='yes'?>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p="http://schemas.openxmlformats.org/presentationml/2006/main" xmlns:r="http://schemas.openxmlformats.org/officeDocument/2006/relationships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0F89C1C7-3DCD-1040-A9CF-14679D8B5DDD}" type="datetimeFigureOut">
              <a:rPr lang="en-US" smtClean="0"/>
              <a:t>10/17/16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1143000" y="685800"/>
            <a:ext cx="4572000" cy="34290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BB5E49A5-4136-284D-997B-48E1D791AD67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23252185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.xml"/></Relationships>
</file>

<file path=ppt/notesSlides/_rels/notesSlide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.xml"/></Relationships>
</file>

<file path=ppt/notesSlides/_rels/notesSlide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.xml"/></Relationships>
</file>

<file path=ppt/notesSlides/_rels/notesSlide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.xml"/></Relationships>
</file>

<file path=ppt/notesSlides/_rels/notesSlide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5.xml"/></Relationships>
</file>

<file path=ppt/notesSlides/_rels/notesSlide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6.xml"/></Relationships>
</file>

<file path=ppt/notesSlides/_rels/notesSlide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7.xml"/></Relationships>
</file>

<file path=ppt/notesSlides/_rels/notesSlide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8.xml"/></Relationships>
</file>

<file path=ppt/notesSlides/_rels/notesSlide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9.xml"/></Relationships>
</file>

<file path=ppt/notesSlides/_rels/notesSlide10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0.xml"/></Relationships>
</file>

<file path=ppt/notesSlides/_rels/notesSlide1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1.xml"/></Relationships>
</file>

<file path=ppt/notesSlides/_rels/notesSlide1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2.xml"/></Relationships>
</file>

<file path=ppt/notesSlides/_rels/notesSlide1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3.xml"/></Relationships>
</file>

<file path=ppt/notesSlides/_rels/notesSlide1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4.xml"/></Relationships>
</file>

<file path=ppt/notesSlides/_rels/notesSlide1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5.xml"/></Relationships>
</file>

<file path=ppt/notesSlides/_rels/notesSlide1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6.xml"/></Relationships>
</file>

<file path=ppt/notesSlides/_rels/notesSlide1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7.xml"/></Relationships>
</file>

<file path=ppt/notesSlides/notesSlide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Title.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Efficiency = energy absorbed by the TESs, summed over all channels, / 10.37 keV, for a detector operated at 0 V (no NTL amplification). Z7, K-line events of the Ge activation, SNOLAB R4, 2207 events over 30 series.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TES small-signal result (Irwin &amp; Hilton), Method 1 of the CDMS note. Coefficients from the measured bias point of each channel: I0(R_L-R0) = 0.45 uV, 2R_L = 0.0385 Ohm for PBS1. For a two-exponential pulse the integral is a formula in A, tau_f, tau_r.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Top: the pulse zoomed on its peak, three axes. Bottom: the power and its area. 1 ADC = 0.318 nA. The next two slides walk through the two panels.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Grey raw samples, blue 100 kHz low pass (what the fit sees), green 20 kHz (official prefilter), red the two-exponential fit, pink band fit ± 1 sigma (89 ADC). Yellow: 98 samples within 10% of the peak. Raw max 885 ADC vs fit 717: +23%. The maximum of 98 equal samples is the biggest upward noise. The fit averages every sample.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Red: power from the fitted current, two terms added. Blue dashed: linear term alone. Purple dotted: quadratic term x20. Peak 104.6 fW = 102.6 + 2.0: quadratic 1.9% of peak, 1.3% of energy. Shaded area 305.2 eV, 99% inside this window. Bottom line: the bias point that fixes the coefficients.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Top: raw current of events 30646 and 210571, y zoomed to +-60 nA; dashed green is the mean after the pulse. Bottom: accumulated energy. Left: after-pulse mean +0.1 nA, raw 316 vs fit 305 eV. Right: -6.2 nA, i.e. -2.8 fW over 24 ms = -420 eV, raw -169 vs fit 277.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PES1 489 eV, PES2 195 eV: position. Sum over 11 channels 3419 eV = 33.0%. Official window on the raw traces: 3397 eV = 32.8%. PDS2: slow swing after 5 ms, a low-frequency artefact; residual 0.14, three times the others.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Red: fit. Grey outline: official window on the raw trace; same peak to 0.2%. Peak 285 eV, width 42 eV = 15%, for a fixed-energy line. Right tail to 600 eV: events near PBS1. The width is position, not noise.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Grey: ten channels that fit ≥ 95% of events, 1827 events, 3162 eV = 30.5%, width 7.5% — the position dependence cancels in the sum. PDS2 fits only 42% (the swing) and on those events the other ten channels are 4.8% low, so its share is a bracket: 31.5 to 32.9%. Red line 10.37 keV.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Chain: current -&gt; power -&gt; energy -&gt; sum -&gt; 32 ± 1%. R37 CUTE note: 26-41%. Open: Z7 only; HV bias unknown (0 V assumed); no dIdV, inductor term dropped; PDS2; 12.5% of events fit nowhere.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Z7 summed PTOFamps, our rebuild with no cut; K line at 2e-6 A.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c2 = 2 Method 1 (used), 1 exact, -1 Method 2. Relative to exact: +0.58%, -1.15%.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4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All 15 example events.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5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Fit vs raw, 15 events.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6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Sum 3419 eV = 33.0%.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7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Every channel is right-skewed; the peaks must not be added (21% low), the means add. PDS2 left out.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2.xml"/><Relationship Id="rId3" Type="http://schemas.openxmlformats.org/officeDocument/2006/relationships/image" Target="../media/image1.png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3.xml"/><Relationship Id="rId3" Type="http://schemas.openxmlformats.org/officeDocument/2006/relationships/image" Target="../media/image2.png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4.xml"/><Relationship Id="rId3" Type="http://schemas.openxmlformats.org/officeDocument/2006/relationships/image" Target="../media/image3.png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5.xml"/><Relationship Id="rId3" Type="http://schemas.openxmlformats.org/officeDocument/2006/relationships/image" Target="../media/image4.png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6.xml"/><Relationship Id="rId3" Type="http://schemas.openxmlformats.org/officeDocument/2006/relationships/image" Target="../media/image5.png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7.xml"/><Relationship Id="rId3" Type="http://schemas.openxmlformats.org/officeDocument/2006/relationships/image" Target="../media/image6.png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8.xml"/><Relationship Id="rId3" Type="http://schemas.openxmlformats.org/officeDocument/2006/relationships/image" Target="../media/image7.png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9.xml"/><Relationship Id="rId3" Type="http://schemas.openxmlformats.org/officeDocument/2006/relationships/image" Target="../media/image8.png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0.xml"/><Relationship Id="rId3" Type="http://schemas.openxmlformats.org/officeDocument/2006/relationships/image" Target="../media/image9.png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1.xml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2.xml"/><Relationship Id="rId3" Type="http://schemas.openxmlformats.org/officeDocument/2006/relationships/image" Target="../media/image10.png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3.xml"/></Relationships>
</file>

<file path=ppt/slides/_rels/slide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4.xml"/><Relationship Id="rId3" Type="http://schemas.openxmlformats.org/officeDocument/2006/relationships/image" Target="../media/image11.png"/></Relationships>
</file>

<file path=ppt/slides/_rels/slide1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5.xml"/><Relationship Id="rId3" Type="http://schemas.openxmlformats.org/officeDocument/2006/relationships/image" Target="../media/image12.png"/></Relationships>
</file>

<file path=ppt/slides/_rels/slide1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6.xml"/><Relationship Id="rId3" Type="http://schemas.openxmlformats.org/officeDocument/2006/relationships/image" Target="../media/image13.png"/></Relationships>
</file>

<file path=ppt/slides/_rels/slide1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7.xml"/><Relationship Id="rId3" Type="http://schemas.openxmlformats.org/officeDocument/2006/relationships/image" Target="../media/image14.png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11430000" y="6446520"/>
            <a:ext cx="54864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000" b="0" i="0">
                <a:solidFill>
                  <a:srgbClr val="666666"/>
                </a:solidFill>
                <a:latin typeface="Arial"/>
              </a:rPr>
              <a:t>1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822960" y="2103120"/>
            <a:ext cx="10515600" cy="1645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4000" b="1" i="0">
                <a:solidFill>
                  <a:srgbClr val="1F3864"/>
                </a:solidFill>
                <a:latin typeface="Arial"/>
              </a:rPr>
              <a:t>Phonon collection efficiency of Z7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22960" y="4297680"/>
            <a:ext cx="10515600" cy="10972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600" b="0" i="0">
                <a:solidFill>
                  <a:srgbClr val="333333"/>
                </a:solidFill>
                <a:latin typeface="Arial"/>
              </a:rPr>
              <a:t>Zhiheng Li  ·  University of Minnesota  ·  SuperCDMS SNOLAB Run 4  ·  September 2026</a:t>
            </a:r>
          </a:p>
          <a:p>
            <a:r>
              <a:rPr sz="1300" b="0" i="0">
                <a:solidFill>
                  <a:srgbClr val="666666"/>
                </a:solidFill>
                <a:latin typeface="Arial"/>
              </a:rPr>
              <a:t>github.com/ZhihengLi0/urop  →  snolab/collection_efficiency/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228600"/>
            <a:ext cx="1124712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700" b="1" i="0">
                <a:solidFill>
                  <a:srgbClr val="1F3864"/>
                </a:solidFill>
                <a:latin typeface="Arial"/>
              </a:rPr>
              <a:t>The question</a:t>
            </a:r>
          </a:p>
        </p:txBody>
      </p:sp>
      <p:sp>
        <p:nvSpPr>
          <p:cNvPr id="3" name="Rectangle 2"/>
          <p:cNvSpPr/>
          <p:nvPr/>
        </p:nvSpPr>
        <p:spPr>
          <a:xfrm>
            <a:off x="502920" y="969264"/>
            <a:ext cx="11247120" cy="18000"/>
          </a:xfrm>
          <a:prstGeom prst="rect">
            <a:avLst/>
          </a:prstGeom>
          <a:solidFill>
            <a:srgbClr val="1F386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11430000" y="6446520"/>
            <a:ext cx="54864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000" b="0" i="0">
                <a:solidFill>
                  <a:srgbClr val="666666"/>
                </a:solidFill>
                <a:latin typeface="Arial"/>
              </a:rPr>
              <a:t>2</a:t>
            </a:r>
          </a:p>
        </p:txBody>
      </p:sp>
      <p:pic>
        <p:nvPicPr>
          <p:cNvPr id="5" name="Picture 4" descr="chain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40080" y="1280160"/>
            <a:ext cx="10972800" cy="2377440"/>
          </a:xfrm>
          <a:prstGeom prst="rect">
            <a:avLst/>
          </a:prstGeom>
        </p:spPr>
      </p:pic>
      <p:sp>
        <p:nvSpPr>
          <p:cNvPr id="6" name="TextBox 5"/>
          <p:cNvSpPr txBox="1"/>
          <p:nvPr/>
        </p:nvSpPr>
        <p:spPr>
          <a:xfrm>
            <a:off x="502920" y="3931920"/>
            <a:ext cx="11247120" cy="2468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</a:pPr>
            <a:r>
              <a:rPr sz="1800" b="1" i="0">
                <a:solidFill>
                  <a:srgbClr val="C0392B"/>
                </a:solidFill>
                <a:latin typeface="Arial"/>
              </a:rPr>
              <a:t>For detectors operated at 0 V (no NTL effect):</a:t>
            </a:r>
          </a:p>
          <a:p>
            <a:pPr>
              <a:spcAft>
                <a:spcPts val="800"/>
              </a:spcAft>
            </a:pPr>
            <a:r>
              <a:rPr sz="1800" b="0" i="0">
                <a:solidFill>
                  <a:srgbClr val="333333"/>
                </a:solidFill>
                <a:latin typeface="Arial"/>
              </a:rPr>
              <a:t>Collection efficiency  =  energy absorbed by the TESs, summed over all channels  ÷  the 10.37 keV of the event</a:t>
            </a:r>
          </a:p>
          <a:p>
            <a:pPr>
              <a:spcAft>
                <a:spcPts val="800"/>
              </a:spcAft>
            </a:pPr>
            <a:r>
              <a:rPr sz="1800" b="0" i="0">
                <a:solidFill>
                  <a:srgbClr val="333333"/>
                </a:solidFill>
                <a:latin typeface="Arial"/>
              </a:rPr>
              <a:t>Sample: Z7, the K-line events of the Ge activation run, from SNOLAB R4 (2207 events, 30 series, all 11 channels).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228600"/>
            <a:ext cx="1124712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700" b="1" i="0">
                <a:solidFill>
                  <a:srgbClr val="1F3864"/>
                </a:solidFill>
                <a:latin typeface="Arial"/>
              </a:rPr>
              <a:t>The formula, and the two numbers it needs</a:t>
            </a:r>
          </a:p>
          <a:p>
            <a:r>
              <a:rPr sz="1400" b="0" i="0">
                <a:solidFill>
                  <a:srgbClr val="666666"/>
                </a:solidFill>
                <a:latin typeface="Arial"/>
              </a:rPr>
              <a:t>Method 1 of the CDMS collection-efficiency note</a:t>
            </a:r>
          </a:p>
        </p:txBody>
      </p:sp>
      <p:sp>
        <p:nvSpPr>
          <p:cNvPr id="3" name="Rectangle 2"/>
          <p:cNvSpPr/>
          <p:nvPr/>
        </p:nvSpPr>
        <p:spPr>
          <a:xfrm>
            <a:off x="502920" y="969264"/>
            <a:ext cx="11247120" cy="18000"/>
          </a:xfrm>
          <a:prstGeom prst="rect">
            <a:avLst/>
          </a:prstGeom>
          <a:solidFill>
            <a:srgbClr val="1F386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11430000" y="6446520"/>
            <a:ext cx="54864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000" b="0" i="0">
                <a:solidFill>
                  <a:srgbClr val="666666"/>
                </a:solidFill>
                <a:latin typeface="Arial"/>
              </a:rPr>
              <a:t>3</a:t>
            </a:r>
          </a:p>
        </p:txBody>
      </p:sp>
      <p:pic>
        <p:nvPicPr>
          <p:cNvPr id="5" name="Picture 4" descr="formula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997889" y="1143000"/>
            <a:ext cx="10257182" cy="3931920"/>
          </a:xfrm>
          <a:prstGeom prst="rect">
            <a:avLst/>
          </a:prstGeom>
        </p:spPr>
      </p:pic>
      <p:sp>
        <p:nvSpPr>
          <p:cNvPr id="6" name="TextBox 5"/>
          <p:cNvSpPr txBox="1"/>
          <p:nvPr/>
        </p:nvSpPr>
        <p:spPr>
          <a:xfrm>
            <a:off x="502920" y="5120640"/>
            <a:ext cx="11247120" cy="1463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</a:pPr>
            <a:r>
              <a:rPr sz="1500" b="0" i="0">
                <a:solidFill>
                  <a:srgbClr val="333333"/>
                </a:solidFill>
                <a:latin typeface="Arial"/>
              </a:rPr>
              <a:t>δP = the change of Joule heating when the current moves by δI: a linear term and a small quadratic term.</a:t>
            </a:r>
          </a:p>
          <a:p>
            <a:pPr>
              <a:spcAft>
                <a:spcPts val="800"/>
              </a:spcAft>
            </a:pPr>
            <a:r>
              <a:rPr sz="1500" b="0" i="0">
                <a:solidFill>
                  <a:srgbClr val="333333"/>
                </a:solidFill>
                <a:latin typeface="Arial"/>
              </a:rPr>
              <a:t>The note also gives Method 2. In our sign convention it reads δP = I₀(R_L − R₀)·δI − R_L·(δI)²: the same linear term, only the quadratic term differs, and it gives 1.7 % less energy (PBS1, median of 15 events).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228600"/>
            <a:ext cx="1124712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700" b="1" i="0">
                <a:solidFill>
                  <a:srgbClr val="1F3864"/>
                </a:solidFill>
                <a:latin typeface="Arial"/>
              </a:rPr>
              <a:t>Example: one pulse</a:t>
            </a:r>
          </a:p>
          <a:p>
            <a:r>
              <a:rPr sz="1400" b="0" i="0">
                <a:solidFill>
                  <a:srgbClr val="666666"/>
                </a:solidFill>
                <a:latin typeface="Arial"/>
              </a:rPr>
              <a:t>Z7 PBS1, event 30646:  </a:t>
            </a:r>
            <a:r>
              <a:rPr sz="1400" b="1" i="0">
                <a:solidFill>
                  <a:srgbClr val="333333"/>
                </a:solidFill>
                <a:latin typeface="Arial"/>
              </a:rPr>
              <a:t>the same trace as ADC counts, as current, as power</a:t>
            </a:r>
          </a:p>
        </p:txBody>
      </p:sp>
      <p:sp>
        <p:nvSpPr>
          <p:cNvPr id="3" name="Rectangle 2"/>
          <p:cNvSpPr/>
          <p:nvPr/>
        </p:nvSpPr>
        <p:spPr>
          <a:xfrm>
            <a:off x="502920" y="969264"/>
            <a:ext cx="11247120" cy="18000"/>
          </a:xfrm>
          <a:prstGeom prst="rect">
            <a:avLst/>
          </a:prstGeom>
          <a:solidFill>
            <a:srgbClr val="1F386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11430000" y="6446520"/>
            <a:ext cx="54864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000" b="0" i="0">
                <a:solidFill>
                  <a:srgbClr val="666666"/>
                </a:solidFill>
                <a:latin typeface="Arial"/>
              </a:rPr>
              <a:t>4</a:t>
            </a:r>
          </a:p>
        </p:txBody>
      </p:sp>
      <p:pic>
        <p:nvPicPr>
          <p:cNvPr id="5" name="Picture 4" descr="peak_full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2981032" y="1143000"/>
            <a:ext cx="6290896" cy="4846320"/>
          </a:xfrm>
          <a:prstGeom prst="rect">
            <a:avLst/>
          </a:prstGeom>
        </p:spPr>
      </p:pic>
      <p:sp>
        <p:nvSpPr>
          <p:cNvPr id="6" name="TextBox 5"/>
          <p:cNvSpPr txBox="1"/>
          <p:nvPr/>
        </p:nvSpPr>
        <p:spPr>
          <a:xfrm>
            <a:off x="502920" y="6053328"/>
            <a:ext cx="1124712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</a:pPr>
            <a:r>
              <a:rPr sz="1400" b="1" i="0">
                <a:solidFill>
                  <a:srgbClr val="C0392B"/>
                </a:solidFill>
                <a:latin typeface="Arial"/>
              </a:rPr>
              <a:t>The two-exponential is fitted to the 100 kHz low-passed trace (blue), not to the raw samples; the raw samples are only drawn.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228600"/>
            <a:ext cx="1124712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700" b="1" i="0">
                <a:solidFill>
                  <a:srgbClr val="1F3864"/>
                </a:solidFill>
                <a:latin typeface="Arial"/>
              </a:rPr>
              <a:t>The height: take it from the fit, not from the largest sample</a:t>
            </a:r>
          </a:p>
        </p:txBody>
      </p:sp>
      <p:sp>
        <p:nvSpPr>
          <p:cNvPr id="3" name="Rectangle 2"/>
          <p:cNvSpPr/>
          <p:nvPr/>
        </p:nvSpPr>
        <p:spPr>
          <a:xfrm>
            <a:off x="502920" y="969264"/>
            <a:ext cx="11247120" cy="18000"/>
          </a:xfrm>
          <a:prstGeom prst="rect">
            <a:avLst/>
          </a:prstGeom>
          <a:solidFill>
            <a:srgbClr val="1F386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11430000" y="6446520"/>
            <a:ext cx="54864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000" b="0" i="0">
                <a:solidFill>
                  <a:srgbClr val="666666"/>
                </a:solidFill>
                <a:latin typeface="Arial"/>
              </a:rPr>
              <a:t>5</a:t>
            </a:r>
          </a:p>
        </p:txBody>
      </p:sp>
      <p:pic>
        <p:nvPicPr>
          <p:cNvPr id="5" name="Picture 4" descr="peak_top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077759" y="1143000"/>
            <a:ext cx="10097441" cy="4160520"/>
          </a:xfrm>
          <a:prstGeom prst="rect">
            <a:avLst/>
          </a:prstGeom>
        </p:spPr>
      </p:pic>
      <p:sp>
        <p:nvSpPr>
          <p:cNvPr id="6" name="TextBox 5"/>
          <p:cNvSpPr txBox="1"/>
          <p:nvPr/>
        </p:nvSpPr>
        <p:spPr>
          <a:xfrm>
            <a:off x="502920" y="5394960"/>
            <a:ext cx="11247120" cy="10972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</a:pPr>
            <a:r>
              <a:rPr sz="1600" b="0" i="0">
                <a:solidFill>
                  <a:srgbClr val="333333"/>
                </a:solidFill>
                <a:latin typeface="Arial"/>
              </a:rPr>
              <a:t>Yellow band: 98 samples sit within 10 % of the peak. The largest of them is the largest noise excursion.</a:t>
            </a:r>
          </a:p>
          <a:p>
            <a:pPr>
              <a:spcAft>
                <a:spcPts val="800"/>
              </a:spcAft>
            </a:pPr>
            <a:r>
              <a:rPr sz="1600" b="1" i="0">
                <a:solidFill>
                  <a:srgbClr val="C0392B"/>
                </a:solidFill>
                <a:latin typeface="Arial"/>
              </a:rPr>
              <a:t>Largest raw sample 885 ADC, fit 717 ADC: the maximum reads 23 % high. Filtering helps; the fit removes it.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228600"/>
            <a:ext cx="1124712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700" b="1" i="0">
                <a:solidFill>
                  <a:srgbClr val="1F3864"/>
                </a:solidFill>
                <a:latin typeface="Arial"/>
              </a:rPr>
              <a:t>The power pulse, and its area is the energy</a:t>
            </a:r>
          </a:p>
        </p:txBody>
      </p:sp>
      <p:sp>
        <p:nvSpPr>
          <p:cNvPr id="3" name="Rectangle 2"/>
          <p:cNvSpPr/>
          <p:nvPr/>
        </p:nvSpPr>
        <p:spPr>
          <a:xfrm>
            <a:off x="502920" y="969264"/>
            <a:ext cx="11247120" cy="18000"/>
          </a:xfrm>
          <a:prstGeom prst="rect">
            <a:avLst/>
          </a:prstGeom>
          <a:solidFill>
            <a:srgbClr val="1F386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11430000" y="6446520"/>
            <a:ext cx="54864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000" b="0" i="0">
                <a:solidFill>
                  <a:srgbClr val="666666"/>
                </a:solidFill>
                <a:latin typeface="Arial"/>
              </a:rPr>
              <a:t>6</a:t>
            </a:r>
          </a:p>
        </p:txBody>
      </p:sp>
      <p:pic>
        <p:nvPicPr>
          <p:cNvPr id="5" name="Picture 4" descr="peak_bottom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02920" y="1213485"/>
            <a:ext cx="11247120" cy="2967990"/>
          </a:xfrm>
          <a:prstGeom prst="rect">
            <a:avLst/>
          </a:prstGeom>
        </p:spPr>
      </p:pic>
      <p:sp>
        <p:nvSpPr>
          <p:cNvPr id="6" name="TextBox 5"/>
          <p:cNvSpPr txBox="1"/>
          <p:nvPr/>
        </p:nvSpPr>
        <p:spPr>
          <a:xfrm>
            <a:off x="502920" y="4389120"/>
            <a:ext cx="11247120" cy="20116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</a:pPr>
            <a:r>
              <a:rPr sz="1600" b="0" i="0">
                <a:solidFill>
                  <a:srgbClr val="333333"/>
                </a:solidFill>
                <a:latin typeface="Arial"/>
              </a:rPr>
              <a:t>Red: the fitted current put through the formula. Blue dashed: the linear term alone. Purple: the quadratic term, ×20.</a:t>
            </a:r>
          </a:p>
          <a:p>
            <a:pPr>
              <a:spcAft>
                <a:spcPts val="800"/>
              </a:spcAft>
            </a:pPr>
            <a:r>
              <a:rPr sz="1600" b="1" i="0">
                <a:solidFill>
                  <a:srgbClr val="C0392B"/>
                </a:solidFill>
                <a:latin typeface="Arial"/>
              </a:rPr>
              <a:t>The quadratic term is 1.9 % of the peak — the power pulse has the shape of the current pulse.</a:t>
            </a:r>
          </a:p>
          <a:p>
            <a:pPr>
              <a:spcAft>
                <a:spcPts val="800"/>
              </a:spcAft>
            </a:pPr>
            <a:r>
              <a:rPr sz="1600" b="1" i="0">
                <a:solidFill>
                  <a:srgbClr val="C0392B"/>
                </a:solidFill>
                <a:latin typeface="Arial"/>
              </a:rPr>
              <a:t>The shaded area is the energy this channel absorbed: 305 eV.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228600"/>
            <a:ext cx="1124712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700" b="1" i="0">
                <a:solidFill>
                  <a:srgbClr val="1F3864"/>
                </a:solidFill>
                <a:latin typeface="Arial"/>
              </a:rPr>
              <a:t>Why the fitted pulse is integrated, and not the data</a:t>
            </a:r>
          </a:p>
        </p:txBody>
      </p:sp>
      <p:sp>
        <p:nvSpPr>
          <p:cNvPr id="3" name="Rectangle 2"/>
          <p:cNvSpPr/>
          <p:nvPr/>
        </p:nvSpPr>
        <p:spPr>
          <a:xfrm>
            <a:off x="502920" y="969264"/>
            <a:ext cx="11247120" cy="18000"/>
          </a:xfrm>
          <a:prstGeom prst="rect">
            <a:avLst/>
          </a:prstGeom>
          <a:solidFill>
            <a:srgbClr val="1F386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11430000" y="6446520"/>
            <a:ext cx="54864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000" b="0" i="0">
                <a:solidFill>
                  <a:srgbClr val="666666"/>
                </a:solidFill>
                <a:latin typeface="Arial"/>
              </a:rPr>
              <a:t>7</a:t>
            </a:r>
          </a:p>
        </p:txBody>
      </p:sp>
      <p:pic>
        <p:nvPicPr>
          <p:cNvPr id="5" name="Picture 4" descr="raw_cum_slide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751798" y="1143000"/>
            <a:ext cx="8749364" cy="4617720"/>
          </a:xfrm>
          <a:prstGeom prst="rect">
            <a:avLst/>
          </a:prstGeom>
        </p:spPr>
      </p:pic>
      <p:sp>
        <p:nvSpPr>
          <p:cNvPr id="6" name="TextBox 5"/>
          <p:cNvSpPr txBox="1"/>
          <p:nvPr/>
        </p:nvSpPr>
        <p:spPr>
          <a:xfrm>
            <a:off x="502920" y="5788152"/>
            <a:ext cx="1124712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</a:pPr>
            <a:r>
              <a:rPr sz="1300" b="0" i="0">
                <a:solidFill>
                  <a:srgbClr val="333333"/>
                </a:solidFill>
                <a:latin typeface="Arial"/>
              </a:rPr>
              <a:t>Top: the raw current of the same two events, zoomed on the baseline. Bottom: the energy accumulated from it (grey) and from the fit (red).</a:t>
            </a:r>
          </a:p>
          <a:p>
            <a:pPr>
              <a:spcAft>
                <a:spcPts val="800"/>
              </a:spcAft>
            </a:pPr>
            <a:r>
              <a:rPr sz="1300" b="1" i="0">
                <a:solidFill>
                  <a:srgbClr val="C0392B"/>
                </a:solidFill>
                <a:latin typeface="Arial"/>
              </a:rPr>
              <a:t>Right: after the pulse the current sits 6 nA below its baseline — hidden in 28 nA of noise, yet over 24 ms it is −420 eV: raw −169 eV, fit 277 eV.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228600"/>
            <a:ext cx="1124712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700" b="1" i="0">
                <a:solidFill>
                  <a:srgbClr val="1F3864"/>
                </a:solidFill>
                <a:latin typeface="Arial"/>
              </a:rPr>
              <a:t>The same event in its other channels: they add up to 33 %</a:t>
            </a:r>
          </a:p>
          <a:p>
            <a:r>
              <a:rPr sz="1400" b="0" i="0">
                <a:solidFill>
                  <a:srgbClr val="666666"/>
                </a:solidFill>
                <a:latin typeface="Arial"/>
              </a:rPr>
              <a:t>Z7 event 30646; four of the eleven channels</a:t>
            </a:r>
          </a:p>
        </p:txBody>
      </p:sp>
      <p:sp>
        <p:nvSpPr>
          <p:cNvPr id="3" name="Rectangle 2"/>
          <p:cNvSpPr/>
          <p:nvPr/>
        </p:nvSpPr>
        <p:spPr>
          <a:xfrm>
            <a:off x="502920" y="969264"/>
            <a:ext cx="11247120" cy="18000"/>
          </a:xfrm>
          <a:prstGeom prst="rect">
            <a:avLst/>
          </a:prstGeom>
          <a:solidFill>
            <a:srgbClr val="1F386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11430000" y="6446520"/>
            <a:ext cx="54864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000" b="0" i="0">
                <a:solidFill>
                  <a:srgbClr val="666666"/>
                </a:solidFill>
                <a:latin typeface="Arial"/>
              </a:rPr>
              <a:t>8</a:t>
            </a:r>
          </a:p>
        </p:txBody>
      </p:sp>
      <p:pic>
        <p:nvPicPr>
          <p:cNvPr id="5" name="Picture 4" descr="allchan_slide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941141" y="1143000"/>
            <a:ext cx="8370678" cy="4069080"/>
          </a:xfrm>
          <a:prstGeom prst="rect">
            <a:avLst/>
          </a:prstGeom>
        </p:spPr>
      </p:pic>
      <p:sp>
        <p:nvSpPr>
          <p:cNvPr id="6" name="TextBox 5"/>
          <p:cNvSpPr txBox="1"/>
          <p:nvPr/>
        </p:nvSpPr>
        <p:spPr>
          <a:xfrm>
            <a:off x="502920" y="5257800"/>
            <a:ext cx="11247120" cy="11887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</a:pPr>
            <a:r>
              <a:rPr sz="1500" b="0" i="0">
                <a:solidFill>
                  <a:srgbClr val="333333"/>
                </a:solidFill>
                <a:latin typeface="Arial"/>
              </a:rPr>
              <a:t>The channels share the energy unevenly (PES1 489 eV, PES2 195 eV): the event sat closer to one side.</a:t>
            </a:r>
          </a:p>
          <a:p>
            <a:pPr>
              <a:spcAft>
                <a:spcPts val="800"/>
              </a:spcAft>
            </a:pPr>
            <a:r>
              <a:rPr sz="1500" b="1" i="0">
                <a:solidFill>
                  <a:srgbClr val="C0392B"/>
                </a:solidFill>
                <a:latin typeface="Arial"/>
              </a:rPr>
              <a:t>Summed over the eleven channels: 3419 eV = 33.0 % of 10.37 keV.   PDS2 (bottom right) carries a slow swing.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228600"/>
            <a:ext cx="1124712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700" b="1" i="0">
                <a:solidFill>
                  <a:srgbClr val="1F3864"/>
                </a:solidFill>
                <a:latin typeface="Arial"/>
              </a:rPr>
              <a:t>Now every event: one channel gives a wide, lopsided distribution</a:t>
            </a:r>
          </a:p>
          <a:p>
            <a:r>
              <a:rPr sz="1400" b="0" i="0">
                <a:solidFill>
                  <a:srgbClr val="666666"/>
                </a:solidFill>
                <a:latin typeface="Arial"/>
              </a:rPr>
              <a:t>PBS1, 1917 K-line events, one fit and one integral each</a:t>
            </a:r>
          </a:p>
        </p:txBody>
      </p:sp>
      <p:sp>
        <p:nvSpPr>
          <p:cNvPr id="3" name="Rectangle 2"/>
          <p:cNvSpPr/>
          <p:nvPr/>
        </p:nvSpPr>
        <p:spPr>
          <a:xfrm>
            <a:off x="502920" y="969264"/>
            <a:ext cx="11247120" cy="18000"/>
          </a:xfrm>
          <a:prstGeom prst="rect">
            <a:avLst/>
          </a:prstGeom>
          <a:solidFill>
            <a:srgbClr val="1F386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11430000" y="6446520"/>
            <a:ext cx="54864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000" b="0" i="0">
                <a:solidFill>
                  <a:srgbClr val="666666"/>
                </a:solidFill>
                <a:latin typeface="Arial"/>
              </a:rPr>
              <a:t>9</a:t>
            </a:r>
          </a:p>
        </p:txBody>
      </p:sp>
      <p:pic>
        <p:nvPicPr>
          <p:cNvPr id="5" name="Picture 4" descr="hist_PBS1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02920" y="1412748"/>
            <a:ext cx="7863840" cy="4718304"/>
          </a:xfrm>
          <a:prstGeom prst="rect">
            <a:avLst/>
          </a:prstGeom>
        </p:spPr>
      </p:pic>
      <p:sp>
        <p:nvSpPr>
          <p:cNvPr id="6" name="TextBox 5"/>
          <p:cNvSpPr txBox="1"/>
          <p:nvPr/>
        </p:nvSpPr>
        <p:spPr>
          <a:xfrm>
            <a:off x="8549640" y="1463040"/>
            <a:ext cx="3291840" cy="4572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</a:pPr>
            <a:r>
              <a:rPr sz="1500" b="0" i="0">
                <a:solidFill>
                  <a:srgbClr val="333333"/>
                </a:solidFill>
                <a:latin typeface="Arial"/>
              </a:rPr>
              <a:t>Red: from the fit. Grey: the official window on the raw trace. Same peak to 0.2 %.</a:t>
            </a:r>
          </a:p>
          <a:p>
            <a:pPr>
              <a:spcAft>
                <a:spcPts val="800"/>
              </a:spcAft>
            </a:pPr>
            <a:r>
              <a:rPr sz="1500" b="1" i="0">
                <a:solidFill>
                  <a:srgbClr val="C0392B"/>
                </a:solidFill>
                <a:latin typeface="Arial"/>
              </a:rPr>
              <a:t>Peak 285 eV, width 15 % — for a line whose energy is fixed.</a:t>
            </a:r>
          </a:p>
          <a:p>
            <a:pPr>
              <a:spcAft>
                <a:spcPts val="800"/>
              </a:spcAft>
            </a:pPr>
            <a:r>
              <a:rPr sz="1500" b="0" i="0">
                <a:solidFill>
                  <a:srgbClr val="333333"/>
                </a:solidFill>
                <a:latin typeface="Arial"/>
              </a:rPr>
              <a:t>The tail to the right is the events that happened near this channel.</a:t>
            </a:r>
          </a:p>
          <a:p>
            <a:pPr>
              <a:spcAft>
                <a:spcPts val="800"/>
              </a:spcAft>
            </a:pPr>
            <a:r>
              <a:rPr sz="1500" b="1" i="0">
                <a:solidFill>
                  <a:srgbClr val="C0392B"/>
                </a:solidFill>
                <a:latin typeface="Arial"/>
              </a:rPr>
              <a:t>One channel's width is event position, not noise.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228600"/>
            <a:ext cx="1124712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700" b="1" i="0">
                <a:solidFill>
                  <a:srgbClr val="1F3864"/>
                </a:solidFill>
                <a:latin typeface="Arial"/>
              </a:rPr>
              <a:t>Summed over the channels: 32 ± 1 %</a:t>
            </a:r>
          </a:p>
          <a:p>
            <a:r>
              <a:rPr sz="1400" b="0" i="0">
                <a:solidFill>
                  <a:srgbClr val="666666"/>
                </a:solidFill>
                <a:latin typeface="Arial"/>
              </a:rPr>
              <a:t>the total energy the TESs absorbed per K-line event</a:t>
            </a:r>
          </a:p>
        </p:txBody>
      </p:sp>
      <p:sp>
        <p:nvSpPr>
          <p:cNvPr id="3" name="Rectangle 2"/>
          <p:cNvSpPr/>
          <p:nvPr/>
        </p:nvSpPr>
        <p:spPr>
          <a:xfrm>
            <a:off x="502920" y="969264"/>
            <a:ext cx="11247120" cy="18000"/>
          </a:xfrm>
          <a:prstGeom prst="rect">
            <a:avLst/>
          </a:prstGeom>
          <a:solidFill>
            <a:srgbClr val="1F386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11430000" y="6446520"/>
            <a:ext cx="54864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000" b="0" i="0">
                <a:solidFill>
                  <a:srgbClr val="666666"/>
                </a:solidFill>
                <a:latin typeface="Arial"/>
              </a:rPr>
              <a:t>10</a:t>
            </a:r>
          </a:p>
        </p:txBody>
      </p:sp>
      <p:pic>
        <p:nvPicPr>
          <p:cNvPr id="5" name="Picture 4" descr="hist_sum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02920" y="1412748"/>
            <a:ext cx="7863840" cy="4718304"/>
          </a:xfrm>
          <a:prstGeom prst="rect">
            <a:avLst/>
          </a:prstGeom>
        </p:spPr>
      </p:pic>
      <p:sp>
        <p:nvSpPr>
          <p:cNvPr id="6" name="TextBox 5"/>
          <p:cNvSpPr txBox="1"/>
          <p:nvPr/>
        </p:nvSpPr>
        <p:spPr>
          <a:xfrm>
            <a:off x="8549640" y="1463040"/>
            <a:ext cx="3291840" cy="4572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</a:pPr>
            <a:r>
              <a:rPr sz="1500" b="1" i="0">
                <a:solidFill>
                  <a:srgbClr val="C0392B"/>
                </a:solidFill>
                <a:latin typeface="Arial"/>
              </a:rPr>
              <a:t>Ten channels summed, 1827 events: 3162 eV = 30.5 %, and the width drops to 7.5 % — the position effect cancels.</a:t>
            </a:r>
          </a:p>
          <a:p>
            <a:pPr>
              <a:spcAft>
                <a:spcPts val="800"/>
              </a:spcAft>
            </a:pPr>
            <a:r>
              <a:rPr sz="1500" b="0" i="0">
                <a:solidFill>
                  <a:srgbClr val="333333"/>
                </a:solidFill>
                <a:latin typeface="Arial"/>
              </a:rPr>
              <a:t>PDS2 fits only 42 % of the events (that slow swing), and those events are not typical; its share can only be bracketed.</a:t>
            </a:r>
          </a:p>
          <a:p>
            <a:pPr>
              <a:spcAft>
                <a:spcPts val="800"/>
              </a:spcAft>
            </a:pPr>
            <a:r>
              <a:rPr sz="1500" b="1" i="0">
                <a:solidFill>
                  <a:srgbClr val="C0392B"/>
                </a:solidFill>
                <a:latin typeface="Arial"/>
              </a:rPr>
              <a:t>Full efficiency 31.5–32.9 %:  32 ± 1 %.</a:t>
            </a:r>
          </a:p>
          <a:p>
            <a:pPr>
              <a:spcAft>
                <a:spcPts val="800"/>
              </a:spcAft>
            </a:pPr>
            <a:r>
              <a:rPr sz="1500" b="0" i="0">
                <a:solidFill>
                  <a:srgbClr val="333333"/>
                </a:solidFill>
                <a:latin typeface="Arial"/>
              </a:rPr>
              <a:t>Red line: 10.37 keV — two thirds of the energy never reaches the TESs.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228600"/>
            <a:ext cx="1124712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700" b="1" i="0">
                <a:solidFill>
                  <a:srgbClr val="1F3864"/>
                </a:solidFill>
                <a:latin typeface="Arial"/>
              </a:rPr>
              <a:t>Summary, and what is still open</a:t>
            </a:r>
          </a:p>
        </p:txBody>
      </p:sp>
      <p:sp>
        <p:nvSpPr>
          <p:cNvPr id="3" name="Rectangle 2"/>
          <p:cNvSpPr/>
          <p:nvPr/>
        </p:nvSpPr>
        <p:spPr>
          <a:xfrm>
            <a:off x="502920" y="969264"/>
            <a:ext cx="11247120" cy="18000"/>
          </a:xfrm>
          <a:prstGeom prst="rect">
            <a:avLst/>
          </a:prstGeom>
          <a:solidFill>
            <a:srgbClr val="1F386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11430000" y="6446520"/>
            <a:ext cx="54864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000" b="0" i="0">
                <a:solidFill>
                  <a:srgbClr val="666666"/>
                </a:solidFill>
                <a:latin typeface="Arial"/>
              </a:rPr>
              <a:t>11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02920" y="1325880"/>
            <a:ext cx="11247120" cy="5029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</a:pPr>
            <a:r>
              <a:rPr sz="1700" b="0" i="0">
                <a:solidFill>
                  <a:srgbClr val="333333"/>
                </a:solidFill>
                <a:latin typeface="Arial"/>
              </a:rPr>
              <a:t>A current pulse becomes a power pulse through the TES equations; the area under the power is the energy. The quadratic term is 2 %.</a:t>
            </a:r>
          </a:p>
          <a:p>
            <a:pPr>
              <a:spcAft>
                <a:spcPts val="800"/>
              </a:spcAft>
            </a:pPr>
            <a:r>
              <a:rPr sz="1700" b="0" i="0">
                <a:solidFill>
                  <a:srgbClr val="333333"/>
                </a:solidFill>
                <a:latin typeface="Arial"/>
              </a:rPr>
              <a:t>The energy comes from the fitted pulse, integrated from −∞ to +∞: no bias from the noisy maximum, no drift.</a:t>
            </a:r>
          </a:p>
          <a:p>
            <a:pPr>
              <a:spcAft>
                <a:spcPts val="800"/>
              </a:spcAft>
            </a:pPr>
            <a:r>
              <a:rPr sz="1700" b="0" i="0">
                <a:solidFill>
                  <a:srgbClr val="333333"/>
                </a:solidFill>
                <a:latin typeface="Arial"/>
              </a:rPr>
              <a:t>One channel: 15 % wide and lopsided (position). Ten channels summed: 7.5 % and symmetric.</a:t>
            </a:r>
          </a:p>
          <a:p>
            <a:pPr>
              <a:spcAft>
                <a:spcPts val="800"/>
              </a:spcAft>
            </a:pPr>
            <a:r>
              <a:rPr sz="1700" b="1" i="0">
                <a:solidFill>
                  <a:srgbClr val="C0392B"/>
                </a:solidFill>
                <a:latin typeface="Arial"/>
              </a:rPr>
              <a:t>Z7 absorbs 32 ± 1 % of a 10.37 keV event in its TESs. The CDMS note on the R37 CUTE tower reports 26–41 %.</a:t>
            </a:r>
          </a:p>
          <a:p>
            <a:pPr>
              <a:spcAft>
                <a:spcPts val="800"/>
              </a:spcAft>
            </a:pPr>
            <a:r>
              <a:rPr sz="1700" b="0" i="0">
                <a:solidFill>
                  <a:srgbClr val="333333"/>
                </a:solidFill>
                <a:latin typeface="Arial"/>
              </a:rPr>
              <a:t>Open: Z7 only · the HV bias of Z7 is not established (0 V assumed) · no dI/dV, so the inductor term is dropped · PDS2 is the ± 1 % · 12.5 % of events fit in no channel and are not in the histograms.</a:t>
            </a: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228600"/>
            <a:ext cx="1124712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700" b="1" i="0">
                <a:solidFill>
                  <a:srgbClr val="1F3864"/>
                </a:solidFill>
                <a:latin typeface="Arial"/>
              </a:rPr>
              <a:t>Backup — the events</a:t>
            </a:r>
          </a:p>
        </p:txBody>
      </p:sp>
      <p:sp>
        <p:nvSpPr>
          <p:cNvPr id="3" name="Rectangle 2"/>
          <p:cNvSpPr/>
          <p:nvPr/>
        </p:nvSpPr>
        <p:spPr>
          <a:xfrm>
            <a:off x="502920" y="969264"/>
            <a:ext cx="11247120" cy="18000"/>
          </a:xfrm>
          <a:prstGeom prst="rect">
            <a:avLst/>
          </a:prstGeom>
          <a:solidFill>
            <a:srgbClr val="1F386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11430000" y="6446520"/>
            <a:ext cx="54864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000" b="0" i="0">
                <a:solidFill>
                  <a:srgbClr val="666666"/>
                </a:solidFill>
                <a:latin typeface="Arial"/>
              </a:rPr>
              <a:t>12</a:t>
            </a:r>
          </a:p>
        </p:txBody>
      </p:sp>
      <p:pic>
        <p:nvPicPr>
          <p:cNvPr id="5" name="Picture 4" descr="spectrum_zip7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991910" y="1143000"/>
            <a:ext cx="10269140" cy="5257800"/>
          </a:xfrm>
          <a:prstGeom prst="rect">
            <a:avLst/>
          </a:prstGeom>
        </p:spPr>
      </p:pic>
    </p:spTree>
  </p:cSld>
  <p:clrMapOvr>
    <a:masterClrMapping/>
  </p:clrMapOvr>
</p:sld>
</file>

<file path=ppt/slides/slide1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228600"/>
            <a:ext cx="1124712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700" b="1" i="0">
                <a:solidFill>
                  <a:srgbClr val="1F3864"/>
                </a:solidFill>
                <a:latin typeface="Arial"/>
              </a:rPr>
              <a:t>Backup — the three versions of the power formula</a:t>
            </a:r>
          </a:p>
        </p:txBody>
      </p:sp>
      <p:sp>
        <p:nvSpPr>
          <p:cNvPr id="3" name="Rectangle 2"/>
          <p:cNvSpPr/>
          <p:nvPr/>
        </p:nvSpPr>
        <p:spPr>
          <a:xfrm>
            <a:off x="502920" y="969264"/>
            <a:ext cx="11247120" cy="18000"/>
          </a:xfrm>
          <a:prstGeom prst="rect">
            <a:avLst/>
          </a:prstGeom>
          <a:solidFill>
            <a:srgbClr val="1F386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11430000" y="6446520"/>
            <a:ext cx="54864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000" b="0" i="0">
                <a:solidFill>
                  <a:srgbClr val="666666"/>
                </a:solidFill>
                <a:latin typeface="Arial"/>
              </a:rPr>
              <a:t>13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02920" y="1325880"/>
            <a:ext cx="11247120" cy="5029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</a:pPr>
            <a:r>
              <a:rPr sz="1700" b="0" i="0">
                <a:solidFill>
                  <a:srgbClr val="333333"/>
                </a:solidFill>
                <a:latin typeface="Arial"/>
              </a:rPr>
              <a:t>δP = I₀(R_L − R₀)·δI + c₂·R_L·(δI)²     with c₂ = 2 (Method 1, used here), 1 (exact small-signal), −1 (Method 2)</a:t>
            </a:r>
          </a:p>
          <a:p>
            <a:pPr>
              <a:spcAft>
                <a:spcPts val="800"/>
              </a:spcAft>
            </a:pPr>
            <a:r>
              <a:rPr sz="1700" b="0" i="0">
                <a:solidFill>
                  <a:srgbClr val="333333"/>
                </a:solidFill>
                <a:latin typeface="Arial"/>
              </a:rPr>
              <a:t>Relative to the exact form: Method 1 +0.58 %, Method 2 −1.15 % in energy — far below the 15 % single-channel width and the PDS2 bracket.</a:t>
            </a:r>
          </a:p>
          <a:p>
            <a:pPr>
              <a:spcAft>
                <a:spcPts val="800"/>
              </a:spcAft>
            </a:pPr>
            <a:r>
              <a:rPr sz="1700" b="0" i="0">
                <a:solidFill>
                  <a:srgbClr val="333333"/>
                </a:solidFill>
                <a:latin typeface="Arial"/>
              </a:rPr>
              <a:t>The inductor term of the full equations needs L and the loop gain from dI/dV, which do not exist for these series on MSI; it is neglected.</a:t>
            </a:r>
          </a:p>
          <a:p>
            <a:pPr>
              <a:spcAft>
                <a:spcPts val="800"/>
              </a:spcAft>
            </a:pPr>
            <a:r>
              <a:rPr sz="1700" b="0" i="0">
                <a:solidFill>
                  <a:srgbClr val="333333"/>
                </a:solidFill>
                <a:latin typeface="Arial"/>
              </a:rPr>
              <a:t>The official Eabs (trigger bin 16383, baseline bins 93..15758, 5-pole 20 kHz prefilter, window −0.5/+1 ms, same formula) is reproduced to 0.2 %; the grey outlines on the histogram slides are it.</a:t>
            </a:r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228600"/>
            <a:ext cx="1124712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700" b="1" i="0">
                <a:solidFill>
                  <a:srgbClr val="1F3864"/>
                </a:solidFill>
                <a:latin typeface="Arial"/>
              </a:rPr>
              <a:t>Backup — 15 events, fitted current and power (PBS1)</a:t>
            </a:r>
          </a:p>
        </p:txBody>
      </p:sp>
      <p:sp>
        <p:nvSpPr>
          <p:cNvPr id="3" name="Rectangle 2"/>
          <p:cNvSpPr/>
          <p:nvPr/>
        </p:nvSpPr>
        <p:spPr>
          <a:xfrm>
            <a:off x="502920" y="969264"/>
            <a:ext cx="11247120" cy="18000"/>
          </a:xfrm>
          <a:prstGeom prst="rect">
            <a:avLst/>
          </a:prstGeom>
          <a:solidFill>
            <a:srgbClr val="1F386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11430000" y="6446520"/>
            <a:ext cx="54864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000" b="0" i="0">
                <a:solidFill>
                  <a:srgbClr val="666666"/>
                </a:solidFill>
                <a:latin typeface="Arial"/>
              </a:rPr>
              <a:t>14</a:t>
            </a:r>
          </a:p>
        </p:txBody>
      </p:sp>
      <p:pic>
        <p:nvPicPr>
          <p:cNvPr id="5" name="Picture 4" descr="pulse_15events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2671354" y="1143000"/>
            <a:ext cx="6910251" cy="5257800"/>
          </a:xfrm>
          <a:prstGeom prst="rect">
            <a:avLst/>
          </a:prstGeom>
        </p:spPr>
      </p:pic>
    </p:spTree>
  </p:cSld>
  <p:clrMapOvr>
    <a:masterClrMapping/>
  </p:clrMapOvr>
</p:sld>
</file>

<file path=ppt/slides/slide1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228600"/>
            <a:ext cx="1124712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700" b="1" i="0">
                <a:solidFill>
                  <a:srgbClr val="1F3864"/>
                </a:solidFill>
                <a:latin typeface="Arial"/>
              </a:rPr>
              <a:t>Backup — 15 events, cumulative energy (PBS1)</a:t>
            </a:r>
          </a:p>
        </p:txBody>
      </p:sp>
      <p:sp>
        <p:nvSpPr>
          <p:cNvPr id="3" name="Rectangle 2"/>
          <p:cNvSpPr/>
          <p:nvPr/>
        </p:nvSpPr>
        <p:spPr>
          <a:xfrm>
            <a:off x="502920" y="969264"/>
            <a:ext cx="11247120" cy="18000"/>
          </a:xfrm>
          <a:prstGeom prst="rect">
            <a:avLst/>
          </a:prstGeom>
          <a:solidFill>
            <a:srgbClr val="1F386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11430000" y="6446520"/>
            <a:ext cx="54864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000" b="0" i="0">
                <a:solidFill>
                  <a:srgbClr val="666666"/>
                </a:solidFill>
                <a:latin typeface="Arial"/>
              </a:rPr>
              <a:t>15</a:t>
            </a:r>
          </a:p>
        </p:txBody>
      </p:sp>
      <p:pic>
        <p:nvPicPr>
          <p:cNvPr id="5" name="Picture 4" descr="cum_15events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2671354" y="1143000"/>
            <a:ext cx="6910251" cy="5257800"/>
          </a:xfrm>
          <a:prstGeom prst="rect">
            <a:avLst/>
          </a:prstGeom>
        </p:spPr>
      </p:pic>
    </p:spTree>
  </p:cSld>
  <p:clrMapOvr>
    <a:masterClrMapping/>
  </p:clrMapOvr>
</p:sld>
</file>

<file path=ppt/slides/slide1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228600"/>
            <a:ext cx="1124712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700" b="1" i="0">
                <a:solidFill>
                  <a:srgbClr val="1F3864"/>
                </a:solidFill>
                <a:latin typeface="Arial"/>
              </a:rPr>
              <a:t>Backup — event 30646, all channels</a:t>
            </a:r>
          </a:p>
        </p:txBody>
      </p:sp>
      <p:sp>
        <p:nvSpPr>
          <p:cNvPr id="3" name="Rectangle 2"/>
          <p:cNvSpPr/>
          <p:nvPr/>
        </p:nvSpPr>
        <p:spPr>
          <a:xfrm>
            <a:off x="502920" y="969264"/>
            <a:ext cx="11247120" cy="18000"/>
          </a:xfrm>
          <a:prstGeom prst="rect">
            <a:avLst/>
          </a:prstGeom>
          <a:solidFill>
            <a:srgbClr val="1F386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11430000" y="6446520"/>
            <a:ext cx="54864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000" b="0" i="0">
                <a:solidFill>
                  <a:srgbClr val="666666"/>
                </a:solidFill>
                <a:latin typeface="Arial"/>
              </a:rPr>
              <a:t>16</a:t>
            </a:r>
          </a:p>
        </p:txBody>
      </p:sp>
      <p:pic>
        <p:nvPicPr>
          <p:cNvPr id="5" name="Picture 4" descr="allchan_pulses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02920" y="1758921"/>
            <a:ext cx="11247120" cy="4025957"/>
          </a:xfrm>
          <a:prstGeom prst="rect">
            <a:avLst/>
          </a:prstGeom>
        </p:spPr>
      </p:pic>
    </p:spTree>
  </p:cSld>
  <p:clrMapOvr>
    <a:masterClrMapping/>
  </p:clrMapOvr>
</p:sld>
</file>

<file path=ppt/slides/slide1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228600"/>
            <a:ext cx="1124712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700" b="1" i="0">
                <a:solidFill>
                  <a:srgbClr val="1F3864"/>
                </a:solidFill>
                <a:latin typeface="Arial"/>
              </a:rPr>
              <a:t>Backup — energy distribution of every channel</a:t>
            </a:r>
          </a:p>
        </p:txBody>
      </p:sp>
      <p:sp>
        <p:nvSpPr>
          <p:cNvPr id="3" name="Rectangle 2"/>
          <p:cNvSpPr/>
          <p:nvPr/>
        </p:nvSpPr>
        <p:spPr>
          <a:xfrm>
            <a:off x="502920" y="969264"/>
            <a:ext cx="11247120" cy="18000"/>
          </a:xfrm>
          <a:prstGeom prst="rect">
            <a:avLst/>
          </a:prstGeom>
          <a:solidFill>
            <a:srgbClr val="1F386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11430000" y="6446520"/>
            <a:ext cx="54864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000" b="0" i="0">
                <a:solidFill>
                  <a:srgbClr val="666666"/>
                </a:solidFill>
                <a:latin typeface="Arial"/>
              </a:rPr>
              <a:t>17</a:t>
            </a:r>
          </a:p>
        </p:txBody>
      </p:sp>
      <p:pic>
        <p:nvPicPr>
          <p:cNvPr id="5" name="Picture 4" descr="hist_allchan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929114" y="1143000"/>
            <a:ext cx="10394731" cy="5257800"/>
          </a:xfrm>
          <a:prstGeom prst="rect">
            <a:avLst/>
          </a:prstGeom>
        </p:spPr>
      </p:pic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