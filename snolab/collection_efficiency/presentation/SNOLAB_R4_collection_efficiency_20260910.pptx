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Efficiency = energy absorbed by the TESs, summed over all channels, / 10.37 keV, for a detector operated at 0 V (no NTL amplification). Z7, K-line events of the Ge activation, SNOLAB R4, 2207 events over 30 series.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 small-signal result (Irwin &amp; Hilton), Method 1 of the CDMS note. Coefficients from the measured bias point of each channel: I0(R_L-R0) = 0.45 uV, 2R_L = 0.0385 Ohm for PBS1. For a two-exponential pulse the integral is a formula in A, tau_f, tau_r.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Top: the pulse zoomed on its peak, three axes. Bottom: the power and its area. 1 ADC = 0.318 nA. The next two slides walk through the two panels.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 raw samples, blue 100 kHz low pass (what the fit sees), green 20 kHz (official prefilter), red the two-exponential fit, pink band fit ± 1 sigma (89 ADC). Yellow: 98 samples within 10% of the peak. Raw max 885 ADC vs fit 717: +23%. The maximum of 98 equal samples is the biggest upward noise. The fit averages every sample.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Red: power from the fitted current, two terms added. Blue dashed: linear term alone. Purple dotted: quadratic term x20. Peak 104.6 fW = 102.6 + 2.0: quadratic 1.9% of peak, 1.3% of energy. Shaded area 305.2 eV, 99% inside this window. Bottom line: the bias point that fixes the coefficients.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Top: raw current of events 30646 and 210571, y zoomed to +-60 nA; dashed green is the mean after the pulse. Bottom: accumulated energy. Left: after-pulse mean +0.1 nA, raw 316 vs fit 305 eV. Right: -6.2 nA, i.e. -2.8 fW over 24 ms = -420 eV, raw -169 vs fit 277.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PES1 489 eV, PES2 195 eV: position. Sum over 11 channels 3419 eV = 33.0%. Official window on the raw traces: 3397 eV = 32.8%. PDS2: slow swing after 5 ms, a low-frequency artefact; residual 0.14, three times the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Red: fit. Grey outline: official window on the raw trace; same peak to 0.2%. Peak 285 eV, width 42 eV = 15%, for a fixed-energy line. Right tail to 600 eV: events near PBS1. The width is position, not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Grey: ten channels that fit ≥ 95% of events, 1827 events, 3162 eV = 30.5%, width 7.5% — the position dependence cancels in the sum. PDS2 fits only 42% (the swing) and on those events the other ten channels are 4.8% low, so its share is a bracket: 31.5 to 32.9%. Red line 10.37 keV.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Chain: current -&gt; power -&gt; energy -&gt; sum -&gt; 32 ± 1%. R37 CUTE note: 26-41%. Open: Z7 only; HV bias unknown (0 V assumed); no dIdV, inductor term dropped; PDS2; 12.5% of events fit nowhere.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Z7 summed PTOFamps, our rebuild with no cut; K line at 2e-6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c2 = 2 Method 1 (used), 1 exact, -1 Method 2. Relative to exact: +0.58%, -1.15%.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15 example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Fit vs raw, 15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 3419 eV = 33.0%.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channel is right-skewed; the peaks must not be added (21% low), the means add. PDS2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3864"/>
                </a:solidFill>
                <a:latin typeface="Arial"/>
              </a:rPr>
              <a:t>Phonon collection efficiency of Z7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333333"/>
                </a:solidFill>
                <a:latin typeface="Arial"/>
              </a:rPr>
              <a:t>Zhiheng Li  ·  University of Minnesota  ·  SuperCDMS SNOLAB Run 4  ·  September 2026</a:t>
            </a:r>
          </a:p>
          <a:p>
            <a:r>
              <a:rPr sz="1300" b="0" i="0">
                <a:solidFill>
                  <a:srgbClr val="666666"/>
                </a:solidFill>
                <a:latin typeface="Arial"/>
              </a:rPr>
              <a:t>github.com/ZhihengLi0/urop  →  snolab/collection_efficiency/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2</a:t>
            </a:r>
          </a:p>
        </p:txBody>
      </p:sp>
      <p:pic>
        <p:nvPicPr>
          <p:cNvPr id="5" name="Picture 4" descr="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1097280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C0392B"/>
                </a:solidFill>
                <a:latin typeface="Arial"/>
              </a:rPr>
              <a:t>For detectors operated at 0 V (no NTL effect):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Collection efficiency  =  energy absorbed by the TESs, summed over all channels  ÷  the 10.37 keV of the event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Sample: Z7, the K-line events of the Ge activation run, from SNOLAB R4 (2207 events, 30 series, all 11 channels).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formula, and the two numbers it needs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Method 1 of the CDMS collection-efficiency note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3</a:t>
            </a:r>
          </a:p>
        </p:txBody>
      </p:sp>
      <p:pic>
        <p:nvPicPr>
          <p:cNvPr id="5" name="Picture 4" descr="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89" y="1143000"/>
            <a:ext cx="10257182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12064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δP = the change of Joule heating when the current moves by δI: a linear term and a small quadratic term.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The note also gives Method 2. In our sign convention it reads δP = I₀(R_L − R₀)·δI − R_L·(δI)²: the same linear term, only the quadratic term differs, and it gives 1.7 % less energy (PBS1, median of 15 events).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Example: one pulse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Z7 PBS1, event 30646: 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the same trace as ADC counts, as current, as power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4</a:t>
            </a:r>
          </a:p>
        </p:txBody>
      </p:sp>
      <p:pic>
        <p:nvPicPr>
          <p:cNvPr id="5" name="Picture 4" descr="peak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7530" y="1143000"/>
            <a:ext cx="605790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0533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Arial"/>
              </a:rPr>
              <a:t>The two-exponential is fitted to the 100 kHz low-passed trace (blue), not to the raw samples; the raw samples are only drawn.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height: take it from the fit, not from the largest sample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5</a:t>
            </a:r>
          </a:p>
        </p:txBody>
      </p:sp>
      <p:pic>
        <p:nvPicPr>
          <p:cNvPr id="5" name="Picture 4" descr="peak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558" y="1143000"/>
            <a:ext cx="10455844" cy="4526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607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Yellow band: 98 samples sit within 10 % of the peak. The largest of them is the largest noise excursion.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Largest raw sample 885 ADC, fit 717 ADC: the maximum reads 23 % high. Filtering helps; the fit removes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power pulse, and its area is the energy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6</a:t>
            </a:r>
          </a:p>
        </p:txBody>
      </p:sp>
      <p:pic>
        <p:nvPicPr>
          <p:cNvPr id="5" name="Picture 4" descr="peak_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2489" y="1143000"/>
            <a:ext cx="8747982" cy="36575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93776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Red: the fitted current put through the formula. Blue dashed: the linear term alone. Purple: the quadratic term, ×20.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The quadratic term is 1.9 % of the peak — the power pulse has the shape of the current pulse.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The shaded area is the energy this channel absorbed: 305 eV.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Why the fitted pulse is integrated, and not the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7</a:t>
            </a:r>
          </a:p>
        </p:txBody>
      </p:sp>
      <p:pic>
        <p:nvPicPr>
          <p:cNvPr id="5" name="Picture 4" descr="raw_cum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880" y="1143000"/>
            <a:ext cx="7315200" cy="4663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8815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Arial"/>
              </a:rPr>
              <a:t>Top: the raw current of the two events; the small panel zooms in on the baseline after the pulse. Bottom: the energy accumulated from the raw current (grey) and from the fit (red).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C0392B"/>
                </a:solidFill>
                <a:latin typeface="Arial"/>
              </a:rPr>
              <a:t>Right: after the pulse the current sits 6 nA below its baseline — hidden in 28 nA of noise, yet over 24 ms it is −420 eV: raw −169 eV, fit 277 eV.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same event in its other channels: they add up to 33 %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Z7 event 30646; four of the eleven channels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8</a:t>
            </a:r>
          </a:p>
        </p:txBody>
      </p:sp>
      <p:pic>
        <p:nvPicPr>
          <p:cNvPr id="5" name="Picture 4" descr="allchan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8226" y="1143000"/>
            <a:ext cx="8296507" cy="4251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4864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The channels share the energy unevenly (PES1 489 eV, PES2 195 eV): the event sat closer to one side.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Summed over the eleven channels: 3419 eV = 33.0 % of 10.37 keV.   PDS2 (bottom right) carries a slow swing.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Now every event: one channel gives a wide, lopsided distribution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PBS1, 1917 K-line events, one fit and one integral 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9</a:t>
            </a:r>
          </a:p>
        </p:txBody>
      </p:sp>
      <p:pic>
        <p:nvPicPr>
          <p:cNvPr id="5" name="Picture 4" descr="hist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48415"/>
            <a:ext cx="8046719" cy="53841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Red: from the fit. Grey: the official window on the raw trace. Same peak to 0.2 %.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Peak 285 eV, width 15 % — for a line whose energy is fixed.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The tail to the right is the events that happened near this channel.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One channel's width is event position, not noise.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Summed over the channels: 32 ± 1 %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the total energy the TESs absorbed per K-line event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10</a:t>
            </a:r>
          </a:p>
        </p:txBody>
      </p:sp>
      <p:pic>
        <p:nvPicPr>
          <p:cNvPr id="5" name="Picture 4" descr="hist_s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67932"/>
            <a:ext cx="8046720" cy="51450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Ten channels summed, 1827 events: 3162 eV = 30.5 %, and the width drops to 7.5 % — the position effect cancels.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PDS2 fits only 42 % of the events (that slow swing), and those events are not typical; its share can only be bracketed.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Full efficiency 31.5–32.9 %:  32 ± 1 %.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 line: 10.37 keV — two thirds of the energy never reaches the TESs.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Summary, and what is still open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A current pulse becomes a power pulse through the TES equations; the area under the power is the energy. The quadratic term is 2 %.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energy comes from the fitted pulse, integrated from −∞ to +∞: no bias from the noisy maximum, no drift.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One channel: 15 % wide and lopsided (position). Ten channels summed: 7.5 % and symmetric.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C0392B"/>
                </a:solidFill>
                <a:latin typeface="Arial"/>
              </a:rPr>
              <a:t>Z7 absorbs 32 ± 1 % of a 10.37 keV event in its TESs. The CDMS note on the R37 CUTE tower reports 26–41 %.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Open: Z7 only · the HV bias of Z7 is not established (0 V assumed) · no dI/dV, so the inductor term is dropped · PDS2 is the ± 1 % · 12.5 % of events fit in no channel and are not in the histograms.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the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12</a:t>
            </a:r>
          </a:p>
        </p:txBody>
      </p:sp>
      <p:pic>
        <p:nvPicPr>
          <p:cNvPr id="5" name="Picture 4" descr="spectrum_zip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910" y="1143000"/>
            <a:ext cx="1026914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the three versions of the power formula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δP = I₀(R_L − R₀)·δI + c₂·R_L·(δI)²     with c₂ = 2 (Method 1, used here), 1 (exact small-signal), −1 (Method 2)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Relative to the exact form: Method 1 +0.58 %, Method 2 −1.15 % in energy — far below the 15 % single-channel width and the PDS2 bracket.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inductor term of the full equations needs L and the loop gain from dI/dV, which do not exist for these series on MSI; it is neglected.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official Eabs (trigger bin 16383, baseline bins 93..15758, 5-pole 20 kHz prefilter, window −0.5/+1 ms, same formula) is reproduced to 0.2 %; the grey outlines on the histogram slides are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how the formulas are derived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14</a:t>
            </a:r>
          </a:p>
        </p:txBody>
      </p:sp>
      <p:pic>
        <p:nvPicPr>
          <p:cNvPr id="5" name="Picture 4" descr="derivation_backup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072" y="1143000"/>
            <a:ext cx="10258816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15 events, fitted current and power (PBS1)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15</a:t>
            </a:r>
          </a:p>
        </p:txBody>
      </p:sp>
      <p:pic>
        <p:nvPicPr>
          <p:cNvPr id="5" name="Picture 4" descr="pulse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15 events, cumulative energy (PBS1)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16</a:t>
            </a:r>
          </a:p>
        </p:txBody>
      </p:sp>
      <p:pic>
        <p:nvPicPr>
          <p:cNvPr id="5" name="Picture 4" descr="cum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event 30646, all channels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17</a:t>
            </a:r>
          </a:p>
        </p:txBody>
      </p:sp>
      <p:pic>
        <p:nvPicPr>
          <p:cNvPr id="5" name="Picture 4" descr="allchan_pul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8921"/>
            <a:ext cx="11247120" cy="402595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energy distribution of every channel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18</a:t>
            </a:r>
          </a:p>
        </p:txBody>
      </p:sp>
      <p:pic>
        <p:nvPicPr>
          <p:cNvPr id="5" name="Picture 4" descr="hist_allch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114" y="1143000"/>
            <a:ext cx="10394731" cy="525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