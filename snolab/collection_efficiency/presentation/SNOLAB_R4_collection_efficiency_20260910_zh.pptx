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1F3864"/>
                </a:solidFill>
                <a:latin typeface="Droid Sans Fallback"/>
              </a:rPr>
              <a:t>Z7 的声子收集效率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297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333333"/>
                </a:solidFill>
                <a:latin typeface="Droid Sans Fallback"/>
              </a:rPr>
              <a:t>李知恒  ·  明尼苏达大学  ·  SuperCDMS SNOLAB Run 4  ·  2026 年 9 月</a:t>
            </a:r>
          </a:p>
          <a:p>
            <a:r>
              <a:rPr sz="1300" b="0" i="0">
                <a:solidFill>
                  <a:srgbClr val="666666"/>
                </a:solidFill>
                <a:latin typeface="Droid Sans Fallback"/>
              </a:rPr>
              <a:t>github.com/ZhihengLi0/urop  →  snolab/collection_efficiency/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问题是什么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2</a:t>
            </a:r>
          </a:p>
        </p:txBody>
      </p:sp>
      <p:pic>
        <p:nvPicPr>
          <p:cNvPr id="5" name="Picture 4" descr="ch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280160"/>
            <a:ext cx="10972800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3931920"/>
            <a:ext cx="112471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Droid Sans Fallback"/>
              </a:rPr>
              <a:t>收集效率  =  到达 TES 薄膜的能量  ÷  事件放进晶体的 10.37 keV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Droid Sans Fallback"/>
              </a:rPr>
              <a:t>我们记录下来的是一条电流脉冲。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C0392B"/>
                </a:solidFill>
                <a:latin typeface="Droid Sans Fallback"/>
              </a:rPr>
              <a:t>电流曲线下面的面积不是能量 —— 所以必须先把脉冲换成功率。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Droid Sans Fallback"/>
              </a:rPr>
              <a:t>样本：Z7，Ge 活化的 K 线事件（2207 个事件，30 个 series，11 个通道的原始波形全部保存）。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电流 → 功率，功率 → 能量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3</a:t>
            </a:r>
          </a:p>
        </p:txBody>
      </p:sp>
      <p:pic>
        <p:nvPicPr>
          <p:cNvPr id="5" name="Picture 4" descr="formul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89" y="1143000"/>
            <a:ext cx="10257182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16636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Droid Sans Fallback"/>
              </a:rPr>
              <a:t>功率 = 电流变化 δI 之后焦耳热的变化量：一个线性项，加一个很小的二次项。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C0392B"/>
                </a:solidFill>
                <a:latin typeface="Droid Sans Fallback"/>
              </a:rPr>
              <a:t>拟合出双指数，从 −∞ 积到 +∞：能量就是 A、τ_f、τ_r 的一个公式。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一个脉冲，三种读法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Z7 PBS1，事件 30646：同一条波形，读成 ADC 计数、读成电流、读成功率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4</a:t>
            </a:r>
          </a:p>
        </p:txBody>
      </p:sp>
      <p:pic>
        <p:nvPicPr>
          <p:cNvPr id="5" name="Picture 4" descr="peak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13966" y="1143000"/>
            <a:ext cx="6825028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脉冲高度：从拟合取，不从最大的采样点取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5</a:t>
            </a:r>
          </a:p>
        </p:txBody>
      </p:sp>
      <p:pic>
        <p:nvPicPr>
          <p:cNvPr id="5" name="Picture 4" descr="peak_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759" y="1143000"/>
            <a:ext cx="10097441" cy="4160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3949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Droid Sans Fallback"/>
              </a:rPr>
              <a:t>黄色竖带：98 个采样点都在峰高的 10% 以内。其中最大的那个，就是噪声往上跳得最多的那个。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C0392B"/>
                </a:solidFill>
                <a:latin typeface="Droid Sans Fallback"/>
              </a:rPr>
              <a:t>原始数据最大值 885 ADC，拟合峰值 717 ADC：取最大值偏高 23%。滤波能减轻，拟合能消除。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功率脉冲，它的面积就是能量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6</a:t>
            </a:r>
          </a:p>
        </p:txBody>
      </p:sp>
      <p:pic>
        <p:nvPicPr>
          <p:cNvPr id="5" name="Picture 4" descr="peak_bott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213485"/>
            <a:ext cx="11247120" cy="296799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4389120"/>
            <a:ext cx="11247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Droid Sans Fallback"/>
              </a:rPr>
              <a:t>红线：拟合出的电流代进公式。蓝色虚线：只有线性项。紫色点线：只有二次项，放大 20 倍。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C0392B"/>
                </a:solidFill>
                <a:latin typeface="Droid Sans Fallback"/>
              </a:rPr>
              <a:t>二次项只占峰值的 1.9% —— 功率脉冲的形状和电流脉冲一样。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C0392B"/>
                </a:solidFill>
                <a:latin typeface="Droid Sans Fallback"/>
              </a:rPr>
              <a:t>粉色面积就是这个通道吸收的能量：305 eV。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为什么积分的是拟合脉冲，不是原始数据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从 52 ms 波形的开头一路累计的能量；触发在点线处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7</a:t>
            </a:r>
          </a:p>
        </p:txBody>
      </p:sp>
      <p:pic>
        <p:nvPicPr>
          <p:cNvPr id="5" name="Picture 4" descr="cum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413509"/>
            <a:ext cx="11247120" cy="34366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257800"/>
            <a:ext cx="112471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红线，来自拟合：脉冲之前是 0，1 ms 之内升上去，之后保持水平 —— 终点正好等于公式算出的值。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灰线，来自原始波形：一直在漂。基线偏 1 nA，15 ms 积下来就是 42 eV。右图：拟合 277 eV，原始波形 −169 eV。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同一个事件的其他通道：加起来是 33%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Z7 事件 30646；11 个通道里的 4 个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8</a:t>
            </a:r>
          </a:p>
        </p:txBody>
      </p:sp>
      <p:pic>
        <p:nvPicPr>
          <p:cNvPr id="5" name="Picture 4" descr="allchan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1141" y="1143000"/>
            <a:ext cx="8370678" cy="4069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2578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各通道分到的能量很不均匀（PES1 489 eV，PES2 195 eV）：事件发生的位置更靠近一侧。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11 个通道加起来：3419 eV = 10.37 keV 的 33.0%。   PDS2（右下）有一个缓慢的大起伏 —— 记住它。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现在看所有事件：一个通道给出又宽又歪的分布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PBS1，1917 个 K 线事件，每个事件一次拟合、一次积分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9</a:t>
            </a:r>
          </a:p>
        </p:txBody>
      </p:sp>
      <p:pic>
        <p:nvPicPr>
          <p:cNvPr id="5" name="Picture 4" descr="hist_PBS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412748"/>
            <a:ext cx="7863840" cy="47183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146304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红色：来自拟合。灰色：官方窗口在原始波形上算的。峰位只差 0.2%。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峰 285 eV，宽度 15% —— 这可是一条能量固定的谱线。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往右拖的尾巴，是发生在这个通道附近的事件。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单通道的宽度是事件位置，不是噪声。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各通道求和：32 ± 1%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每个 K 线事件被 TES 吸收的总能量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10</a:t>
            </a:r>
          </a:p>
        </p:txBody>
      </p:sp>
      <p:pic>
        <p:nvPicPr>
          <p:cNvPr id="5" name="Picture 4" descr="hist_su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412748"/>
            <a:ext cx="7863840" cy="47183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146304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10 个通道求和，1827 个事件：3162 eV = 30.5%，宽度降到 7.5% —— 位置效应抵消了。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PDS2 只有 42% 的事件能拟合上（那个缓慢起伏），而且这些事件不典型；它的份额只能给一个范围。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完整效率 31.5–32.9%：  32 ± 1%。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红线：10.37 keV —— 三分之二的能量根本没到 TES。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总结，以及还没落实的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电流脉冲通过 TES 方程变成功率脉冲；功率下面的面积就是能量。二次项只有 2%。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能量来自拟合脉冲、从 −∞ 积到 +∞：没有最大值的噪声偏差，没有漂移。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单通道：15% 宽、歪的（位置效应）。10 个通道求和：7.5%、对称。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C0392B"/>
                </a:solidFill>
                <a:latin typeface="Droid Sans Fallback"/>
              </a:rPr>
              <a:t>Z7 把一个 10.37 keV 事件的 32 ± 1% 吸收进 TES。CDMS 文档在 R37 CUTE tower 上报的是 26–41%。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还没落实：只做了 Z7 · Z7 的 HV 偏压没有确认（按 0 V 算） · 没有 dI/dV，电感项被丢掉 · PDS2 就是那 ±1% · 12.5% 的事件在任何通道都拟合不上，没进直方图。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事件谱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12</a:t>
            </a:r>
          </a:p>
        </p:txBody>
      </p:sp>
      <p:pic>
        <p:nvPicPr>
          <p:cNvPr id="5" name="Picture 4" descr="spectrum_zip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1910" y="1143000"/>
            <a:ext cx="10269140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功率公式的三个版本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P = I₀(R_L − R₀)·δI + c₂·R_L·(δI)²     c₂ = 2（method 1，本报告用的）、1（精确的小信号解）、−1（method 2）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相对精确解：method 1 高 0.58%，method 2 低 1.15% —— 远小于单通道 15% 的宽度和 PDS2 的范围。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完整方程里的电感项需要 L 和 loop gain，要从 dI/dV 来，MSI 上这些 series 没有这个数据；这一项被忽略。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官方 Eabs（触发在第 16383 点，基线是 93..15758 点的平均，5 阶 20 kHz 预滤波，窗口 −0.5/+1 ms，同一个公式）复现到 0.2%；直方图页上的灰色轮廓就是它。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15 个事件，拟合电流和功率（PBS1）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14</a:t>
            </a:r>
          </a:p>
        </p:txBody>
      </p:sp>
      <p:pic>
        <p:nvPicPr>
          <p:cNvPr id="5" name="Picture 4" descr="pulse_15ev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1354" y="1143000"/>
            <a:ext cx="6910251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15 个事件，累计能量（PBS1）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15</a:t>
            </a:r>
          </a:p>
        </p:txBody>
      </p:sp>
      <p:pic>
        <p:nvPicPr>
          <p:cNvPr id="5" name="Picture 4" descr="cum_15ev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1354" y="1143000"/>
            <a:ext cx="6910251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事件 30646，全部通道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16</a:t>
            </a:r>
          </a:p>
        </p:txBody>
      </p:sp>
      <p:pic>
        <p:nvPicPr>
          <p:cNvPr id="5" name="Picture 4" descr="allchan_puls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58921"/>
            <a:ext cx="11247120" cy="4025957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每个通道的能量分布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17</a:t>
            </a:r>
          </a:p>
        </p:txBody>
      </p:sp>
      <p:pic>
        <p:nvPicPr>
          <p:cNvPr id="5" name="Picture 4" descr="hist_allch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114" y="1143000"/>
            <a:ext cx="10394731" cy="5257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