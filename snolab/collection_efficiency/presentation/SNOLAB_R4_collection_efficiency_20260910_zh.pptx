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3864"/>
                </a:solidFill>
                <a:latin typeface="Droid Sans Fallback"/>
              </a:rPr>
              <a:t>Z7 的声子收集效率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Droid Sans Fallback"/>
              </a:rPr>
              <a:t>李知恒  ·  明尼苏达大学  ·  SuperCDMS SNOLAB Run 4  ·  2026 年 9 月</a:t>
            </a:r>
          </a:p>
          <a:p>
            <a:r>
              <a:rPr sz="1300" b="0" i="0">
                <a:solidFill>
                  <a:srgbClr val="666666"/>
                </a:solidFill>
                <a:latin typeface="Droid Sans Fallback"/>
              </a:rPr>
              <a:t>github.com/ZhihengLi0/urop  →  snolab/collection_efficiency/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主要思路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2</a:t>
            </a:r>
          </a:p>
        </p:txBody>
      </p:sp>
      <p:pic>
        <p:nvPicPr>
          <p:cNvPr id="5" name="Picture 4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9728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9319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Droid Sans Fallback"/>
              </a:rPr>
              <a:t>对于在 0 V 下工作的探测器（没有 NTL 效应）：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Droid Sans Fallback"/>
              </a:rPr>
              <a:t>收集效率  =  TES 吸收的能量（所有通道求和）  ÷  事件放进晶体的 10.37 keV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Droid Sans Fallback"/>
              </a:rPr>
              <a:t>样本：Z7，Ge 活化的 K 线事件，来自 SNOLAB R4（2207 个事件，30 个 series，11 个通道）。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公式和它需要的两个数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采用 CDMS 收集效率文档里的 Method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3</a:t>
            </a:r>
          </a:p>
        </p:txBody>
      </p:sp>
      <p:pic>
        <p:nvPicPr>
          <p:cNvPr id="5" name="Picture 4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10" y="1143000"/>
            <a:ext cx="846813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δP = 电流变化 δI 之后焦耳热的变化量：一个线性项，加一个很小的二次项。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I₀：工作点上流过 TES 的电流 · R₀：工作点上 TES 的电阻 · R_L = R_p + R_sh：负载电阻（R_p 寄生电阻，R_sh 分流电阻）· δI：电流的变化，来自波形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文档里还有一个 Method 2：换成我们的符号是 δP = I₀(R_L − R₀)·δI − R_L·(δI)² —— 线性项相同，只有二次项不同，能量低 1.7%（PBS1，15 个事件的中位数）。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Droid Sans Fallback"/>
              </a:rPr>
              <a:t>来源：Antoine Rehberg 的 CDMS wiki 页面 Collection Efficiency Analysis   —   confluence.slac.stanford.edu/spaces/CDMS/pages/542577254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例子：一个脉冲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Z7 PBS1，事件 30646：  </a:t>
            </a:r>
            <a:r>
              <a:rPr sz="1400" b="1" i="0">
                <a:solidFill>
                  <a:srgbClr val="333333"/>
                </a:solidFill>
                <a:latin typeface="Droid Sans Fallback"/>
              </a:rPr>
              <a:t>同一条波形，读成 ADC 计数、读成电流、读成功率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4</a:t>
            </a:r>
          </a:p>
        </p:txBody>
      </p:sp>
      <p:pic>
        <p:nvPicPr>
          <p:cNvPr id="5" name="Picture 4" descr="peak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1143000"/>
            <a:ext cx="60579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Droid Sans Fallback"/>
              </a:rPr>
              <a:t>双指数拟合用的是 100 kHz 低通之后的波形（蓝线），不是原始采样点；原始采样点只是画出来对照。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脉冲高度：从拟合取，不从最大的采样点取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5</a:t>
            </a:r>
          </a:p>
        </p:txBody>
      </p:sp>
      <p:pic>
        <p:nvPicPr>
          <p:cNvPr id="5" name="Picture 4" descr="pea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2881"/>
            <a:ext cx="11247120" cy="5135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功率脉冲，它的面积就是能量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6</a:t>
            </a:r>
          </a:p>
        </p:txBody>
      </p:sp>
      <p:pic>
        <p:nvPicPr>
          <p:cNvPr id="5" name="Picture 4" descr="pow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17" y="1143000"/>
            <a:ext cx="6031005" cy="5257800"/>
          </a:xfrm>
          <a:prstGeom prst="rect">
            <a:avLst/>
          </a:prstGeom>
        </p:spPr>
      </p:pic>
      <p:pic>
        <p:nvPicPr>
          <p:cNvPr id="6" name="Picture 5" descr="power_legend_z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892" y="1920240"/>
            <a:ext cx="4284616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为什么对拟合积分，不是对原始数据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7</a:t>
            </a:r>
          </a:p>
        </p:txBody>
      </p:sp>
      <p:pic>
        <p:nvPicPr>
          <p:cNvPr id="5" name="Picture 4" descr="raw_cu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43000"/>
            <a:ext cx="7315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881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上：这两个事件的原始电流；右上角小图把脉冲之后的基线放大。下：由原始电流累计的能量（灰）和由拟合累计的能量（红）。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Droid Sans Fallback"/>
              </a:rPr>
              <a:t>右：脉冲过后电流比基线低 6 nA —— 埋在 28 nA 的噪声里看不出来，但 24 ms 积下来就是 −420 eV：原始 −169 eV，拟合 277 eV。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同一个事件的其他通道：加起来是 33%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Z7 事件 30646；11 个通道里的 4 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8</a:t>
            </a:r>
          </a:p>
        </p:txBody>
      </p:sp>
      <p:pic>
        <p:nvPicPr>
          <p:cNvPr id="5" name="Picture 4" descr="allcha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3022"/>
            <a:ext cx="7772400" cy="3983355"/>
          </a:xfrm>
          <a:prstGeom prst="rect">
            <a:avLst/>
          </a:prstGeom>
        </p:spPr>
      </p:pic>
      <p:pic>
        <p:nvPicPr>
          <p:cNvPr id="6" name="Picture 5" descr="chan_table_z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08151"/>
            <a:ext cx="3291840" cy="4007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778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Droid Sans Fallback"/>
              </a:rPr>
              <a:t>各通道分到的能量很不均匀：60% 落在第 1 面；PES1 一个通道就有 489 eV，而 PES2 只有 195 eV。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Droid Sans Fallback"/>
              </a:rPr>
              <a:t>11 个通道加起来：3419 eV = 10.37 keV 的 33.0%。   PDS2（右下）有一个缓慢的大起伏。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现在看所有事件：一个通道给出又宽又歪的分布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PBS1，1917 个 K 线事件，每个事件一次拟合、一次积分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9</a:t>
            </a:r>
          </a:p>
        </p:txBody>
      </p:sp>
      <p:pic>
        <p:nvPicPr>
          <p:cNvPr id="5" name="Picture 4" descr="hist_PB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8415"/>
            <a:ext cx="8046719" cy="5384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红色：来自拟合。灰色：官方窗口在原始波形上算的。峰位只差 0.2%。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峰 285 eV，宽度 15% —— 这可是一条能量固定的谱线。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往右拖的尾巴，是发生在这个通道附近的事件。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单通道的宽度是事件位置，不是噪声。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各通道求和：32 ± 1%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每个 K 线事件被 TES 吸收的总能量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10</a:t>
            </a:r>
          </a:p>
        </p:txBody>
      </p:sp>
      <p:pic>
        <p:nvPicPr>
          <p:cNvPr id="5" name="Picture 4" descr="hist_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7932"/>
            <a:ext cx="8046720" cy="5145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10 个通道求和，1827 个事件：3162 eV = 30.5%，宽度降到 7.5% —— 位置效应抵消了。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PDS2 只有 42% 的事件能拟合上（那个缓慢起伏），而且这些事件不典型；它的份额只能给一个范围。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完整效率 31.5–32.9%：  32 ± 1%。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红线：10.37 keV —— 三分之二的能量根本没到 TES。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总结，以及还没落实的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电流脉冲通过 TES 方程变成功率脉冲；功率下面的面积就是能量。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能量用拟合脉冲来算，所以不受峰值噪声和基线漂移的影响。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C0392B"/>
                </a:solidFill>
                <a:latin typeface="Droid Sans Fallback"/>
              </a:rPr>
              <a:t>Z7 把一个 10.37 keV 事件的 32 ± 1% 吸收进 TES。   CDMS 文档在 R37 CUTE tower 上得到的是 26–41%。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还没落实：只做了 Z7 · Z7 的偏压没有确认（按 0 V 算） · 没有 dI/dV · PDS2 就是那 ±1% · 12.5% 的事件在任何通道都拟合不上。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事件谱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12</a:t>
            </a:r>
          </a:p>
        </p:txBody>
      </p:sp>
      <p:pic>
        <p:nvPicPr>
          <p:cNvPr id="5" name="Picture 4" descr="spectrum_zi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10" y="1143000"/>
            <a:ext cx="102691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文档里的两个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δP = I₀(R_L − R₀)·δI + c₂·R_L·(δI)²     c₂ = 2 是 Method 1（本报告用的），c₂ = −1 是 Method 2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两者只有二次项不同：能量差 1.7%（PBS1，15 个事件的中位数）—— 远小于单通道 15% 的宽度和 PDS2 的范围。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完整方程里的电感项需要 L 和 loop gain，要从 dI/dV 来，MSI 上这些 series 没有这个数据；这一项被忽略。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官方 Eabs（触发在第 16383 点，基线是 93..15758 点的平均，5 阶 20 kHz 预滤波，窗口 −0.5/+1 ms，同一个公式）复现到 0.2%；直方图页上的灰色轮廓就是它。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公式推导和逻辑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14</a:t>
            </a:r>
          </a:p>
        </p:txBody>
      </p:sp>
      <p:pic>
        <p:nvPicPr>
          <p:cNvPr id="5" name="Picture 4" descr="derivation_backup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72" y="1143000"/>
            <a:ext cx="102588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15 个事件，拟合电流和功率（PBS1）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15</a:t>
            </a:r>
          </a:p>
        </p:txBody>
      </p:sp>
      <p:pic>
        <p:nvPicPr>
          <p:cNvPr id="5" name="Picture 4" descr="pulse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15 个事件，累计能量（PBS1）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16</a:t>
            </a:r>
          </a:p>
        </p:txBody>
      </p:sp>
      <p:pic>
        <p:nvPicPr>
          <p:cNvPr id="5" name="Picture 4" descr="cum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事件 30646，全部通道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17</a:t>
            </a:r>
          </a:p>
        </p:txBody>
      </p:sp>
      <p:pic>
        <p:nvPicPr>
          <p:cNvPr id="5" name="Picture 4" descr="allchan_pul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8921"/>
            <a:ext cx="11247120" cy="4025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每个通道的能量分布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18</a:t>
            </a:r>
          </a:p>
        </p:txBody>
      </p:sp>
      <p:pic>
        <p:nvPicPr>
          <p:cNvPr id="5" name="Picture 4" descr="hist_allc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14" y="1143000"/>
            <a:ext cx="10394731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