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9"/>
    <p:sldId id="258" r:id="rId10"/>
    <p:sldId id="259" r:id="rId11"/>
    <p:sldId id="260" r:id="rId12"/>
    <p:sldId id="261" r:id="rId13"/>
    <p:sldId id="262" r:id="rId14"/>
    <p:sldId id="263" r:id="rId15"/>
    <p:sldId id="264" r:id="rId16"/>
    <p:sldId id="265" r:id="rId17"/>
    <p:sldId id="266" r:id="rId18"/>
    <p:sldId id="267" r:id="rId19"/>
    <p:sldId id="268" r:id="rId20"/>
    <p:sldId id="269" r:id="rId21"/>
    <p:sldId id="270" r:id="rId22"/>
    <p:sldId id="271" r:id="rId23"/>
    <p:sldId id="272" r:id="rId24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notesMaster" Target="notesMasters/notesMaster1.xml"/><Relationship Id="rId9" Type="http://schemas.openxmlformats.org/officeDocument/2006/relationships/slide" Target="slides/slide2.xml"/><Relationship Id="rId10" Type="http://schemas.openxmlformats.org/officeDocument/2006/relationships/slide" Target="slides/slide3.xml"/><Relationship Id="rId11" Type="http://schemas.openxmlformats.org/officeDocument/2006/relationships/slide" Target="slides/slide4.xml"/><Relationship Id="rId12" Type="http://schemas.openxmlformats.org/officeDocument/2006/relationships/slide" Target="slides/slide5.xml"/><Relationship Id="rId13" Type="http://schemas.openxmlformats.org/officeDocument/2006/relationships/slide" Target="slides/slide6.xml"/><Relationship Id="rId14" Type="http://schemas.openxmlformats.org/officeDocument/2006/relationships/slide" Target="slides/slide7.xml"/><Relationship Id="rId15" Type="http://schemas.openxmlformats.org/officeDocument/2006/relationships/slide" Target="slides/slide8.xml"/><Relationship Id="rId16" Type="http://schemas.openxmlformats.org/officeDocument/2006/relationships/slide" Target="slides/slide9.xml"/><Relationship Id="rId17" Type="http://schemas.openxmlformats.org/officeDocument/2006/relationships/slide" Target="slides/slide10.xml"/><Relationship Id="rId18" Type="http://schemas.openxmlformats.org/officeDocument/2006/relationships/slide" Target="slides/slide11.xml"/><Relationship Id="rId19" Type="http://schemas.openxmlformats.org/officeDocument/2006/relationships/slide" Target="slides/slide12.xml"/><Relationship Id="rId20" Type="http://schemas.openxmlformats.org/officeDocument/2006/relationships/slide" Target="slides/slide13.xml"/><Relationship Id="rId21" Type="http://schemas.openxmlformats.org/officeDocument/2006/relationships/slide" Target="slides/slide14.xml"/><Relationship Id="rId22" Type="http://schemas.openxmlformats.org/officeDocument/2006/relationships/slide" Target="slides/slide15.xml"/><Relationship Id="rId23" Type="http://schemas.openxmlformats.org/officeDocument/2006/relationships/slide" Target="slides/slide16.xml"/><Relationship Id="rId24" Type="http://schemas.openxmlformats.org/officeDocument/2006/relationships/slide" Target="slides/slide17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0F89C1C7-3DCD-1040-A9CF-14679D8B5DDD}" type="datetimeFigureOut">
              <a:rPr lang="en-US" smtClean="0"/>
              <a:t>10/17/16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1143000" y="685800"/>
            <a:ext cx="4572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BB5E49A5-4136-284D-997B-48E1D791AD67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23252185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_rels/notesSlide1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7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/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1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6.png"/><Relationship Id="rId4" Type="http://schemas.openxmlformats.org/officeDocument/2006/relationships/image" Target="../media/image7.png"/><Relationship Id="rId5" Type="http://schemas.openxmlformats.org/officeDocument/2006/relationships/image" Target="../media/image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9.png"/><Relationship Id="rId4" Type="http://schemas.openxmlformats.org/officeDocument/2006/relationships/image" Target="../media/image10.png"/><Relationship Id="rId5" Type="http://schemas.openxmlformats.org/officeDocument/2006/relationships/image" Target="../media/image11.png"/><Relationship Id="rId6" Type="http://schemas.openxmlformats.org/officeDocument/2006/relationships/image" Target="../media/image12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3.png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14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1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3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16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5.xml"/><Relationship Id="rId3" Type="http://schemas.openxmlformats.org/officeDocument/2006/relationships/image" Target="../media/image17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18.png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notesSlide" Target="../notesSlides/notesSlide17.xml"/><Relationship Id="rId3" Type="http://schemas.openxmlformats.org/officeDocument/2006/relationships/image" Target="../media/image19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16459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000" b="1" i="0">
                <a:solidFill>
                  <a:srgbClr val="1F3864"/>
                </a:solidFill>
                <a:latin typeface="Droid Sans Fallback"/>
              </a:rPr>
              <a:t>Z7 的声子收集效率</a:t>
            </a:r>
          </a:p>
          <a:p>
            <a:r>
              <a:rPr sz="1800" b="0" i="0">
                <a:solidFill>
                  <a:srgbClr val="666666"/>
                </a:solidFill>
                <a:latin typeface="Droid Sans Fallback"/>
              </a:rPr>
              <a:t>一个 10.37 keV 的 K 线事件，有多少能量最后到了 TES 里 —— 先从一个脉冲读出来，再推到整个探测器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4297680"/>
            <a:ext cx="1051560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 i="0">
                <a:solidFill>
                  <a:srgbClr val="333333"/>
                </a:solidFill>
                <a:latin typeface="Droid Sans Fallback"/>
              </a:rPr>
              <a:t>李知恒  ·  明尼苏达大学  ·  SuperCDMS SNOLAB Run 4  ·  2026 年 9 月</a:t>
            </a:r>
          </a:p>
          <a:p>
            <a:r>
              <a:rPr sz="1300" b="0" i="0">
                <a:solidFill>
                  <a:srgbClr val="666666"/>
                </a:solidFill>
                <a:latin typeface="Droid Sans Fallback"/>
              </a:rPr>
              <a:t>github.com/ZhihengLi0/urop  →  snolab/collection_efficiency/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问题是什么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2</a:t>
            </a:r>
          </a:p>
        </p:txBody>
      </p:sp>
      <p:pic>
        <p:nvPicPr>
          <p:cNvPr id="5" name="Picture 4" descr="chai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40080" y="1280160"/>
            <a:ext cx="10972800" cy="237744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3931920"/>
            <a:ext cx="1124712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收集效率  =  到达 TES 薄膜的能量  ÷  事件放进晶体的 10.37 keV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我们记录下来的是一条电流脉冲。</a:t>
            </a:r>
          </a:p>
          <a:p>
            <a:pPr>
              <a:spcAft>
                <a:spcPts val="800"/>
              </a:spcAft>
            </a:pPr>
            <a:r>
              <a:rPr sz="1800" b="1" i="0">
                <a:solidFill>
                  <a:srgbClr val="C0392B"/>
                </a:solidFill>
                <a:latin typeface="Droid Sans Fallback"/>
              </a:rPr>
              <a:t>电流曲线下面的面积是电荷，不是能量 —— 所以必须先把脉冲换成功率。</a:t>
            </a:r>
          </a:p>
          <a:p>
            <a:pPr>
              <a:spcAft>
                <a:spcPts val="800"/>
              </a:spcAft>
            </a:pPr>
            <a:r>
              <a:rPr sz="1800" b="0" i="0">
                <a:solidFill>
                  <a:srgbClr val="333333"/>
                </a:solidFill>
                <a:latin typeface="Droid Sans Fallback"/>
              </a:rPr>
              <a:t>样本：Z7，Ge 活化的 K 线事件（2207 个事件，30 个 series，11 个通道的原始波形全部保存）。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电流 → 功率，功率 → 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3</a:t>
            </a:r>
          </a:p>
        </p:txBody>
      </p:sp>
      <p:pic>
        <p:nvPicPr>
          <p:cNvPr id="5" name="Picture 4" descr="formula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7889" y="1143000"/>
            <a:ext cx="10257182" cy="39319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166360"/>
            <a:ext cx="1124712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功率 = 电流变化 δI 之后焦耳热的变化量：一个线性项，加一个很小的二次项。</a:t>
            </a:r>
          </a:p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两个系数都是这个通道实测的偏置点 —— 没有任何拟合和调参。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如果脉冲是双指数形状，能量就是 A、τ_f、τ_r 的一个公式 —— 不需要积分窗口。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一个脉冲，三种读法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PBS1，事件 30646：同一条波形，读成 ADC 计数、读成电流、读成功率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4</a:t>
            </a:r>
          </a:p>
        </p:txBody>
      </p:sp>
      <p:pic>
        <p:nvPicPr>
          <p:cNvPr id="5" name="Picture 4" descr="peak_full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713966" y="1143000"/>
            <a:ext cx="6825028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脉冲高度：从拟合取，不从最大的采样点取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5</a:t>
            </a:r>
          </a:p>
        </p:txBody>
      </p:sp>
      <p:pic>
        <p:nvPicPr>
          <p:cNvPr id="5" name="Picture 4" descr="peak_t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077759" y="1143000"/>
            <a:ext cx="10097441" cy="416052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5394960"/>
            <a:ext cx="11247120" cy="10972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黄色竖带：98 个采样点都在峰高的 10% 以内。其中最大的那个，就是噪声往上跳得最多的那个。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原始数据最大值 885 ADC，拟合峰值 717 ADC：取最大值偏高 23%。滤波能减轻，拟合能消除。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功率脉冲，它的面积就是能量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6</a:t>
            </a:r>
          </a:p>
        </p:txBody>
      </p:sp>
      <p:pic>
        <p:nvPicPr>
          <p:cNvPr id="5" name="Picture 4" descr="peak_botto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213485"/>
            <a:ext cx="11247120" cy="2967990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502920" y="4389120"/>
            <a:ext cx="11247120" cy="20116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红线：拟合出的电流代进公式。蓝色虚线：只有线性项。紫色点线：只有二次项，放大 20 倍。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二次项只占峰值的 1.9% —— 功率脉冲的形状和电流脉冲一样。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粉色面积就是这个通道吸收的能量：305 eV。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为什么积分的是拟合脉冲，不是原始数据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从 52 ms 波形的开头一路累计的能量；触发在点线处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7</a:t>
            </a:r>
          </a:p>
        </p:txBody>
      </p:sp>
      <p:pic>
        <p:nvPicPr>
          <p:cNvPr id="5" name="Picture 4" descr="cum_ev30646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304367"/>
            <a:ext cx="5532120" cy="1871826"/>
          </a:xfrm>
          <a:prstGeom prst="rect">
            <a:avLst/>
          </a:prstGeom>
        </p:spPr>
      </p:pic>
      <p:pic>
        <p:nvPicPr>
          <p:cNvPr id="6" name="Picture 5" descr="cum_ev21057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85226"/>
            <a:ext cx="5532120" cy="2110108"/>
          </a:xfrm>
          <a:prstGeom prst="rect">
            <a:avLst/>
          </a:prstGeom>
        </p:spPr>
      </p:pic>
      <p:pic>
        <p:nvPicPr>
          <p:cNvPr id="7" name="Picture 6" descr="cum_legen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017520" y="3406616"/>
            <a:ext cx="6126480" cy="319087"/>
          </a:xfrm>
          <a:prstGeom prst="rect">
            <a:avLst/>
          </a:prstGeom>
        </p:spPr>
      </p:pic>
      <p:sp>
        <p:nvSpPr>
          <p:cNvPr id="8" name="TextBox 7"/>
          <p:cNvSpPr txBox="1"/>
          <p:nvPr/>
        </p:nvSpPr>
        <p:spPr>
          <a:xfrm>
            <a:off x="502920" y="4023360"/>
            <a:ext cx="11247120" cy="2194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600" b="0" i="0">
                <a:solidFill>
                  <a:srgbClr val="333333"/>
                </a:solidFill>
                <a:latin typeface="Droid Sans Fallback"/>
              </a:rPr>
              <a:t>红线，来自拟合：脉冲之前是 0，1 ms 之内升上去，之后保持水平 —— 终点正好等于公式算出的值。</a:t>
            </a:r>
          </a:p>
          <a:p>
            <a:pPr>
              <a:spcAft>
                <a:spcPts val="800"/>
              </a:spcAft>
            </a:pPr>
            <a:r>
              <a:rPr sz="1600" b="1" i="0">
                <a:solidFill>
                  <a:srgbClr val="C0392B"/>
                </a:solidFill>
                <a:latin typeface="Droid Sans Fallback"/>
              </a:rPr>
              <a:t>灰线，来自原始波形：一直在漂。基线偏 1 nA，15 ms 积下来就是 42 eV。右图：拟合 277 eV，原始波形 −169 eV。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同一个事件的其他通道：加起来是 33%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Z7 事件 30646；11 个通道里的 4 个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8</a:t>
            </a:r>
          </a:p>
        </p:txBody>
      </p:sp>
      <p:pic>
        <p:nvPicPr>
          <p:cNvPr id="5" name="Picture 4" descr="allchan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154757"/>
            <a:ext cx="5532120" cy="1896726"/>
          </a:xfrm>
          <a:prstGeom prst="rect">
            <a:avLst/>
          </a:prstGeom>
        </p:spPr>
      </p:pic>
      <p:pic>
        <p:nvPicPr>
          <p:cNvPr id="6" name="Picture 5" descr="allchan_PES1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217920" y="1154757"/>
            <a:ext cx="5532120" cy="1896726"/>
          </a:xfrm>
          <a:prstGeom prst="rect">
            <a:avLst/>
          </a:prstGeom>
        </p:spPr>
      </p:pic>
      <p:pic>
        <p:nvPicPr>
          <p:cNvPr id="7" name="Picture 6" descr="allchan_PES2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02920" y="3166437"/>
            <a:ext cx="5532120" cy="1896726"/>
          </a:xfrm>
          <a:prstGeom prst="rect">
            <a:avLst/>
          </a:prstGeom>
        </p:spPr>
      </p:pic>
      <p:pic>
        <p:nvPicPr>
          <p:cNvPr id="8" name="Picture 7" descr="allchan_PDS2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217920" y="3166437"/>
            <a:ext cx="5532120" cy="1896726"/>
          </a:xfrm>
          <a:prstGeom prst="rect">
            <a:avLst/>
          </a:prstGeom>
        </p:spPr>
      </p:pic>
      <p:sp>
        <p:nvSpPr>
          <p:cNvPr id="9" name="TextBox 8"/>
          <p:cNvSpPr txBox="1"/>
          <p:nvPr/>
        </p:nvSpPr>
        <p:spPr>
          <a:xfrm>
            <a:off x="502920" y="5257800"/>
            <a:ext cx="1124712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各通道分到的能量很不均匀（PES1 489 eV，PES2 195 eV）：事件发生的位置更靠近一侧。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11 个通道加起来：3419 eV = 10.37 keV 的 33.0%。   PDS2（右下）有一个缓慢的大起伏 —— 记住它。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现在看所有事件：一个通道给出又宽又歪的分布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PBS1，1917 个 K 线事件，每个事件一次拟合、一次积分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9</a:t>
            </a:r>
          </a:p>
        </p:txBody>
      </p:sp>
      <p:pic>
        <p:nvPicPr>
          <p:cNvPr id="5" name="Picture 4" descr="hist_PBS1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红色：来自拟合。灰色：官方窗口在原始波形上算的。峰位只差 0.2%。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峰 285 eV，宽度 15% —— 这可是一条能量固定的谱线。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往右拖的尾巴，是发生在这个通道附近的事件。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单通道的宽度是事件位置，不是噪声。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各通道求和：32 ± 1%</a:t>
            </a:r>
          </a:p>
          <a:p>
            <a:r>
              <a:rPr sz="1400" b="0" i="0">
                <a:solidFill>
                  <a:srgbClr val="666666"/>
                </a:solidFill>
                <a:latin typeface="Droid Sans Fallback"/>
              </a:rPr>
              <a:t>每个 K 线事件被 TES 吸收的总能量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10</a:t>
            </a:r>
          </a:p>
        </p:txBody>
      </p:sp>
      <p:pic>
        <p:nvPicPr>
          <p:cNvPr id="5" name="Picture 4" descr="hist_sum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12748"/>
            <a:ext cx="7863840" cy="4718304"/>
          </a:xfrm>
          <a:prstGeom prst="rect">
            <a:avLst/>
          </a:prstGeom>
        </p:spPr>
      </p:pic>
      <p:sp>
        <p:nvSpPr>
          <p:cNvPr id="6" name="TextBox 5"/>
          <p:cNvSpPr txBox="1"/>
          <p:nvPr/>
        </p:nvSpPr>
        <p:spPr>
          <a:xfrm>
            <a:off x="8549640" y="1463040"/>
            <a:ext cx="3291840" cy="45720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10 个通道求和，1827 个事件：3162 eV = 30.5%，宽度降到 7.5% —— 位置效应抵消了。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PDS2 只有 42% 的事件能拟合上（那个缓慢起伏），而且这些事件不典型；它的份额只能给一个范围。</a:t>
            </a:r>
          </a:p>
          <a:p>
            <a:pPr>
              <a:spcAft>
                <a:spcPts val="800"/>
              </a:spcAft>
            </a:pPr>
            <a:r>
              <a:rPr sz="1500" b="1" i="0">
                <a:solidFill>
                  <a:srgbClr val="C0392B"/>
                </a:solidFill>
                <a:latin typeface="Droid Sans Fallback"/>
              </a:rPr>
              <a:t>完整效率 31.5–32.9%：  32 ± 1%。</a:t>
            </a:r>
          </a:p>
          <a:p>
            <a:pPr>
              <a:spcAft>
                <a:spcPts val="800"/>
              </a:spcAft>
            </a:pPr>
            <a:r>
              <a:rPr sz="1500" b="0" i="0">
                <a:solidFill>
                  <a:srgbClr val="333333"/>
                </a:solidFill>
                <a:latin typeface="Droid Sans Fallback"/>
              </a:rPr>
              <a:t>红线：10.37 keV —— 三分之二的能量根本没到 TES。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总结，以及还没落实的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电流脉冲通过 TES 方程变成功率脉冲；功率下面的面积就是能量。二次项只有 2%。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能量来自拟合脉冲：没有最大值的噪声偏差，没有漂移，不需要积分窗口。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单通道：15% 宽、歪的（位置效应）。10 个通道求和：7.5%、对称。</a:t>
            </a:r>
          </a:p>
          <a:p>
            <a:pPr>
              <a:spcAft>
                <a:spcPts val="800"/>
              </a:spcAft>
            </a:pPr>
            <a:r>
              <a:rPr sz="1700" b="1" i="0">
                <a:solidFill>
                  <a:srgbClr val="C0392B"/>
                </a:solidFill>
                <a:latin typeface="Droid Sans Fallback"/>
              </a:rPr>
              <a:t>Z7 把一个 10.37 keV 事件的 32 ± 1% 吸收进 TES。CDMS 文档在 R37 CUTE tower 上报的是 26–41%。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还没落实：只做了 Z7 · Z7 的 HV 偏压没有确认（按 0 V 算） · 没有 dI/dV，电感项被丢掉 · PDS2 就是那 ±1% · 12.5% 的事件在任何通道都拟合不上，没进直方图。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事件谱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12</a:t>
            </a:r>
          </a:p>
        </p:txBody>
      </p:sp>
      <p:pic>
        <p:nvPicPr>
          <p:cNvPr id="5" name="Picture 4" descr="spectrum_zip7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91910" y="1143000"/>
            <a:ext cx="10269140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功率公式的三个版本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13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325880"/>
            <a:ext cx="11247120" cy="5029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P = I₀(R_L − R₀)·δI + c₂·R_L·(δI)²     c₂ = 2（method 1，本报告用的）、1（精确的小信号解）、−1（method 2）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相对精确解：method 1 高 0.58%，method 2 低 1.15% —— 远小于单通道 15% 的宽度和 PDS2 的范围。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完整方程里的电感项需要 L 和 loop gain，要从 dI/dV 来，MSI 上这些 series 没有这个数据；这一项被忽略。</a:t>
            </a:r>
          </a:p>
          <a:p>
            <a:pPr>
              <a:spcAft>
                <a:spcPts val="800"/>
              </a:spcAft>
            </a:pPr>
            <a:r>
              <a:rPr sz="1700" b="0" i="0">
                <a:solidFill>
                  <a:srgbClr val="333333"/>
                </a:solidFill>
                <a:latin typeface="Droid Sans Fallback"/>
              </a:rPr>
              <a:t>官方 Eabs（触发在第 16383 点，基线是 93..15758 点的平均，5 阶 20 kHz 预滤波，窗口 −0.5/+1 ms，同一个公式）复现到 0.2%；直方图页上的灰色轮廓就是它。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个事件，拟合电流和功率（PBS1）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14</a:t>
            </a:r>
          </a:p>
        </p:txBody>
      </p:sp>
      <p:pic>
        <p:nvPicPr>
          <p:cNvPr id="5" name="Picture 4" descr="pulse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15 个事件，累计能量（PBS1）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15</a:t>
            </a:r>
          </a:p>
        </p:txBody>
      </p:sp>
      <p:pic>
        <p:nvPicPr>
          <p:cNvPr id="5" name="Picture 4" descr="cum_15event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1354" y="1143000"/>
            <a:ext cx="6910251" cy="5257800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事件 30646，全部通道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16</a:t>
            </a:r>
          </a:p>
        </p:txBody>
      </p:sp>
      <p:pic>
        <p:nvPicPr>
          <p:cNvPr id="5" name="Picture 4" descr="allchan_pulses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758921"/>
            <a:ext cx="11247120" cy="4025957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28600"/>
            <a:ext cx="1124712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2700" b="1" i="0">
                <a:solidFill>
                  <a:srgbClr val="1F3864"/>
                </a:solidFill>
                <a:latin typeface="Droid Sans Fallback"/>
              </a:rPr>
              <a:t>Backup — 每个通道的能量分布</a:t>
            </a:r>
          </a:p>
        </p:txBody>
      </p:sp>
      <p:sp>
        <p:nvSpPr>
          <p:cNvPr id="3" name="Rectangle 2"/>
          <p:cNvSpPr/>
          <p:nvPr/>
        </p:nvSpPr>
        <p:spPr>
          <a:xfrm>
            <a:off x="502920" y="969264"/>
            <a:ext cx="11247120" cy="18000"/>
          </a:xfrm>
          <a:prstGeom prst="rect">
            <a:avLst/>
          </a:prstGeom>
          <a:solidFill>
            <a:srgbClr val="1F3864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11430000" y="6446520"/>
            <a:ext cx="548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 i="0">
                <a:solidFill>
                  <a:srgbClr val="666666"/>
                </a:solidFill>
                <a:latin typeface="Droid Sans Fallback"/>
              </a:rPr>
              <a:t>17</a:t>
            </a:r>
          </a:p>
        </p:txBody>
      </p:sp>
      <p:pic>
        <p:nvPicPr>
          <p:cNvPr id="5" name="Picture 4" descr="hist_allcha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929114" y="1143000"/>
            <a:ext cx="10394731" cy="525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