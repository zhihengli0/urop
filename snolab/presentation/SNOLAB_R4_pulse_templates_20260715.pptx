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56" r:id="rId3"/>
    <p:sldId id="257" r:id="rId5"/>
    <p:sldId id="258" r:id="rId6"/>
    <p:sldId id="259" r:id="rId7"/>
    <p:sldId id="260" r:id="rId8"/>
    <p:sldId id="261" r:id="rId9"/>
    <p:sldId id="262" r:id="rId10"/>
    <p:sldId id="263" r:id="rId11"/>
    <p:sldId id="264" r:id="rId12"/>
    <p:sldId id="265" r:id="rId13"/>
    <p:sldId id="266" r:id="rId14"/>
    <p:sldId id="267" r:id="rId15"/>
    <p:sldId id="268" r:id="rId16"/>
  </p:sldIdLst>
  <p:sldSz cx="1219136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Today I will present the phonon pulse-template work for SNOLAB Run 4: how we selected events on the Ge-activation K-line, the fit-and-align pipeline, the quality cuts and how each was derived, and the two template families we delivered for all 13 detectors.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Everything starts from the Ge activation data. After Cf activation every detector shows the 10.37 keV K-line. The ops-shift study located the K-line position in the PTOFamps spectrum of each detector - that is the red line in every panel here. Our event selection is exactly one condition: a window around the red line, a factor 1.35 both ways, and nothing else. For each selected event we cache the fully unprocessed raw MIDAS traces of all channels. You can already see on the weak detectors that the window will admit part of the noise-trigger population next to the K-line - that is intentional: the cache is raw, so every later cut stays explicit and reversible.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The per-trace algorithm, five steps. Low-pass at 100 kilohertz, baseline subtraction, peak normalization, then a two-exponential fit where all five parameters are free, including the pulse onset. The onset is never pinned: real trigger times vary, and the fitted onsets cluster about 230 samples after the nominal pretrigger - pinning it would bias the time constants. Each fit records a physicality flag and an NRMSE; no cut yet. Finally the measured trace is aligned by shifting it by the fitted onset - a pure translation. The two fan plots show the output of the fit step: every fitted curve drawn at the common onset, peak-normalized. On the left, all physical fits - you can see slow components spreading off the main bundle. On the right, after the NRMSE cut, a single tight shape family remains. Where that cut comes from is the next part of the talk.</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To judge the fits we use event-by-channel grids: each row is one event, each column one channel. A real K-line event fits well in all channels simultaneously, while a noise trigger - like the top rows here - fails everywhere at once. The per-panel NRMSE makes this quantitative. All our figures carry the processing chain stamped in the header, so each PNG is self-documenting.</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Here's what things look like after alignment - zoomed right on the peak. The blue band is thousands of measured traces stacked on top of each other; red is their average; orange is the weighted average of the fitted curves. On a quiet detector the bundle is very tight - the pulse shape really is highly consistent, so the raw material for a template is good. Now please notice one detail: in both channels there is a faint, displaced little bundle next to the main one - very clear in the left panel. And these two channels sit on opposite faces of the crystal, so this is not a quirk of one channel. Keep it in mind - we'll come back to what it is.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First quality cut. The NRMSE distribution of physical fits is bimodal on every detector: a good-fit population around 0.05 to 0.1, and a noise-trigger population around 1 to 2, separated by a valley at about 0.4. We place the cut in the valley - it is read off the distribution itself. On quiet detectors like Z7 the noise population is small; on weak detectors like Z22 it dominates, and this cut is what digs the real pulses out of the mixture.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Before trusting the cut we looked at what it throws away. These are event grids of the rejected population on Z22: the raw traces show no pulse at all - they are noise triggers whose slow two-exp fit happened to converge. The fan-cut view on the right overlays the passing fitted curves in green and the rejected ones in red on the aligned data: the green population is the fast physical pulse shape, the red one is spread out with a median NRMSE three times higher. So the cut removes noise, not physics.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Second cut. On detectors with a noisy window, a smooth slow baseline drift can sneak past the NRMSE cut, because a slow two-exponential can hug it with a tiny residual. But the real pulses have a rise time around 0.1 milliseconds with the 90th percentile at 0.15, far from the drift tail, so a ceiling at 0.3 milliseconds removes the leakage at a signal cost of a few percent. One documented trade-off: the same ceiling also trims a small population of genuine slow pulses - that decision is still open, and here is that population.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Here is that slow population on Z7. These events pass the NRMSE cut - they are well fit - but their rise time is above 0.2 milliseconds. In the raw traces they are clearly real pulses, not noise. They are exactly the faint displaced bundle we saw in the aligned overlay earlier. This is genuine pulse-shape variation, possibly a surface or bulk effect - and it is precisely what a multi-template NxM optimal filter is meant to capture, which motivates the second template family.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One more diagnostic worth showing. On Z7, channel PDS2 has a much broader fall-time distribution than every other channel. Drawing the same events across all channels shows they are perfectly normal fast pulses in the other eleven - so the long fall is a PDS2-only low-frequency disturbance, not slow physics, and it does not contaminate the shape conclusions.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First template family: the analytic one. For each channel we take every physical fitted curve at the common onset and average them with a weight of one over NRMSE squared - badly fit events count less but nothing is excluded by hand. After the cuts, shown here, a single tight shape family remains, and its weighted mean is the 1x1 template - smooth and noise-free by construction because it is built from analytic curves, delivered as peak-normalized ROOT histograms.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Second family: the NxM PCA templates, built to capture the shape variation we just saw. We run a PCA over the fitted curves that pass all cuts, in a window around the pulse. The mean shape becomes template zero, and the first four principal components become templates one to four - they oscillate and can be negative, and the optimal filter fits a real pulse as a linear combination of them. The first two components already capture 96 to 98 percent of the shape variance on every detector.</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To summarize: both template families are delivered for all 13 detectors in the official PulseTemplates format - the analytic 1x1 templates and the PCA NxM set. The whole chain is traceable from raw traces to every figure, and both quality cuts were read off the data and verified in the raw traces. Two things remain: the final call on the rise-time ceiling versus the genuine slow pulses, and running the group's template-validation method on the new templates. Thank you - happy to take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9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9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9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7.xml"/><Relationship Id="rId3" Type="http://schemas.openxmlformats.org/officeDocument/2006/relationships/notesSlide" Target="../notesSlides/notesSlide2.xml"/><Relationship Id="rId4" Type="http://schemas.openxmlformats.org/officeDocument/2006/relationships/image" Target="../media/image18.png"/><Relationship Id="rId5" Type="http://schemas.openxmlformats.org/officeDocument/2006/relationships/image" Target="../media/image19.png"/></Relationships>
</file>

<file path=ppt/slides/_rels/slide3.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7.xml"/><Relationship Id="rId3" Type="http://schemas.openxmlformats.org/officeDocument/2006/relationships/notesSlide" Target="../notesSlides/notesSlide3.xml"/><Relationship Id="rId4" Type="http://schemas.openxmlformats.org/officeDocument/2006/relationships/image" Target="../media/image14.png"/><Relationship Id="rId5" Type="http://schemas.openxmlformats.org/officeDocument/2006/relationships/image" Target="../media/image15.png"/></Relationships>
</file>

<file path=ppt/slides/_rels/slide4.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png"/><Relationship Id="rId3" Type="http://schemas.openxmlformats.org/officeDocument/2006/relationships/slideLayout" Target="../slideLayouts/slideLayout7.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7.xml"/><Relationship Id="rId4" Type="http://schemas.openxmlformats.org/officeDocument/2006/relationships/notesSlide" Target="../notesSlides/notesSlide5.xml"/><Relationship Id="rId5" Type="http://schemas.openxmlformats.org/officeDocument/2006/relationships/image" Target="../media/image20.png"/><Relationship Id="rId6" Type="http://schemas.openxmlformats.org/officeDocument/2006/relationships/image" Target="../media/image21.png"/></Relationships>
</file>

<file path=ppt/slides/_rels/slide6.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png"/><Relationship Id="rId3" Type="http://schemas.openxmlformats.org/officeDocument/2006/relationships/slideLayout" Target="../slideLayouts/slideLayout7.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0.png"/><Relationship Id="rId3" Type="http://schemas.openxmlformats.org/officeDocument/2006/relationships/slideLayout" Target="../slideLayouts/slideLayout7.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7.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7.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3.png"/><Relationship Id="rId3" Type="http://schemas.openxmlformats.org/officeDocument/2006/relationships/slideLayout" Target="../slideLayouts/slideLayout7.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image" Target="../media/image15.png"/><Relationship Id="rId3" Type="http://schemas.openxmlformats.org/officeDocument/2006/relationships/slideLayout" Target="../slideLayouts/slideLayout7.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6.png"/><Relationship Id="rId2" Type="http://schemas.openxmlformats.org/officeDocument/2006/relationships/image" Target="../media/image17.png"/><Relationship Id="rId3" Type="http://schemas.openxmlformats.org/officeDocument/2006/relationships/slideLayout" Target="../slideLayouts/slideLayout7.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822960" y="2103120"/>
            <a:ext cx="10515600" cy="1463040"/>
          </a:xfrm>
          <a:prstGeom prst="rect">
            <a:avLst/>
          </a:prstGeom>
          <a:noFill/>
        </p:spPr>
        <p:txBody>
          <a:bodyPr wrap="square">
            <a:spAutoFit/>
          </a:bodyPr>
          <a:lstStyle/>
          <a:p>
            <a:r>
              <a:rPr sz="3600" b="1">
                <a:solidFill>
                  <a:srgbClr val="1F3864"/>
                </a:solidFill>
                <a:latin typeface="Arial" panose="020B0604020202090204"/>
              </a:rPr>
              <a:t>Phonon Pulse Templates for SuperCDMS SNOLAB Run 4</a:t>
            </a:r>
            <a:endParaRPr sz="3600" b="1">
              <a:solidFill>
                <a:srgbClr val="1F3864"/>
              </a:solidFill>
              <a:latin typeface="Arial" panose="020B0604020202090204"/>
            </a:endParaRPr>
          </a:p>
        </p:txBody>
      </p:sp>
      <p:sp>
        <p:nvSpPr>
          <p:cNvPr id="3" name="TextBox 2"/>
          <p:cNvSpPr txBox="1"/>
          <p:nvPr/>
        </p:nvSpPr>
        <p:spPr>
          <a:xfrm>
            <a:off x="822960" y="3383280"/>
            <a:ext cx="10515600" cy="822960"/>
          </a:xfrm>
          <a:prstGeom prst="rect">
            <a:avLst/>
          </a:prstGeom>
          <a:noFill/>
        </p:spPr>
        <p:txBody>
          <a:bodyPr wrap="square">
            <a:spAutoFit/>
          </a:bodyPr>
          <a:lstStyle/>
          <a:p>
            <a:r>
              <a:rPr sz="1800">
                <a:solidFill>
                  <a:srgbClr val="666666"/>
                </a:solidFill>
                <a:latin typeface="Arial" panose="020B0604020202090204"/>
              </a:rPr>
              <a:t>K-line event selection  ·  free-pretrigger two-exponential fits  ·  1x1 and NxM (PCA) templates</a:t>
            </a:r>
            <a:endParaRPr sz="1800">
              <a:solidFill>
                <a:srgbClr val="666666"/>
              </a:solidFill>
              <a:latin typeface="Arial" panose="020B0604020202090204"/>
            </a:endParaRPr>
          </a:p>
        </p:txBody>
      </p:sp>
      <p:sp>
        <p:nvSpPr>
          <p:cNvPr id="4" name="TextBox 3"/>
          <p:cNvSpPr txBox="1"/>
          <p:nvPr/>
        </p:nvSpPr>
        <p:spPr>
          <a:xfrm>
            <a:off x="822960" y="5120640"/>
            <a:ext cx="10515600" cy="731520"/>
          </a:xfrm>
          <a:prstGeom prst="rect">
            <a:avLst/>
          </a:prstGeom>
          <a:noFill/>
        </p:spPr>
        <p:txBody>
          <a:bodyPr wrap="square">
            <a:spAutoFit/>
          </a:bodyPr>
          <a:lstStyle/>
          <a:p>
            <a:r>
              <a:rPr sz="1600">
                <a:solidFill>
                  <a:srgbClr val="333333"/>
                </a:solidFill>
                <a:latin typeface="Arial" panose="020B0604020202090204"/>
              </a:rPr>
              <a:t>Zhiheng Li  —  July 15, 2026</a:t>
            </a:r>
            <a:endParaRPr sz="1600">
              <a:solidFill>
                <a:srgbClr val="333333"/>
              </a:solidFill>
              <a:latin typeface="Arial" panose="020B0604020202090204"/>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panose="020B0604020202090204"/>
              </a:rPr>
              <a:t>From the Ge-activation K-line to an event sample</a:t>
            </a:r>
            <a:endParaRPr sz="2700" b="1">
              <a:solidFill>
                <a:srgbClr val="1F3864"/>
              </a:solidFill>
              <a:latin typeface="Arial" panose="020B0604020202090204"/>
            </a:endParaRPr>
          </a:p>
          <a:p>
            <a:r>
              <a:rPr sz="1400">
                <a:solidFill>
                  <a:srgbClr val="666666"/>
                </a:solidFill>
                <a:latin typeface="Arial" panose="020B0604020202090204"/>
              </a:rPr>
              <a:t>Goal: one clean, minimally-biased pulse population per detector × channel</a:t>
            </a:r>
            <a:endParaRPr sz="1400">
              <a:solidFill>
                <a:srgbClr val="666666"/>
              </a:solidFill>
              <a:latin typeface="Arial" panose="020B0604020202090204"/>
            </a:endParaRP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30505" y="1078992"/>
            <a:ext cx="11247120" cy="1325880"/>
          </a:xfrm>
          <a:prstGeom prst="rect">
            <a:avLst/>
          </a:prstGeom>
          <a:noFill/>
        </p:spPr>
        <p:txBody>
          <a:bodyPr wrap="square">
            <a:spAutoFit/>
          </a:bodyPr>
          <a:lstStyle/>
          <a:p>
            <a:pPr>
              <a:spcAft>
                <a:spcPts val="400"/>
              </a:spcAft>
            </a:pPr>
            <a:r>
              <a:rPr sz="1400">
                <a:solidFill>
                  <a:srgbClr val="333333"/>
                </a:solidFill>
                <a:latin typeface="Arial"/>
              </a:rPr>
              <a:t>• Per detector, the ops-shift study marked the 10.37 keV K-line position in PTOFamps — the red line in each panel below</a:t>
            </a:r>
            <a:endParaRPr sz="1400">
              <a:solidFill>
                <a:srgbClr val="333333"/>
              </a:solidFill>
              <a:latin typeface="Arial" panose="020B0604020202090204"/>
            </a:endParaRPr>
          </a:p>
          <a:p>
            <a:pPr>
              <a:spcAft>
                <a:spcPts val="400"/>
              </a:spcAft>
            </a:pPr>
            <a:r>
              <a:rPr sz="1400">
                <a:solidFill>
                  <a:srgbClr val="333333"/>
                </a:solidFill>
                <a:latin typeface="Arial"/>
              </a:rPr>
              <a:t>• Our event selection: a PTOFamps window bracketing the red line (position ×/÷ 1.35) — deliberately minimal, no other cuts</a:t>
            </a:r>
          </a:p>
          <a:p>
            <a:pPr>
              <a:spcAft>
                <a:spcPts val="400"/>
              </a:spcAft>
            </a:pPr>
            <a:r>
              <a:rPr sz="1400">
                <a:solidFill>
                  <a:srgbClr val="333333"/>
                </a:solidFill>
                <a:latin typeface="Arial"/>
              </a:rPr>
              <a:t>• For every selected event: cache the fully unprocessed raw MIDAS traces of all channels + event metadata</a:t>
            </a:r>
          </a:p>
          <a:p>
            <a:pPr>
              <a:spcAft>
                <a:spcPts val="400"/>
              </a:spcAft>
            </a:pPr>
            <a:r>
              <a:rPr sz="1400">
                <a:solidFill>
                  <a:srgbClr val="333333"/>
                </a:solidFill>
                <a:latin typeface="Arial"/>
              </a:rPr>
              <a:t>• 13 detectors (zips) × 27–30 series → ~120 GB raw cache; every later cut stays explicit and reversible</a:t>
            </a:r>
          </a:p>
        </p:txBody>
      </p:sp>
      <p:sp>
        <p:nvSpPr>
          <p:cNvPr id="6" name="TextBox 5"/>
          <p:cNvSpPr txBox="1"/>
          <p:nvPr/>
        </p:nvSpPr>
        <p:spPr>
          <a:xfrm>
            <a:off x="384048" y="6504807"/>
            <a:ext cx="11430000" cy="320040"/>
          </a:xfrm>
          <a:prstGeom prst="rect">
            <a:avLst/>
          </a:prstGeom>
          <a:noFill/>
        </p:spPr>
        <p:txBody>
          <a:bodyPr wrap="square">
            <a:spAutoFit/>
          </a:bodyPr>
          <a:lstStyle/>
          <a:p>
            <a:pPr algn="ctr"/>
            <a:r>
              <a:rPr sz="1200" i="1">
                <a:solidFill>
                  <a:srgbClr val="666666"/>
                </a:solidFill>
                <a:latin typeface="Arial"/>
              </a:rPr>
              <a:t>All 13 detectors, PTOFamps spectra (ops-shift study): red line = fitted mean of the 10.37 keV K-line. Selection window per detector = red-line position ×/÷ 1.35.</a:t>
            </a:r>
          </a:p>
        </p:txBody>
      </p:sp>
      <p:pic>
        <p:nvPicPr>
          <p:cNvPr id="7" name="Picture 6" descr="kline_all_zips.png"/>
          <p:cNvPicPr>
            <a:picLocks noChangeAspect="1"/>
          </p:cNvPicPr>
          <p:nvPr/>
        </p:nvPicPr>
        <p:blipFill>
          <a:blip r:embed="rId5"/>
          <a:stretch>
            <a:fillRect/>
          </a:stretch>
        </p:blipFill>
        <p:spPr>
          <a:xfrm>
            <a:off x="1059892" y="2487168"/>
            <a:ext cx="10078312" cy="397763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panose="020B0604020202090204"/>
              </a:rPr>
              <a:t>Per-trace algorithm: low-pass → free-pretrigger fit → align</a:t>
            </a:r>
            <a:endParaRPr sz="2700" b="1">
              <a:solidFill>
                <a:srgbClr val="1F3864"/>
              </a:solidFill>
              <a:latin typeface="Arial" panose="020B0604020202090204"/>
            </a:endParaRP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247120" cy="2834640"/>
          </a:xfrm>
          <a:prstGeom prst="rect">
            <a:avLst/>
          </a:prstGeom>
          <a:noFill/>
        </p:spPr>
        <p:txBody>
          <a:bodyPr wrap="square">
            <a:spAutoFit/>
          </a:bodyPr>
          <a:lstStyle/>
          <a:p>
            <a:pPr>
              <a:spcAft>
                <a:spcPts val="500"/>
              </a:spcAft>
            </a:pPr>
            <a:r>
              <a:rPr sz="1500">
                <a:solidFill>
                  <a:srgbClr val="333333"/>
                </a:solidFill>
                <a:latin typeface="Arial" panose="020B0604020202090204"/>
              </a:rPr>
              <a:t>• 1.  100 kHz 4th-order Butterworth low-pass (steady-state init — no filter start-up transient)</a:t>
            </a:r>
            <a:endParaRPr sz="1500">
              <a:solidFill>
                <a:srgbClr val="333333"/>
              </a:solidFill>
              <a:latin typeface="Arial" panose="020B0604020202090204"/>
            </a:endParaRPr>
          </a:p>
          <a:p>
            <a:pPr>
              <a:spcAft>
                <a:spcPts val="500"/>
              </a:spcAft>
            </a:pPr>
            <a:r>
              <a:rPr sz="1500">
                <a:solidFill>
                  <a:srgbClr val="333333"/>
                </a:solidFill>
                <a:latin typeface="Arial" panose="020B0604020202090204"/>
              </a:rPr>
              <a:t>• 2.  Baseline = median of samples 2000–12000, subtracted; normalize by the global trace peak</a:t>
            </a:r>
            <a:endParaRPr sz="1500">
              <a:solidFill>
                <a:srgbClr val="333333"/>
              </a:solidFill>
              <a:latin typeface="Arial" panose="020B0604020202090204"/>
            </a:endParaRPr>
          </a:p>
          <a:p>
            <a:pPr>
              <a:spcAft>
                <a:spcPts val="500"/>
              </a:spcAft>
            </a:pPr>
            <a:r>
              <a:rPr sz="1500">
                <a:solidFill>
                  <a:srgbClr val="333333"/>
                </a:solidFill>
                <a:latin typeface="Arial" panose="020B0604020202090204"/>
              </a:rPr>
              <a:t>• 3.  Two-exponential fit — all 5 parameters free, including the onset:</a:t>
            </a:r>
            <a:endParaRPr sz="1500">
              <a:solidFill>
                <a:srgbClr val="333333"/>
              </a:solidFill>
              <a:latin typeface="Arial" panose="020B0604020202090204"/>
            </a:endParaRPr>
          </a:p>
          <a:p>
            <a:pPr lvl="1">
              <a:spcAft>
                <a:spcPts val="500"/>
              </a:spcAft>
            </a:pPr>
            <a:r>
              <a:rPr sz="1300">
                <a:solidFill>
                  <a:srgbClr val="666666"/>
                </a:solidFill>
                <a:latin typeface="Arial" panose="020B0604020202090204"/>
              </a:rPr>
              <a:t>– y(t) = A·[exp(−(t−t₀)/τ_fall) − exp(−(t−t₀)/τ_rise)] + b,   t₀ ∈ 16050 ± 3000 samples</a:t>
            </a:r>
            <a:endParaRPr sz="1300">
              <a:solidFill>
                <a:srgbClr val="666666"/>
              </a:solidFill>
              <a:latin typeface="Arial" panose="020B0604020202090204"/>
            </a:endParaRPr>
          </a:p>
          <a:p>
            <a:pPr lvl="1">
              <a:spcAft>
                <a:spcPts val="500"/>
              </a:spcAft>
            </a:pPr>
            <a:r>
              <a:rPr sz="1300">
                <a:solidFill>
                  <a:srgbClr val="666666"/>
                </a:solidFill>
                <a:latin typeface="Arial" panose="020B0604020202090204"/>
              </a:rPr>
              <a:t>– fit window 12550–24050 (stride 4);  τ_rise ∈ [1 µs, 5 ms],  τ_fall ∈ [10 µs, 20 ms]</a:t>
            </a:r>
            <a:endParaRPr sz="1300">
              <a:solidFill>
                <a:srgbClr val="666666"/>
              </a:solidFill>
              <a:latin typeface="Arial" panose="020B0604020202090204"/>
            </a:endParaRPr>
          </a:p>
          <a:p>
            <a:pPr>
              <a:spcAft>
                <a:spcPts val="500"/>
              </a:spcAft>
            </a:pPr>
            <a:r>
              <a:rPr sz="1500">
                <a:solidFill>
                  <a:srgbClr val="333333"/>
                </a:solidFill>
                <a:latin typeface="Arial" panose="020B0604020202090204"/>
              </a:rPr>
              <a:t>• 4.  Quality numbers — fit_ok := A&gt;0 and 0&lt;τ_rise&lt;τ_fall;  NRMSE := RMS(residual)/fit peak (recorded, no cut yet)</a:t>
            </a:r>
            <a:endParaRPr sz="1500">
              <a:solidFill>
                <a:srgbClr val="333333"/>
              </a:solidFill>
              <a:latin typeface="Arial" panose="020B0604020202090204"/>
            </a:endParaRPr>
          </a:p>
          <a:p>
            <a:pPr>
              <a:spcAft>
                <a:spcPts val="500"/>
              </a:spcAft>
            </a:pPr>
            <a:r>
              <a:rPr sz="1500">
                <a:solidFill>
                  <a:srgbClr val="333333"/>
                </a:solidFill>
                <a:latin typeface="Arial" panose="020B0604020202090204"/>
              </a:rPr>
              <a:t>• 5.  Align — shift the measured trace by (fitted onset − 16050), sub-sample interpolation: a pure translation</a:t>
            </a:r>
            <a:endParaRPr sz="1500">
              <a:solidFill>
                <a:srgbClr val="333333"/>
              </a:solidFill>
              <a:latin typeface="Arial" panose="020B0604020202090204"/>
            </a:endParaRPr>
          </a:p>
        </p:txBody>
      </p:sp>
      <p:sp>
        <p:nvSpPr>
          <p:cNvPr id="5" name="TextBox 4"/>
          <p:cNvSpPr txBox="1"/>
          <p:nvPr/>
        </p:nvSpPr>
        <p:spPr>
          <a:xfrm>
            <a:off x="502920" y="4005072"/>
            <a:ext cx="11247120" cy="685800"/>
          </a:xfrm>
          <a:prstGeom prst="rect">
            <a:avLst/>
          </a:prstGeom>
          <a:noFill/>
        </p:spPr>
        <p:txBody>
          <a:bodyPr wrap="square">
            <a:spAutoFit/>
          </a:bodyPr>
          <a:lstStyle/>
          <a:p>
            <a:pPr>
              <a:spcAft>
                <a:spcPts val="500"/>
              </a:spcAft>
            </a:pPr>
            <a:r>
              <a:rPr sz="1400">
                <a:solidFill>
                  <a:srgbClr val="C0504D"/>
                </a:solidFill>
                <a:latin typeface="Arial" panose="020B0604020202090204"/>
              </a:rPr>
              <a:t>• Why a free onset?  Real trigger times vary event-by-event — fitted onsets cluster ≈230 samples after the nominal 16050. Pinning the onset distorts every other parameter.</a:t>
            </a:r>
            <a:endParaRPr sz="1400">
              <a:solidFill>
                <a:srgbClr val="C0504D"/>
              </a:solidFill>
              <a:latin typeface="Arial" panose="020B0604020202090204"/>
            </a:endParaRPr>
          </a:p>
        </p:txBody>
      </p:sp>
      <p:sp>
        <p:nvSpPr>
          <p:cNvPr id="7" name="TextBox 6"/>
          <p:cNvSpPr txBox="1"/>
          <p:nvPr/>
        </p:nvSpPr>
        <p:spPr>
          <a:xfrm>
            <a:off x="5852160" y="5665803"/>
            <a:ext cx="5852160" cy="274320"/>
          </a:xfrm>
          <a:prstGeom prst="rect">
            <a:avLst/>
          </a:prstGeom>
          <a:noFill/>
        </p:spPr>
        <p:txBody>
          <a:bodyPr wrap="square">
            <a:spAutoFit/>
          </a:bodyPr>
          <a:lstStyle/>
          <a:p>
            <a:pPr algn="ctr"/>
            <a:r>
              <a:rPr sz="1100" i="1">
                <a:solidFill>
                  <a:srgbClr val="666666"/>
                </a:solidFill>
                <a:latin typeface="Arial" panose="020B0604020202090204"/>
              </a:rPr>
              <a:t>Z7 PAS1: fitted onset distribution — offset from nominal, narrow core</a:t>
            </a:r>
            <a:endParaRPr sz="1100" i="1">
              <a:solidFill>
                <a:srgbClr val="666666"/>
              </a:solidFill>
              <a:latin typeface="Arial" panose="020B0604020202090204"/>
            </a:endParaRPr>
          </a:p>
        </p:txBody>
      </p:sp>
      <p:pic>
        <p:nvPicPr>
          <p:cNvPr id="8" name="Picture 7" descr="image.png"/>
          <p:cNvPicPr>
            <a:picLocks noChangeAspect="1"/>
          </p:cNvPicPr>
          <p:nvPr/>
        </p:nvPicPr>
        <p:blipFill>
          <a:blip r:embed="rId4"/>
          <a:stretch>
            <a:fillRect/>
          </a:stretch>
        </p:blipFill>
        <p:spPr>
          <a:xfrm>
            <a:off x="594677" y="4800600"/>
            <a:ext cx="5302885" cy="1600200"/>
          </a:xfrm>
          <a:prstGeom prst="rect">
            <a:avLst/>
          </a:prstGeom>
        </p:spPr>
      </p:pic>
      <p:sp>
        <p:nvSpPr>
          <p:cNvPr id="9" name="TextBox 8"/>
          <p:cNvSpPr txBox="1"/>
          <p:nvPr/>
        </p:nvSpPr>
        <p:spPr>
          <a:xfrm>
            <a:off x="502920" y="6430800"/>
            <a:ext cx="5486400" cy="292608"/>
          </a:xfrm>
          <a:prstGeom prst="rect">
            <a:avLst/>
          </a:prstGeom>
          <a:noFill/>
        </p:spPr>
        <p:txBody>
          <a:bodyPr wrap="square">
            <a:spAutoFit/>
          </a:bodyPr>
          <a:lstStyle/>
          <a:p>
            <a:pPr algn="ctr"/>
            <a:r>
              <a:rPr sz="1100" i="1">
                <a:solidFill>
                  <a:srgbClr val="666666"/>
                </a:solidFill>
                <a:latin typeface="Arial"/>
              </a:rPr>
              <a:t>Fitted curves at common onset, peak-normalized — ALL fit_ok events (no cut)</a:t>
            </a:r>
          </a:p>
        </p:txBody>
      </p:sp>
      <p:pic>
        <p:nvPicPr>
          <p:cNvPr id="10" name="Picture 9" descr="image.png"/>
          <p:cNvPicPr>
            <a:picLocks noChangeAspect="1"/>
          </p:cNvPicPr>
          <p:nvPr/>
        </p:nvPicPr>
        <p:blipFill>
          <a:blip r:embed="rId5"/>
          <a:stretch>
            <a:fillRect/>
          </a:stretch>
        </p:blipFill>
        <p:spPr>
          <a:xfrm>
            <a:off x="6355397" y="4800600"/>
            <a:ext cx="5302885" cy="1600200"/>
          </a:xfrm>
          <a:prstGeom prst="rect">
            <a:avLst/>
          </a:prstGeom>
        </p:spPr>
      </p:pic>
      <p:sp>
        <p:nvSpPr>
          <p:cNvPr id="11" name="TextBox 10"/>
          <p:cNvSpPr txBox="1"/>
          <p:nvPr/>
        </p:nvSpPr>
        <p:spPr>
          <a:xfrm>
            <a:off x="6263640" y="6430800"/>
            <a:ext cx="5486400" cy="292608"/>
          </a:xfrm>
          <a:prstGeom prst="rect">
            <a:avLst/>
          </a:prstGeom>
          <a:noFill/>
        </p:spPr>
        <p:txBody>
          <a:bodyPr wrap="square">
            <a:spAutoFit/>
          </a:bodyPr>
          <a:lstStyle/>
          <a:p>
            <a:pPr algn="ctr"/>
            <a:r>
              <a:rPr sz="1100" i="1">
                <a:solidFill>
                  <a:srgbClr val="666666"/>
                </a:solidFill>
                <a:latin typeface="Arial"/>
              </a:rPr>
              <a:t>Same, after NRMSE ≤ 0.4 — a single tight shape family remains (Z7 PBS1)</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panose="020B0604020202090204"/>
              </a:rPr>
              <a:t>Fit quality at a glance — event × channel grids</a:t>
            </a:r>
            <a:endParaRPr sz="2700" b="1">
              <a:solidFill>
                <a:srgbClr val="1F3864"/>
              </a:solidFill>
              <a:latin typeface="Arial" panose="020B0604020202090204"/>
            </a:endParaRP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188720"/>
          </a:xfrm>
          <a:prstGeom prst="rect">
            <a:avLst/>
          </a:prstGeom>
          <a:noFill/>
        </p:spPr>
        <p:txBody>
          <a:bodyPr wrap="square">
            <a:spAutoFit/>
          </a:bodyPr>
          <a:lstStyle/>
          <a:p>
            <a:pPr>
              <a:spcAft>
                <a:spcPts val="500"/>
              </a:spcAft>
            </a:pPr>
            <a:r>
              <a:rPr sz="1400">
                <a:solidFill>
                  <a:srgbClr val="333333"/>
                </a:solidFill>
                <a:latin typeface="Arial" panose="020B0604020202090204"/>
              </a:rPr>
              <a:t>• One row per event, one column per channel: low-passed trace (blue) vs 2-exp fit (red), NRMSE stamped per panel</a:t>
            </a:r>
            <a:endParaRPr sz="1400">
              <a:solidFill>
                <a:srgbClr val="333333"/>
              </a:solidFill>
              <a:latin typeface="Arial" panose="020B0604020202090204"/>
            </a:endParaRPr>
          </a:p>
          <a:p>
            <a:pPr>
              <a:spcAft>
                <a:spcPts val="500"/>
              </a:spcAft>
            </a:pPr>
            <a:r>
              <a:rPr sz="1400">
                <a:solidFill>
                  <a:srgbClr val="333333"/>
                </a:solidFill>
                <a:latin typeface="Arial" panose="020B0604020202090204"/>
              </a:rPr>
              <a:t>• The same event fits consistently across channels; a noise trigger fails in all channels at once</a:t>
            </a:r>
            <a:endParaRPr sz="1400">
              <a:solidFill>
                <a:srgbClr val="333333"/>
              </a:solidFill>
              <a:latin typeface="Arial" panose="020B0604020202090204"/>
            </a:endParaRPr>
          </a:p>
          <a:p>
            <a:pPr>
              <a:spcAft>
                <a:spcPts val="500"/>
              </a:spcAft>
            </a:pPr>
            <a:r>
              <a:rPr sz="1400">
                <a:solidFill>
                  <a:srgbClr val="333333"/>
                </a:solidFill>
                <a:latin typeface="Arial" panose="020B0604020202090204"/>
              </a:rPr>
              <a:t>• Every figure carries its full processing chain in the header → self-documenting</a:t>
            </a:r>
            <a:endParaRPr sz="1400">
              <a:solidFill>
                <a:srgbClr val="333333"/>
              </a:solidFill>
              <a:latin typeface="Arial" panose="020B0604020202090204"/>
            </a:endParaRPr>
          </a:p>
        </p:txBody>
      </p:sp>
      <p:pic>
        <p:nvPicPr>
          <p:cNvPr id="5" name="Picture 4" descr="fit_examples_zip7_noise.png"/>
          <p:cNvPicPr>
            <a:picLocks noChangeAspect="1"/>
          </p:cNvPicPr>
          <p:nvPr/>
        </p:nvPicPr>
        <p:blipFill>
          <a:blip r:embed="rId1"/>
          <a:stretch>
            <a:fillRect/>
          </a:stretch>
        </p:blipFill>
        <p:spPr>
          <a:xfrm>
            <a:off x="502920" y="2377440"/>
            <a:ext cx="5486400" cy="2547707"/>
          </a:xfrm>
          <a:prstGeom prst="rect">
            <a:avLst/>
          </a:prstGeom>
        </p:spPr>
      </p:pic>
      <p:sp>
        <p:nvSpPr>
          <p:cNvPr id="6" name="TextBox 5"/>
          <p:cNvSpPr txBox="1"/>
          <p:nvPr/>
        </p:nvSpPr>
        <p:spPr>
          <a:xfrm>
            <a:off x="502920" y="4955147"/>
            <a:ext cx="5486400" cy="274320"/>
          </a:xfrm>
          <a:prstGeom prst="rect">
            <a:avLst/>
          </a:prstGeom>
          <a:noFill/>
        </p:spPr>
        <p:txBody>
          <a:bodyPr wrap="square">
            <a:spAutoFit/>
          </a:bodyPr>
          <a:lstStyle/>
          <a:p>
            <a:pPr algn="ctr"/>
            <a:r>
              <a:rPr sz="1100" i="1">
                <a:solidFill>
                  <a:srgbClr val="666666"/>
                </a:solidFill>
                <a:latin typeface="Arial" panose="020B0604020202090204"/>
              </a:rPr>
              <a:t>Noise triggers: the fit fails in every channel at once</a:t>
            </a:r>
            <a:endParaRPr sz="1100" i="1">
              <a:solidFill>
                <a:srgbClr val="666666"/>
              </a:solidFill>
              <a:latin typeface="Arial" panose="020B0604020202090204"/>
            </a:endParaRPr>
          </a:p>
        </p:txBody>
      </p:sp>
      <p:pic>
        <p:nvPicPr>
          <p:cNvPr id="7" name="Picture 6" descr="fit_examples_zip7_good.png"/>
          <p:cNvPicPr>
            <a:picLocks noChangeAspect="1"/>
          </p:cNvPicPr>
          <p:nvPr/>
        </p:nvPicPr>
        <p:blipFill>
          <a:blip r:embed="rId2"/>
          <a:stretch>
            <a:fillRect/>
          </a:stretch>
        </p:blipFill>
        <p:spPr>
          <a:xfrm>
            <a:off x="6263640" y="2377440"/>
            <a:ext cx="5486400" cy="2453114"/>
          </a:xfrm>
          <a:prstGeom prst="rect">
            <a:avLst/>
          </a:prstGeom>
        </p:spPr>
      </p:pic>
      <p:sp>
        <p:nvSpPr>
          <p:cNvPr id="8" name="TextBox 7"/>
          <p:cNvSpPr txBox="1"/>
          <p:nvPr/>
        </p:nvSpPr>
        <p:spPr>
          <a:xfrm>
            <a:off x="6263640" y="4860554"/>
            <a:ext cx="5486400" cy="274320"/>
          </a:xfrm>
          <a:prstGeom prst="rect">
            <a:avLst/>
          </a:prstGeom>
          <a:noFill/>
        </p:spPr>
        <p:txBody>
          <a:bodyPr wrap="square">
            <a:spAutoFit/>
          </a:bodyPr>
          <a:lstStyle/>
          <a:p>
            <a:pPr algn="ctr"/>
            <a:r>
              <a:rPr sz="1100" i="1">
                <a:solidFill>
                  <a:srgbClr val="666666"/>
                </a:solidFill>
                <a:latin typeface="Arial" panose="020B0604020202090204"/>
              </a:rPr>
              <a:t>K-line events: consistent good fits across channels</a:t>
            </a:r>
            <a:endParaRPr sz="1100" i="1">
              <a:solidFill>
                <a:srgbClr val="666666"/>
              </a:solidFill>
              <a:latin typeface="Arial" panose="020B0604020202090204"/>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panose="020B0604020202090204"/>
              </a:rPr>
              <a:t>Alignment result — overlaid measured traces</a:t>
            </a:r>
            <a:endParaRPr sz="2700" b="1">
              <a:solidFill>
                <a:srgbClr val="1F3864"/>
              </a:solidFill>
              <a:latin typeface="Arial" panose="020B0604020202090204"/>
            </a:endParaRP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051560"/>
          </a:xfrm>
          <a:prstGeom prst="rect">
            <a:avLst/>
          </a:prstGeom>
          <a:noFill/>
        </p:spPr>
        <p:txBody>
          <a:bodyPr wrap="square">
            <a:spAutoFit/>
          </a:bodyPr>
          <a:lstStyle/>
          <a:p>
            <a:pPr>
              <a:spcAft>
                <a:spcPts val="400"/>
              </a:spcAft>
            </a:pPr>
            <a:r>
              <a:rPr sz="1400">
                <a:solidFill>
                  <a:srgbClr val="333333"/>
                </a:solidFill>
                <a:latin typeface="Arial"/>
              </a:rPr>
              <a:t>• All fit_ok traces shifted to the common onset (blue) + point-by-point mean (red) + NRMSE-weighted mean of the fitted curves (orange, w = 1/max(NRMSE, 0.01)²)</a:t>
            </a:r>
            <a:endParaRPr sz="1400">
              <a:solidFill>
                <a:srgbClr val="333333"/>
              </a:solidFill>
              <a:latin typeface="Arial" panose="020B0604020202090204"/>
            </a:endParaRPr>
          </a:p>
          <a:p>
            <a:pPr>
              <a:spcAft>
                <a:spcPts val="400"/>
              </a:spcAft>
            </a:pPr>
            <a:r>
              <a:rPr sz="1400">
                <a:solidFill>
                  <a:srgbClr val="333333"/>
                </a:solidFill>
                <a:latin typeface="Arial"/>
              </a:rPr>
              <a:t>• Peak zoom on a quiet detector: a tight bundle — the template input is well defined. Note the faint displaced bundle beside the main one, visible on both crystal faces (S1 and S2) — more on it later</a:t>
            </a:r>
          </a:p>
        </p:txBody>
      </p:sp>
      <p:pic>
        <p:nvPicPr>
          <p:cNvPr id="5" name="Picture 4" descr="aligned_zoom_zip7_PCS1.png"/>
          <p:cNvPicPr>
            <a:picLocks noChangeAspect="1"/>
          </p:cNvPicPr>
          <p:nvPr/>
        </p:nvPicPr>
        <p:blipFill>
          <a:blip r:embed="rId5"/>
          <a:stretch>
            <a:fillRect/>
          </a:stretch>
        </p:blipFill>
        <p:spPr>
          <a:xfrm>
            <a:off x="320040" y="2834640"/>
            <a:ext cx="5623560" cy="2705090"/>
          </a:xfrm>
          <a:prstGeom prst="rect">
            <a:avLst/>
          </a:prstGeom>
        </p:spPr>
      </p:pic>
      <p:sp>
        <p:nvSpPr>
          <p:cNvPr id="6" name="TextBox 5"/>
          <p:cNvSpPr txBox="1"/>
          <p:nvPr/>
        </p:nvSpPr>
        <p:spPr>
          <a:xfrm>
            <a:off x="320040" y="5569730"/>
            <a:ext cx="5623560" cy="274320"/>
          </a:xfrm>
          <a:prstGeom prst="rect">
            <a:avLst/>
          </a:prstGeom>
          <a:noFill/>
        </p:spPr>
        <p:txBody>
          <a:bodyPr wrap="square">
            <a:spAutoFit/>
          </a:bodyPr>
          <a:lstStyle/>
          <a:p>
            <a:pPr algn="ctr"/>
            <a:r>
              <a:rPr sz="1200" i="1">
                <a:solidFill>
                  <a:srgbClr val="666666"/>
                </a:solidFill>
                <a:latin typeface="Arial"/>
              </a:rPr>
              <a:t>Z7 PCS1 (S1 face) — peak zoom; the faint displaced bundle is clearly visible</a:t>
            </a:r>
          </a:p>
        </p:txBody>
      </p:sp>
      <p:pic>
        <p:nvPicPr>
          <p:cNvPr id="7" name="Picture 6" descr="aligned_zoom_zip7_PBS2.png"/>
          <p:cNvPicPr>
            <a:picLocks noChangeAspect="1"/>
          </p:cNvPicPr>
          <p:nvPr/>
        </p:nvPicPr>
        <p:blipFill>
          <a:blip r:embed="rId6"/>
          <a:stretch>
            <a:fillRect/>
          </a:stretch>
        </p:blipFill>
        <p:spPr>
          <a:xfrm>
            <a:off x="6263640" y="2834640"/>
            <a:ext cx="5623560" cy="2705090"/>
          </a:xfrm>
          <a:prstGeom prst="rect">
            <a:avLst/>
          </a:prstGeom>
        </p:spPr>
      </p:pic>
      <p:sp>
        <p:nvSpPr>
          <p:cNvPr id="8" name="TextBox 7"/>
          <p:cNvSpPr txBox="1"/>
          <p:nvPr/>
        </p:nvSpPr>
        <p:spPr>
          <a:xfrm>
            <a:off x="6263640" y="5569730"/>
            <a:ext cx="5623560" cy="274320"/>
          </a:xfrm>
          <a:prstGeom prst="rect">
            <a:avLst/>
          </a:prstGeom>
          <a:noFill/>
        </p:spPr>
        <p:txBody>
          <a:bodyPr wrap="square">
            <a:spAutoFit/>
          </a:bodyPr>
          <a:lstStyle/>
          <a:p>
            <a:pPr algn="ctr"/>
            <a:r>
              <a:rPr sz="1200" i="1">
                <a:solidFill>
                  <a:srgbClr val="666666"/>
                </a:solidFill>
                <a:latin typeface="Arial"/>
              </a:rPr>
              <a:t>Z7 PBS2 (S2 face) — same faint displaced bundle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panose="020B0604020202090204"/>
              </a:rPr>
              <a:t>Quality cut 1: NRMSE ≤ 0.4 — where the number comes from</a:t>
            </a:r>
            <a:endParaRPr sz="2700" b="1">
              <a:solidFill>
                <a:srgbClr val="1F3864"/>
              </a:solidFill>
              <a:latin typeface="Arial" panose="020B0604020202090204"/>
            </a:endParaRP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panose="020B0604020202090204"/>
              </a:rPr>
              <a:t>• NRMSE of fit_ok events is bimodal: good fits (median ≈ 0.05–0.1) vs noise triggers (≈ 1–2), valley at ≈ 0.4–0.5</a:t>
            </a:r>
            <a:endParaRPr sz="1400">
              <a:solidFill>
                <a:srgbClr val="333333"/>
              </a:solidFill>
              <a:latin typeface="Arial" panose="020B0604020202090204"/>
            </a:endParaRPr>
          </a:p>
          <a:p>
            <a:pPr>
              <a:spcAft>
                <a:spcPts val="500"/>
              </a:spcAft>
            </a:pPr>
            <a:r>
              <a:rPr sz="1400">
                <a:solidFill>
                  <a:srgbClr val="333333"/>
                </a:solidFill>
                <a:latin typeface="Arial" panose="020B0604020202090204"/>
              </a:rPr>
              <a:t>• The cut sits in the valley — it is read off the distribution, not tuned on the templates</a:t>
            </a:r>
            <a:endParaRPr sz="1400">
              <a:solidFill>
                <a:srgbClr val="333333"/>
              </a:solidFill>
              <a:latin typeface="Arial" panose="020B0604020202090204"/>
            </a:endParaRPr>
          </a:p>
          <a:p>
            <a:pPr>
              <a:spcAft>
                <a:spcPts val="500"/>
              </a:spcAft>
            </a:pPr>
            <a:r>
              <a:rPr sz="1400">
                <a:solidFill>
                  <a:srgbClr val="333333"/>
                </a:solidFill>
                <a:latin typeface="Arial" panose="020B0604020202090204"/>
              </a:rPr>
              <a:t>• Weak detectors (Z1, Z4, Z6, Z18, Z19, Z22, Z24): the PTOF window admits a noise-dominated mixture — this cut is what extracts the real-pulse population</a:t>
            </a:r>
            <a:endParaRPr sz="1400">
              <a:solidFill>
                <a:srgbClr val="333333"/>
              </a:solidFill>
              <a:latin typeface="Arial" panose="020B0604020202090204"/>
            </a:endParaRPr>
          </a:p>
        </p:txBody>
      </p:sp>
      <p:pic>
        <p:nvPicPr>
          <p:cNvPr id="5" name="Picture 4" descr="nrmse_zip7_PBS1.png"/>
          <p:cNvPicPr>
            <a:picLocks noChangeAspect="1"/>
          </p:cNvPicPr>
          <p:nvPr/>
        </p:nvPicPr>
        <p:blipFill>
          <a:blip r:embed="rId1"/>
          <a:stretch>
            <a:fillRect/>
          </a:stretch>
        </p:blipFill>
        <p:spPr>
          <a:xfrm>
            <a:off x="1970576" y="2651760"/>
            <a:ext cx="8220367" cy="1874519"/>
          </a:xfrm>
          <a:prstGeom prst="rect">
            <a:avLst/>
          </a:prstGeom>
        </p:spPr>
      </p:pic>
      <p:sp>
        <p:nvSpPr>
          <p:cNvPr id="6" name="TextBox 5"/>
          <p:cNvSpPr txBox="1"/>
          <p:nvPr/>
        </p:nvSpPr>
        <p:spPr>
          <a:xfrm>
            <a:off x="1737360" y="4556279"/>
            <a:ext cx="8686800" cy="274320"/>
          </a:xfrm>
          <a:prstGeom prst="rect">
            <a:avLst/>
          </a:prstGeom>
          <a:noFill/>
        </p:spPr>
        <p:txBody>
          <a:bodyPr wrap="square">
            <a:spAutoFit/>
          </a:bodyPr>
          <a:lstStyle/>
          <a:p>
            <a:pPr algn="ctr"/>
            <a:r>
              <a:rPr sz="1100" i="1">
                <a:solidFill>
                  <a:srgbClr val="666666"/>
                </a:solidFill>
                <a:latin typeface="Arial" panose="020B0604020202090204"/>
              </a:rPr>
              <a:t>Z7 PBS1 (quiet): two clean populations, log-log axes</a:t>
            </a:r>
            <a:endParaRPr sz="1100" i="1">
              <a:solidFill>
                <a:srgbClr val="666666"/>
              </a:solidFill>
              <a:latin typeface="Arial" panose="020B0604020202090204"/>
            </a:endParaRPr>
          </a:p>
        </p:txBody>
      </p:sp>
      <p:pic>
        <p:nvPicPr>
          <p:cNvPr id="7" name="Picture 6" descr="nrmse_zip22_PAS1.png"/>
          <p:cNvPicPr>
            <a:picLocks noChangeAspect="1"/>
          </p:cNvPicPr>
          <p:nvPr/>
        </p:nvPicPr>
        <p:blipFill>
          <a:blip r:embed="rId2"/>
          <a:stretch>
            <a:fillRect/>
          </a:stretch>
        </p:blipFill>
        <p:spPr>
          <a:xfrm>
            <a:off x="1989344" y="4754880"/>
            <a:ext cx="8182831" cy="1874519"/>
          </a:xfrm>
          <a:prstGeom prst="rect">
            <a:avLst/>
          </a:prstGeom>
        </p:spPr>
      </p:pic>
      <p:sp>
        <p:nvSpPr>
          <p:cNvPr id="8" name="TextBox 7"/>
          <p:cNvSpPr txBox="1"/>
          <p:nvPr/>
        </p:nvSpPr>
        <p:spPr>
          <a:xfrm>
            <a:off x="1737360" y="6659399"/>
            <a:ext cx="8686800" cy="274320"/>
          </a:xfrm>
          <a:prstGeom prst="rect">
            <a:avLst/>
          </a:prstGeom>
          <a:noFill/>
        </p:spPr>
        <p:txBody>
          <a:bodyPr wrap="square">
            <a:spAutoFit/>
          </a:bodyPr>
          <a:lstStyle/>
          <a:p>
            <a:pPr algn="ctr"/>
            <a:r>
              <a:rPr sz="1100" i="1">
                <a:solidFill>
                  <a:srgbClr val="666666"/>
                </a:solidFill>
                <a:latin typeface="Arial" panose="020B0604020202090204"/>
              </a:rPr>
              <a:t>Z22 PAS1 (weak): noise population dominates — the window alone is not enough</a:t>
            </a:r>
            <a:endParaRPr sz="1100" i="1">
              <a:solidFill>
                <a:srgbClr val="666666"/>
              </a:solidFill>
              <a:latin typeface="Arial" panose="020B060402020209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panose="020B0604020202090204"/>
              </a:rPr>
              <a:t>The rejected population is noise — verified in the raw traces</a:t>
            </a:r>
            <a:endParaRPr sz="2700" b="1">
              <a:solidFill>
                <a:srgbClr val="1F3864"/>
              </a:solidFill>
              <a:latin typeface="Arial" panose="020B0604020202090204"/>
            </a:endParaRP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234440"/>
          </a:xfrm>
          <a:prstGeom prst="rect">
            <a:avLst/>
          </a:prstGeom>
          <a:noFill/>
        </p:spPr>
        <p:txBody>
          <a:bodyPr wrap="square">
            <a:spAutoFit/>
          </a:bodyPr>
          <a:lstStyle/>
          <a:p>
            <a:pPr>
              <a:spcAft>
                <a:spcPts val="500"/>
              </a:spcAft>
            </a:pPr>
            <a:r>
              <a:rPr sz="1400">
                <a:solidFill>
                  <a:srgbClr val="333333"/>
                </a:solidFill>
                <a:latin typeface="Arial" panose="020B0604020202090204"/>
              </a:rPr>
              <a:t>• Event grids of NRMSE-rejected events (median NRMSE &gt; 0.4 across channels): the raw traces show no pulse — the cut removes noise triggers, not physics</a:t>
            </a:r>
            <a:endParaRPr sz="1400">
              <a:solidFill>
                <a:srgbClr val="333333"/>
              </a:solidFill>
              <a:latin typeface="Arial" panose="020B0604020202090204"/>
            </a:endParaRPr>
          </a:p>
          <a:p>
            <a:pPr>
              <a:spcAft>
                <a:spcPts val="500"/>
              </a:spcAft>
            </a:pPr>
            <a:r>
              <a:rPr sz="1400">
                <a:solidFill>
                  <a:srgbClr val="333333"/>
                </a:solidFill>
                <a:latin typeface="Arial" panose="020B0604020202090204"/>
              </a:rPr>
              <a:t>• Fan-cut view: fitted curves that pass (green) vs cut away (red) on top of the aligned data, median NRMSE of each population stamped per channel</a:t>
            </a:r>
            <a:endParaRPr sz="1400">
              <a:solidFill>
                <a:srgbClr val="333333"/>
              </a:solidFill>
              <a:latin typeface="Arial" panose="020B0604020202090204"/>
            </a:endParaRPr>
          </a:p>
        </p:txBody>
      </p:sp>
      <p:pic>
        <p:nvPicPr>
          <p:cNvPr id="5" name="Picture 4" descr="slow_rise_zip22_crop.png"/>
          <p:cNvPicPr>
            <a:picLocks noChangeAspect="1"/>
          </p:cNvPicPr>
          <p:nvPr/>
        </p:nvPicPr>
        <p:blipFill>
          <a:blip r:embed="rId1"/>
          <a:stretch>
            <a:fillRect/>
          </a:stretch>
        </p:blipFill>
        <p:spPr>
          <a:xfrm>
            <a:off x="502920" y="2468880"/>
            <a:ext cx="5394960" cy="3699401"/>
          </a:xfrm>
          <a:prstGeom prst="rect">
            <a:avLst/>
          </a:prstGeom>
        </p:spPr>
      </p:pic>
      <p:sp>
        <p:nvSpPr>
          <p:cNvPr id="6" name="TextBox 5"/>
          <p:cNvSpPr txBox="1"/>
          <p:nvPr/>
        </p:nvSpPr>
        <p:spPr>
          <a:xfrm>
            <a:off x="502920" y="6198281"/>
            <a:ext cx="5394960" cy="274320"/>
          </a:xfrm>
          <a:prstGeom prst="rect">
            <a:avLst/>
          </a:prstGeom>
          <a:noFill/>
        </p:spPr>
        <p:txBody>
          <a:bodyPr wrap="square">
            <a:spAutoFit/>
          </a:bodyPr>
          <a:lstStyle/>
          <a:p>
            <a:pPr algn="ctr"/>
            <a:r>
              <a:rPr sz="1100" i="1">
                <a:solidFill>
                  <a:srgbClr val="666666"/>
                </a:solidFill>
                <a:latin typeface="Arial" panose="020B0604020202090204"/>
              </a:rPr>
              <a:t>Z22: NRMSE-rejected events — raw traces are noise</a:t>
            </a:r>
            <a:endParaRPr sz="1100" i="1">
              <a:solidFill>
                <a:srgbClr val="666666"/>
              </a:solidFill>
              <a:latin typeface="Arial" panose="020B0604020202090204"/>
            </a:endParaRPr>
          </a:p>
        </p:txBody>
      </p:sp>
      <p:pic>
        <p:nvPicPr>
          <p:cNvPr id="7" name="Picture 6" descr="fan_cut_zip22_PCS1.png"/>
          <p:cNvPicPr>
            <a:picLocks noChangeAspect="1"/>
          </p:cNvPicPr>
          <p:nvPr/>
        </p:nvPicPr>
        <p:blipFill>
          <a:blip r:embed="rId2"/>
          <a:stretch>
            <a:fillRect/>
          </a:stretch>
        </p:blipFill>
        <p:spPr>
          <a:xfrm>
            <a:off x="6126480" y="3108960"/>
            <a:ext cx="5760720" cy="1479697"/>
          </a:xfrm>
          <a:prstGeom prst="rect">
            <a:avLst/>
          </a:prstGeom>
        </p:spPr>
      </p:pic>
      <p:sp>
        <p:nvSpPr>
          <p:cNvPr id="8" name="TextBox 7"/>
          <p:cNvSpPr txBox="1"/>
          <p:nvPr/>
        </p:nvSpPr>
        <p:spPr>
          <a:xfrm>
            <a:off x="6126480" y="4618657"/>
            <a:ext cx="5760720" cy="274320"/>
          </a:xfrm>
          <a:prstGeom prst="rect">
            <a:avLst/>
          </a:prstGeom>
          <a:noFill/>
        </p:spPr>
        <p:txBody>
          <a:bodyPr wrap="square">
            <a:spAutoFit/>
          </a:bodyPr>
          <a:lstStyle/>
          <a:p>
            <a:pPr algn="ctr"/>
            <a:r>
              <a:rPr sz="1100" i="1">
                <a:solidFill>
                  <a:srgbClr val="666666"/>
                </a:solidFill>
                <a:latin typeface="Arial" panose="020B0604020202090204"/>
              </a:rPr>
              <a:t>Z22 PCS1: pass (green) vs rejected (red)</a:t>
            </a:r>
            <a:endParaRPr sz="1100" i="1">
              <a:solidFill>
                <a:srgbClr val="666666"/>
              </a:solidFill>
              <a:latin typeface="Arial" panose="020B06040202020902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panose="020B0604020202090204"/>
              </a:rPr>
              <a:t>Quality cut 2: τ_rise ≤ 0.3 ms — against slow baseline drift</a:t>
            </a:r>
            <a:endParaRPr sz="2700" b="1">
              <a:solidFill>
                <a:srgbClr val="1F3864"/>
              </a:solidFill>
              <a:latin typeface="Arial" panose="020B0604020202090204"/>
            </a:endParaRP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600200"/>
          </a:xfrm>
          <a:prstGeom prst="rect">
            <a:avLst/>
          </a:prstGeom>
          <a:noFill/>
        </p:spPr>
        <p:txBody>
          <a:bodyPr wrap="square">
            <a:spAutoFit/>
          </a:bodyPr>
          <a:lstStyle/>
          <a:p>
            <a:pPr>
              <a:spcAft>
                <a:spcPts val="500"/>
              </a:spcAft>
            </a:pPr>
            <a:r>
              <a:rPr sz="1400">
                <a:solidFill>
                  <a:srgbClr val="333333"/>
                </a:solidFill>
                <a:latin typeface="Arial" panose="020B0604020202090204"/>
              </a:rPr>
              <a:t>• On noisy-window detectors a smooth, slow baseline drift can survive the NRMSE cut — a slow 2-exp hugs it with a small residual</a:t>
            </a:r>
            <a:endParaRPr sz="1400">
              <a:solidFill>
                <a:srgbClr val="333333"/>
              </a:solidFill>
              <a:latin typeface="Arial" panose="020B0604020202090204"/>
            </a:endParaRPr>
          </a:p>
          <a:p>
            <a:pPr>
              <a:spcAft>
                <a:spcPts val="500"/>
              </a:spcAft>
            </a:pPr>
            <a:r>
              <a:rPr sz="1400">
                <a:solidFill>
                  <a:srgbClr val="333333"/>
                </a:solidFill>
                <a:latin typeface="Arial" panose="020B0604020202090204"/>
              </a:rPr>
              <a:t>• The fast-pulse population sits at τ_rise ≈ 0.1 ms (p90 ≈ 0.15 ms) — cleanly separated from the drift tail, so a 0.3 ms ceiling removes the leakage</a:t>
            </a:r>
            <a:endParaRPr sz="1400">
              <a:solidFill>
                <a:srgbClr val="333333"/>
              </a:solidFill>
              <a:latin typeface="Arial" panose="020B0604020202090204"/>
            </a:endParaRPr>
          </a:p>
          <a:p>
            <a:pPr>
              <a:spcAft>
                <a:spcPts val="500"/>
              </a:spcAft>
            </a:pPr>
            <a:r>
              <a:rPr sz="1400">
                <a:solidFill>
                  <a:srgbClr val="333333"/>
                </a:solidFill>
                <a:latin typeface="Arial" panose="020B0604020202090204"/>
              </a:rPr>
              <a:t>• Cost ≈ 2–5% of signal on quiet detectors; known trade-off: it also trims the small population of genuine slow-rise pulses (final decision pending)</a:t>
            </a:r>
            <a:endParaRPr sz="1400">
              <a:solidFill>
                <a:srgbClr val="333333"/>
              </a:solidFill>
              <a:latin typeface="Arial" panose="020B0604020202090204"/>
            </a:endParaRPr>
          </a:p>
        </p:txBody>
      </p:sp>
      <p:pic>
        <p:nvPicPr>
          <p:cNvPr id="5" name="Picture 4" descr="time_constants_zip7_PAS1.png"/>
          <p:cNvPicPr>
            <a:picLocks noChangeAspect="1"/>
          </p:cNvPicPr>
          <p:nvPr/>
        </p:nvPicPr>
        <p:blipFill>
          <a:blip r:embed="rId1"/>
          <a:stretch>
            <a:fillRect/>
          </a:stretch>
        </p:blipFill>
        <p:spPr>
          <a:xfrm>
            <a:off x="1280160" y="2880360"/>
            <a:ext cx="9601200" cy="1851803"/>
          </a:xfrm>
          <a:prstGeom prst="rect">
            <a:avLst/>
          </a:prstGeom>
        </p:spPr>
      </p:pic>
      <p:sp>
        <p:nvSpPr>
          <p:cNvPr id="6" name="TextBox 5"/>
          <p:cNvSpPr txBox="1"/>
          <p:nvPr/>
        </p:nvSpPr>
        <p:spPr>
          <a:xfrm>
            <a:off x="1280160" y="4762163"/>
            <a:ext cx="9601200" cy="274320"/>
          </a:xfrm>
          <a:prstGeom prst="rect">
            <a:avLst/>
          </a:prstGeom>
          <a:noFill/>
        </p:spPr>
        <p:txBody>
          <a:bodyPr wrap="square">
            <a:spAutoFit/>
          </a:bodyPr>
          <a:lstStyle/>
          <a:p>
            <a:pPr algn="ctr"/>
            <a:r>
              <a:rPr sz="1100" i="1">
                <a:solidFill>
                  <a:srgbClr val="666666"/>
                </a:solidFill>
                <a:latin typeface="Arial" panose="020B0604020202090204"/>
              </a:rPr>
              <a:t>Z7 PAS1: fitted τ_rise (median 0.105 ms) and τ_fall distributions</a:t>
            </a:r>
            <a:endParaRPr sz="1100" i="1">
              <a:solidFill>
                <a:srgbClr val="666666"/>
              </a:solidFill>
              <a:latin typeface="Arial" panose="020B0604020202090204"/>
            </a:endParaRPr>
          </a:p>
        </p:txBody>
      </p:sp>
      <p:sp>
        <p:nvSpPr>
          <p:cNvPr id="7" name="TextBox 6"/>
          <p:cNvSpPr txBox="1"/>
          <p:nvPr/>
        </p:nvSpPr>
        <p:spPr>
          <a:xfrm>
            <a:off x="1280160" y="5257800"/>
            <a:ext cx="9601200" cy="914400"/>
          </a:xfrm>
          <a:prstGeom prst="rect">
            <a:avLst/>
          </a:prstGeom>
          <a:noFill/>
        </p:spPr>
        <p:txBody>
          <a:bodyPr wrap="square">
            <a:spAutoFit/>
          </a:bodyPr>
          <a:lstStyle/>
          <a:p>
            <a:pPr>
              <a:spcAft>
                <a:spcPts val="500"/>
              </a:spcAft>
            </a:pPr>
            <a:r>
              <a:rPr sz="1300">
                <a:solidFill>
                  <a:srgbClr val="333333"/>
                </a:solidFill>
                <a:latin typeface="Arial" panose="020B0604020202090204"/>
              </a:rPr>
              <a:t>• On quiet detectors both τ_rise and τ_fall distributions are narrow — the pulse shape is stable across events</a:t>
            </a:r>
            <a:endParaRPr sz="1300">
              <a:solidFill>
                <a:srgbClr val="333333"/>
              </a:solidFill>
              <a:latin typeface="Arial" panose="020B0604020202090204"/>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panose="020B0604020202090204"/>
              </a:rPr>
              <a:t>A genuine slow-pulse population (“shadow” events)</a:t>
            </a:r>
            <a:endParaRPr sz="2700" b="1">
              <a:solidFill>
                <a:srgbClr val="1F3864"/>
              </a:solidFill>
              <a:latin typeface="Arial" panose="020B0604020202090204"/>
            </a:endParaRP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panose="020B0604020202090204"/>
              </a:rPr>
              <a:t>• Selection: well-fit (median NRMSE ≤ 0.4) AND slow (median τ_rise &gt; 0.2 ms) — raw traces show real pulses, not noise</a:t>
            </a:r>
            <a:endParaRPr sz="1400">
              <a:solidFill>
                <a:srgbClr val="333333"/>
              </a:solidFill>
              <a:latin typeface="Arial" panose="020B0604020202090204"/>
            </a:endParaRPr>
          </a:p>
          <a:p>
            <a:pPr>
              <a:spcAft>
                <a:spcPts val="500"/>
              </a:spcAft>
            </a:pPr>
            <a:r>
              <a:rPr sz="1400">
                <a:solidFill>
                  <a:srgbClr val="333333"/>
                </a:solidFill>
                <a:latin typeface="Arial" panose="020B0604020202090204"/>
              </a:rPr>
              <a:t>• They are the faint displaced bundle seen in the aligned overlays — real shape variation (candidate surface/bulk effect)</a:t>
            </a:r>
            <a:endParaRPr sz="1400">
              <a:solidFill>
                <a:srgbClr val="333333"/>
              </a:solidFill>
              <a:latin typeface="Arial" panose="020B0604020202090204"/>
            </a:endParaRPr>
          </a:p>
          <a:p>
            <a:pPr>
              <a:spcAft>
                <a:spcPts val="500"/>
              </a:spcAft>
            </a:pPr>
            <a:r>
              <a:rPr sz="1400">
                <a:solidFill>
                  <a:srgbClr val="333333"/>
                </a:solidFill>
                <a:latin typeface="Arial" panose="020B0604020202090204"/>
              </a:rPr>
              <a:t>• Exactly the kind of shape variation the multi-template NxM method is built to capture</a:t>
            </a:r>
            <a:endParaRPr sz="1400">
              <a:solidFill>
                <a:srgbClr val="333333"/>
              </a:solidFill>
              <a:latin typeface="Arial" panose="020B0604020202090204"/>
            </a:endParaRPr>
          </a:p>
        </p:txBody>
      </p:sp>
      <p:pic>
        <p:nvPicPr>
          <p:cNvPr id="5" name="Picture 4" descr="shadow_zip7_crop.png"/>
          <p:cNvPicPr>
            <a:picLocks noChangeAspect="1"/>
          </p:cNvPicPr>
          <p:nvPr/>
        </p:nvPicPr>
        <p:blipFill>
          <a:blip r:embed="rId1"/>
          <a:stretch>
            <a:fillRect/>
          </a:stretch>
        </p:blipFill>
        <p:spPr>
          <a:xfrm>
            <a:off x="1167141" y="2697480"/>
            <a:ext cx="9827237" cy="3794760"/>
          </a:xfrm>
          <a:prstGeom prst="rect">
            <a:avLst/>
          </a:prstGeom>
        </p:spPr>
      </p:pic>
      <p:sp>
        <p:nvSpPr>
          <p:cNvPr id="6" name="TextBox 5"/>
          <p:cNvSpPr txBox="1"/>
          <p:nvPr/>
        </p:nvSpPr>
        <p:spPr>
          <a:xfrm>
            <a:off x="1097280" y="6522240"/>
            <a:ext cx="9966960" cy="274320"/>
          </a:xfrm>
          <a:prstGeom prst="rect">
            <a:avLst/>
          </a:prstGeom>
          <a:noFill/>
        </p:spPr>
        <p:txBody>
          <a:bodyPr wrap="square">
            <a:spAutoFit/>
          </a:bodyPr>
          <a:lstStyle/>
          <a:p>
            <a:pPr algn="ctr"/>
            <a:r>
              <a:rPr sz="1100" i="1">
                <a:solidFill>
                  <a:srgbClr val="666666"/>
                </a:solidFill>
                <a:latin typeface="Arial" panose="020B0604020202090204"/>
              </a:rPr>
              <a:t>Z7 shadow events (first 4 channels): raw (gray) / LP (blue) / fit (red) — genuine slow pulses, onset aligned, peak late</a:t>
            </a:r>
            <a:endParaRPr sz="1100" i="1">
              <a:solidFill>
                <a:srgbClr val="666666"/>
              </a:solidFill>
              <a:latin typeface="Arial" panose="020B0604020202090204"/>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panose="020B0604020202090204"/>
              </a:rPr>
              <a:t>Side finding: long-τ_fall events on Z7 are a one-channel artifact</a:t>
            </a:r>
            <a:endParaRPr sz="2700" b="1">
              <a:solidFill>
                <a:srgbClr val="1F3864"/>
              </a:solidFill>
              <a:latin typeface="Arial" panose="020B0604020202090204"/>
            </a:endParaRP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188720"/>
          </a:xfrm>
          <a:prstGeom prst="rect">
            <a:avLst/>
          </a:prstGeom>
          <a:noFill/>
        </p:spPr>
        <p:txBody>
          <a:bodyPr wrap="square">
            <a:spAutoFit/>
          </a:bodyPr>
          <a:lstStyle/>
          <a:p>
            <a:pPr>
              <a:spcAft>
                <a:spcPts val="500"/>
              </a:spcAft>
            </a:pPr>
            <a:r>
              <a:rPr sz="1400">
                <a:solidFill>
                  <a:srgbClr val="333333"/>
                </a:solidFill>
                <a:latin typeface="Arial" panose="020B0604020202090204"/>
              </a:rPr>
              <a:t>• PDS2 shows a broad τ_fall tail (median 0.51 ms vs ≈ 0.25 ms elsewhere) and a smeared τ_rise distribution</a:t>
            </a:r>
            <a:endParaRPr sz="1400">
              <a:solidFill>
                <a:srgbClr val="333333"/>
              </a:solidFill>
              <a:latin typeface="Arial" panose="020B0604020202090204"/>
            </a:endParaRPr>
          </a:p>
          <a:p>
            <a:pPr>
              <a:spcAft>
                <a:spcPts val="500"/>
              </a:spcAft>
            </a:pPr>
            <a:r>
              <a:rPr sz="1400">
                <a:solidFill>
                  <a:srgbClr val="333333"/>
                </a:solidFill>
                <a:latin typeface="Arial" panose="020B0604020202090204"/>
              </a:rPr>
              <a:t>• Cross-channel check: the same events are normal fast pulses in the other 11 channels → a PDS2-only low-frequency disturbance, not slow physics</a:t>
            </a:r>
            <a:endParaRPr sz="1400">
              <a:solidFill>
                <a:srgbClr val="333333"/>
              </a:solidFill>
              <a:latin typeface="Arial" panose="020B0604020202090204"/>
            </a:endParaRPr>
          </a:p>
        </p:txBody>
      </p:sp>
      <p:pic>
        <p:nvPicPr>
          <p:cNvPr id="5" name="Picture 4" descr="time_constants_zip7_PAS1.png"/>
          <p:cNvPicPr>
            <a:picLocks noChangeAspect="1"/>
          </p:cNvPicPr>
          <p:nvPr/>
        </p:nvPicPr>
        <p:blipFill>
          <a:blip r:embed="rId1"/>
          <a:stretch>
            <a:fillRect/>
          </a:stretch>
        </p:blipFill>
        <p:spPr>
          <a:xfrm>
            <a:off x="1280160" y="2377440"/>
            <a:ext cx="9601200" cy="1851803"/>
          </a:xfrm>
          <a:prstGeom prst="rect">
            <a:avLst/>
          </a:prstGeom>
        </p:spPr>
      </p:pic>
      <p:sp>
        <p:nvSpPr>
          <p:cNvPr id="6" name="TextBox 5"/>
          <p:cNvSpPr txBox="1"/>
          <p:nvPr/>
        </p:nvSpPr>
        <p:spPr>
          <a:xfrm>
            <a:off x="1280160" y="4259243"/>
            <a:ext cx="9601200" cy="274320"/>
          </a:xfrm>
          <a:prstGeom prst="rect">
            <a:avLst/>
          </a:prstGeom>
          <a:noFill/>
        </p:spPr>
        <p:txBody>
          <a:bodyPr wrap="square">
            <a:spAutoFit/>
          </a:bodyPr>
          <a:lstStyle/>
          <a:p>
            <a:pPr algn="ctr"/>
            <a:r>
              <a:rPr sz="1100" i="1">
                <a:solidFill>
                  <a:srgbClr val="666666"/>
                </a:solidFill>
                <a:latin typeface="Arial" panose="020B0604020202090204"/>
              </a:rPr>
              <a:t>Z7 PAS1 — reference channel: narrow τ_rise / τ_fall</a:t>
            </a:r>
            <a:endParaRPr sz="1100" i="1">
              <a:solidFill>
                <a:srgbClr val="666666"/>
              </a:solidFill>
              <a:latin typeface="Arial" panose="020B0604020202090204"/>
            </a:endParaRPr>
          </a:p>
        </p:txBody>
      </p:sp>
      <p:pic>
        <p:nvPicPr>
          <p:cNvPr id="7" name="Picture 6" descr="time_constants_zip7_PDS2.png"/>
          <p:cNvPicPr>
            <a:picLocks noChangeAspect="1"/>
          </p:cNvPicPr>
          <p:nvPr/>
        </p:nvPicPr>
        <p:blipFill>
          <a:blip r:embed="rId2"/>
          <a:stretch>
            <a:fillRect/>
          </a:stretch>
        </p:blipFill>
        <p:spPr>
          <a:xfrm>
            <a:off x="1280160" y="4480560"/>
            <a:ext cx="9601200" cy="1845094"/>
          </a:xfrm>
          <a:prstGeom prst="rect">
            <a:avLst/>
          </a:prstGeom>
        </p:spPr>
      </p:pic>
      <p:sp>
        <p:nvSpPr>
          <p:cNvPr id="8" name="TextBox 7"/>
          <p:cNvSpPr txBox="1"/>
          <p:nvPr/>
        </p:nvSpPr>
        <p:spPr>
          <a:xfrm>
            <a:off x="1280160" y="6355654"/>
            <a:ext cx="9601200" cy="274320"/>
          </a:xfrm>
          <a:prstGeom prst="rect">
            <a:avLst/>
          </a:prstGeom>
          <a:noFill/>
        </p:spPr>
        <p:txBody>
          <a:bodyPr wrap="square">
            <a:spAutoFit/>
          </a:bodyPr>
          <a:lstStyle/>
          <a:p>
            <a:pPr algn="ctr"/>
            <a:r>
              <a:rPr sz="1100" i="1">
                <a:solidFill>
                  <a:srgbClr val="666666"/>
                </a:solidFill>
                <a:latin typeface="Arial" panose="020B0604020202090204"/>
              </a:rPr>
              <a:t>Z7 PDS2 — broad tails from a channel-specific low-frequency artifact</a:t>
            </a:r>
            <a:endParaRPr sz="1100" i="1">
              <a:solidFill>
                <a:srgbClr val="666666"/>
              </a:solidFill>
              <a:latin typeface="Arial" panose="020B0604020202090204"/>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panose="020B0604020202090204"/>
              </a:rPr>
              <a:t>Template family 1 — analytic 2-exp, NRMSE-weighted (1x1)</a:t>
            </a:r>
            <a:endParaRPr sz="2700" b="1">
              <a:solidFill>
                <a:srgbClr val="1F3864"/>
              </a:solidFill>
              <a:latin typeface="Arial" panose="020B0604020202090204"/>
            </a:endParaRP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panose="020B0604020202090204"/>
              </a:rPr>
              <a:t>• Per channel: weighted mean of ALL fit_ok fitted curves at the common onset, weight w = 1/max(NRMSE, 0.01)²</a:t>
            </a:r>
            <a:endParaRPr sz="1400">
              <a:solidFill>
                <a:srgbClr val="333333"/>
              </a:solidFill>
              <a:latin typeface="Arial" panose="020B0604020202090204"/>
            </a:endParaRPr>
          </a:p>
          <a:p>
            <a:pPr>
              <a:spcAft>
                <a:spcPts val="500"/>
              </a:spcAft>
            </a:pPr>
            <a:r>
              <a:rPr sz="1400">
                <a:solidFill>
                  <a:srgbClr val="333333"/>
                </a:solidFill>
                <a:latin typeface="Arial" panose="020B0604020202090204"/>
              </a:rPr>
              <a:t>• Badly-fit events count less but are never excluded — robust and smooth (noise-free by construction)</a:t>
            </a:r>
            <a:endParaRPr sz="1400">
              <a:solidFill>
                <a:srgbClr val="333333"/>
              </a:solidFill>
              <a:latin typeface="Arial" panose="020B0604020202090204"/>
            </a:endParaRPr>
          </a:p>
          <a:p>
            <a:pPr>
              <a:spcAft>
                <a:spcPts val="500"/>
              </a:spcAft>
            </a:pPr>
            <a:r>
              <a:rPr sz="1400">
                <a:solidFill>
                  <a:srgbClr val="333333"/>
                </a:solidFill>
                <a:latin typeface="Arial" panose="020B0604020202090204"/>
              </a:rPr>
              <a:t>• Delivered as peak-normalized 32768-bin ROOT TH1D per channel + summed PT/PS1/PS2 templates</a:t>
            </a:r>
            <a:endParaRPr sz="1400">
              <a:solidFill>
                <a:srgbClr val="333333"/>
              </a:solidFill>
              <a:latin typeface="Arial" panose="020B0604020202090204"/>
            </a:endParaRPr>
          </a:p>
        </p:txBody>
      </p:sp>
      <p:pic>
        <p:nvPicPr>
          <p:cNvPr id="5" name="Picture 4" descr="image.png"/>
          <p:cNvPicPr>
            <a:picLocks noChangeAspect="1"/>
          </p:cNvPicPr>
          <p:nvPr/>
        </p:nvPicPr>
        <p:blipFill>
          <a:blip r:embed="rId2"/>
          <a:stretch>
            <a:fillRect/>
          </a:stretch>
        </p:blipFill>
        <p:spPr>
          <a:xfrm>
            <a:off x="1383919" y="3063240"/>
            <a:ext cx="9393682" cy="2834640"/>
          </a:xfrm>
          <a:prstGeom prst="rect">
            <a:avLst/>
          </a:prstGeom>
        </p:spPr>
      </p:pic>
      <p:sp>
        <p:nvSpPr>
          <p:cNvPr id="6" name="TextBox 5"/>
          <p:cNvSpPr txBox="1"/>
          <p:nvPr/>
        </p:nvSpPr>
        <p:spPr>
          <a:xfrm>
            <a:off x="1280160" y="5927880"/>
            <a:ext cx="9601200" cy="292608"/>
          </a:xfrm>
          <a:prstGeom prst="rect">
            <a:avLst/>
          </a:prstGeom>
          <a:noFill/>
        </p:spPr>
        <p:txBody>
          <a:bodyPr wrap="square">
            <a:spAutoFit/>
          </a:bodyPr>
          <a:lstStyle/>
          <a:p>
            <a:pPr algn="ctr"/>
            <a:r>
              <a:rPr sz="1100" i="1">
                <a:solidFill>
                  <a:srgbClr val="666666"/>
                </a:solidFill>
                <a:latin typeface="Arial"/>
              </a:rPr>
              <a:t>Z7 PBS1, fitted curves after NRMSE ≤ 0.4 and τ_rise ≤ 0.3 ms — the NRMSE-weighted mean of this family is the 1x1 template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panose="020B0604020202090204"/>
              </a:rPr>
              <a:t>Template family 2 — NxM PCA templates</a:t>
            </a:r>
            <a:endParaRPr sz="2700" b="1">
              <a:solidFill>
                <a:srgbClr val="1F3864"/>
              </a:solidFill>
              <a:latin typeface="Arial" panose="020B0604020202090204"/>
            </a:endParaRP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panose="020B0604020202090204"/>
              </a:rPr>
              <a:t>• Input: fitted curves passing fit_ok + NRMSE ≤ 0.4 + τ_rise ≤ 0.3 ms, at common onset, peak-normalized (PCA window 15550–24050, ≤ 3000 curves/channel)</a:t>
            </a:r>
            <a:endParaRPr sz="1400">
              <a:solidFill>
                <a:srgbClr val="333333"/>
              </a:solidFill>
              <a:latin typeface="Arial" panose="020B0604020202090204"/>
            </a:endParaRPr>
          </a:p>
          <a:p>
            <a:pPr>
              <a:spcAft>
                <a:spcPts val="500"/>
              </a:spcAft>
            </a:pPr>
            <a:r>
              <a:rPr sz="1400">
                <a:solidFill>
                  <a:srgbClr val="333333"/>
                </a:solidFill>
                <a:latin typeface="Arial" panose="020B0604020202090204"/>
              </a:rPr>
              <a:t>• nxm0 = mean shape;  nxm1…nxm4 = first four principal components — a real pulse is fit as Σᵢ ampᵢ · nxmᵢ</a:t>
            </a:r>
            <a:endParaRPr sz="1400">
              <a:solidFill>
                <a:srgbClr val="333333"/>
              </a:solidFill>
              <a:latin typeface="Arial" panose="020B0604020202090204"/>
            </a:endParaRPr>
          </a:p>
          <a:p>
            <a:pPr>
              <a:spcAft>
                <a:spcPts val="500"/>
              </a:spcAft>
            </a:pPr>
            <a:r>
              <a:rPr sz="1400">
                <a:solidFill>
                  <a:srgbClr val="333333"/>
                </a:solidFill>
                <a:latin typeface="Arial" panose="020B0604020202090204"/>
              </a:rPr>
              <a:t>• PC1 + PC2 already capture 96–98% of the shape variance; all five delivered peak-normalized</a:t>
            </a:r>
            <a:endParaRPr sz="1400">
              <a:solidFill>
                <a:srgbClr val="333333"/>
              </a:solidFill>
              <a:latin typeface="Arial" panose="020B0604020202090204"/>
            </a:endParaRPr>
          </a:p>
        </p:txBody>
      </p:sp>
      <p:pic>
        <p:nvPicPr>
          <p:cNvPr id="5" name="Picture 4" descr="pca_zip7_PAS1.png"/>
          <p:cNvPicPr>
            <a:picLocks noChangeAspect="1"/>
          </p:cNvPicPr>
          <p:nvPr/>
        </p:nvPicPr>
        <p:blipFill>
          <a:blip r:embed="rId1"/>
          <a:stretch>
            <a:fillRect/>
          </a:stretch>
        </p:blipFill>
        <p:spPr>
          <a:xfrm>
            <a:off x="2831374" y="2697480"/>
            <a:ext cx="6498771" cy="1828800"/>
          </a:xfrm>
          <a:prstGeom prst="rect">
            <a:avLst/>
          </a:prstGeom>
        </p:spPr>
      </p:pic>
      <p:pic>
        <p:nvPicPr>
          <p:cNvPr id="6" name="Picture 5" descr="pca_zip7_PBS1.png"/>
          <p:cNvPicPr>
            <a:picLocks noChangeAspect="1"/>
          </p:cNvPicPr>
          <p:nvPr/>
        </p:nvPicPr>
        <p:blipFill>
          <a:blip r:embed="rId2"/>
          <a:stretch>
            <a:fillRect/>
          </a:stretch>
        </p:blipFill>
        <p:spPr>
          <a:xfrm>
            <a:off x="2831374" y="4572000"/>
            <a:ext cx="6498771" cy="1828800"/>
          </a:xfrm>
          <a:prstGeom prst="rect">
            <a:avLst/>
          </a:prstGeom>
        </p:spPr>
      </p:pic>
      <p:sp>
        <p:nvSpPr>
          <p:cNvPr id="7" name="TextBox 6"/>
          <p:cNvSpPr txBox="1"/>
          <p:nvPr/>
        </p:nvSpPr>
        <p:spPr>
          <a:xfrm>
            <a:off x="1371600" y="6430800"/>
            <a:ext cx="9418320" cy="274320"/>
          </a:xfrm>
          <a:prstGeom prst="rect">
            <a:avLst/>
          </a:prstGeom>
          <a:noFill/>
        </p:spPr>
        <p:txBody>
          <a:bodyPr wrap="square">
            <a:spAutoFit/>
          </a:bodyPr>
          <a:lstStyle/>
          <a:p>
            <a:pPr algn="ctr"/>
            <a:r>
              <a:rPr sz="1100" i="1">
                <a:solidFill>
                  <a:srgbClr val="666666"/>
                </a:solidFill>
                <a:latin typeface="Arial" panose="020B0604020202090204"/>
              </a:rPr>
              <a:t>Z7 PAS1 / PBS1: nxm0 (mean) + nxm1–4 (PCs) — the oscillating components encode rise/fall-time variation</a:t>
            </a:r>
            <a:endParaRPr sz="1100" i="1">
              <a:solidFill>
                <a:srgbClr val="666666"/>
              </a:solidFill>
              <a:latin typeface="Arial" panose="020B0604020202090204"/>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panose="020B0604020202090204"/>
              </a:rPr>
              <a:t>Delivered — and what remains</a:t>
            </a:r>
            <a:endParaRPr sz="2700" b="1">
              <a:solidFill>
                <a:srgbClr val="1F3864"/>
              </a:solidFill>
              <a:latin typeface="Arial" panose="020B0604020202090204"/>
            </a:endParaRP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0"/>
            <a:ext cx="11247120" cy="4206240"/>
          </a:xfrm>
          <a:prstGeom prst="rect">
            <a:avLst/>
          </a:prstGeom>
          <a:noFill/>
        </p:spPr>
        <p:txBody>
          <a:bodyPr wrap="square">
            <a:spAutoFit/>
          </a:bodyPr>
          <a:lstStyle/>
          <a:p>
            <a:pPr>
              <a:spcAft>
                <a:spcPts val="500"/>
              </a:spcAft>
            </a:pPr>
            <a:r>
              <a:rPr sz="1600">
                <a:solidFill>
                  <a:srgbClr val="333333"/>
                </a:solidFill>
                <a:latin typeface="Arial" panose="020B0604020202090204"/>
              </a:rPr>
              <a:t>• Delivered for all 13 zips, official cdmsbats PulseTemplates layout (zip{N}/{chan}, {chan}nxm0–4, summed PT/PS1/PS2):</a:t>
            </a:r>
            <a:endParaRPr sz="1600">
              <a:solidFill>
                <a:srgbClr val="333333"/>
              </a:solidFill>
              <a:latin typeface="Arial" panose="020B0604020202090204"/>
            </a:endParaRPr>
          </a:p>
          <a:p>
            <a:pPr lvl="1">
              <a:spcAft>
                <a:spcPts val="500"/>
              </a:spcAft>
            </a:pPr>
            <a:r>
              <a:rPr sz="1400">
                <a:solidFill>
                  <a:srgbClr val="666666"/>
                </a:solidFill>
                <a:latin typeface="Arial" panose="020B0604020202090204"/>
              </a:rPr>
              <a:t>– SNOLAB_R4_20260706_ZhihengLi_zip{N}.root — 2-exp NRMSE-weighted (1x1)</a:t>
            </a:r>
            <a:endParaRPr sz="1400">
              <a:solidFill>
                <a:srgbClr val="666666"/>
              </a:solidFill>
              <a:latin typeface="Arial" panose="020B0604020202090204"/>
            </a:endParaRPr>
          </a:p>
          <a:p>
            <a:pPr lvl="1">
              <a:spcAft>
                <a:spcPts val="500"/>
              </a:spcAft>
            </a:pPr>
            <a:r>
              <a:rPr sz="1400">
                <a:solidFill>
                  <a:srgbClr val="666666"/>
                </a:solidFill>
                <a:latin typeface="Arial" panose="020B0604020202090204"/>
              </a:rPr>
              <a:t>– SNOLAB_R4_20260707_ZhihengLi_pca_zip{N}.root — NxM PCA (normalized)</a:t>
            </a:r>
            <a:endParaRPr sz="1400">
              <a:solidFill>
                <a:srgbClr val="666666"/>
              </a:solidFill>
              <a:latin typeface="Arial" panose="020B0604020202090204"/>
            </a:endParaRPr>
          </a:p>
          <a:p>
            <a:pPr>
              <a:spcAft>
                <a:spcPts val="500"/>
              </a:spcAft>
            </a:pPr>
            <a:r>
              <a:rPr sz="1600">
                <a:solidFill>
                  <a:srgbClr val="333333"/>
                </a:solidFill>
                <a:latin typeface="Arial" panose="020B0604020202090204"/>
              </a:rPr>
              <a:t>• Every step is traceable: raw cache → per-series fit checkpoints indexed by EventNumber → self-documenting figures (11 types × 13 zips, all versioned)</a:t>
            </a:r>
            <a:endParaRPr sz="1600">
              <a:solidFill>
                <a:srgbClr val="333333"/>
              </a:solidFill>
              <a:latin typeface="Arial" panose="020B0604020202090204"/>
            </a:endParaRPr>
          </a:p>
          <a:p>
            <a:pPr>
              <a:spcAft>
                <a:spcPts val="500"/>
              </a:spcAft>
            </a:pPr>
            <a:r>
              <a:rPr sz="1600">
                <a:solidFill>
                  <a:srgbClr val="333333"/>
                </a:solidFill>
                <a:latin typeface="Arial" panose="020B0604020202090204"/>
              </a:rPr>
              <a:t>• Cuts derived from the data, validated in raw traces: NRMSE ≤ 0.4 (bimodal valley), τ_rise ≤ 0.3 ms (drift leakage)</a:t>
            </a:r>
            <a:endParaRPr sz="1600">
              <a:solidFill>
                <a:srgbClr val="333333"/>
              </a:solidFill>
              <a:latin typeface="Arial" panose="020B0604020202090204"/>
            </a:endParaRPr>
          </a:p>
          <a:p>
            <a:pPr>
              <a:spcAft>
                <a:spcPts val="500"/>
              </a:spcAft>
            </a:pPr>
            <a:r>
              <a:rPr sz="1600">
                <a:solidFill>
                  <a:srgbClr val="333333"/>
                </a:solidFill>
                <a:latin typeface="Arial" panose="020B0604020202090204"/>
              </a:rPr>
              <a:t>• Open items:</a:t>
            </a:r>
            <a:endParaRPr sz="1600">
              <a:solidFill>
                <a:srgbClr val="333333"/>
              </a:solidFill>
              <a:latin typeface="Arial" panose="020B0604020202090204"/>
            </a:endParaRPr>
          </a:p>
          <a:p>
            <a:pPr lvl="1">
              <a:spcAft>
                <a:spcPts val="500"/>
              </a:spcAft>
            </a:pPr>
            <a:r>
              <a:rPr sz="1400">
                <a:solidFill>
                  <a:srgbClr val="666666"/>
                </a:solidFill>
                <a:latin typeface="Arial" panose="020B0604020202090204"/>
              </a:rPr>
              <a:t>– final decision on the τ_rise ceiling vs the genuine slow-pulse population</a:t>
            </a:r>
            <a:endParaRPr sz="1400">
              <a:solidFill>
                <a:srgbClr val="666666"/>
              </a:solidFill>
              <a:latin typeface="Arial" panose="020B0604020202090204"/>
            </a:endParaRPr>
          </a:p>
          <a:p>
            <a:pPr lvl="1">
              <a:spcAft>
                <a:spcPts val="500"/>
              </a:spcAft>
            </a:pPr>
            <a:r>
              <a:rPr sz="1400">
                <a:solidFill>
                  <a:srgbClr val="666666"/>
                </a:solidFill>
                <a:latin typeface="Arial" panose="020B0604020202090204"/>
              </a:rPr>
              <a:t>– run the group's template-validation method on the new templates</a:t>
            </a:r>
            <a:endParaRPr sz="1400">
              <a:solidFill>
                <a:srgbClr val="666666"/>
              </a:solidFill>
              <a:latin typeface="Arial" panose="020B0604020202090204"/>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6709</Words>
  <Application>WPS Writer</Application>
  <PresentationFormat>On-screen Show (4:3)</PresentationFormat>
  <Paragraphs>119</Paragraphs>
  <Slides>13</Slides>
  <Notes>0</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13</vt:i4>
      </vt:variant>
    </vt:vector>
  </HeadingPairs>
  <TitlesOfParts>
    <vt:vector size="26" baseType="lpstr">
      <vt:lpstr>Arial</vt:lpstr>
      <vt:lpstr>宋体</vt:lpstr>
      <vt:lpstr>Wingdings</vt:lpstr>
      <vt:lpstr>Arial</vt:lpstr>
      <vt:lpstr>微软雅黑</vt:lpstr>
      <vt:lpstr>汉仪旗黑</vt:lpstr>
      <vt:lpstr>宋体</vt:lpstr>
      <vt:lpstr>Arial Unicode MS</vt:lpstr>
      <vt:lpstr>Calibri</vt:lpstr>
      <vt:lpstr>Helvetica Neue</vt:lpstr>
      <vt:lpstr>宋体-简</vt:lpstr>
      <vt:lpstr>汉仪书宋二KW</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李志恒</cp:lastModifiedBy>
  <cp:revision>2</cp:revision>
  <dcterms:created xsi:type="dcterms:W3CDTF">2026-07-14T22:19:47Z</dcterms:created>
  <dcterms:modified xsi:type="dcterms:W3CDTF">2026-07-14T22:19:47Z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50BBE6575B3FA42603B6566A52AFF5EE_42</vt:lpwstr>
  </property>
  <property fmtid="{D5CDD505-2E9C-101B-9397-08002B2CF9AE}" pid="3" name="KSOProductBuildVer">
    <vt:lpwstr>1033-6.12.0.8899</vt:lpwstr>
  </property>
</Properties>
</file>