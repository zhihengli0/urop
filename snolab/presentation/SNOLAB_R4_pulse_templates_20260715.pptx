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Onset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free-pretrigger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a:rPr>
              <a:t>• 1.  100 kHz 4th-order Butterworth low-pass (steady-state init — no filter start-up transient)</a:t>
            </a:r>
          </a:p>
          <a:p>
            <a:pPr>
              <a:spcAft>
                <a:spcPts val="500"/>
              </a:spcAft>
            </a:pPr>
            <a:r>
              <a:rPr sz="1500">
                <a:solidFill>
                  <a:srgbClr val="333333"/>
                </a:solidFill>
                <a:latin typeface="Arial"/>
              </a:rPr>
              <a:t>• 2.  Baseline = median of samples 2000–12000, subtracted; normalize by the global trace peak</a:t>
            </a:r>
          </a:p>
          <a:p>
            <a:pPr>
              <a:spcAft>
                <a:spcPts val="500"/>
              </a:spcAft>
            </a:pPr>
            <a:r>
              <a:rPr sz="1500">
                <a:solidFill>
                  <a:srgbClr val="333333"/>
                </a:solidFill>
                <a:latin typeface="Arial"/>
              </a:rPr>
              <a:t>• 3.  Two-exponential fit — all 5 parameters free, including the onset:</a:t>
            </a:r>
          </a:p>
          <a:p>
            <a:pPr lvl="1">
              <a:spcAft>
                <a:spcPts val="500"/>
              </a:spcAft>
            </a:pPr>
            <a:r>
              <a:rPr sz="1300">
                <a:solidFill>
                  <a:srgbClr val="666666"/>
                </a:solidFill>
                <a:latin typeface="Arial"/>
              </a:rPr>
              <a:t>– y(t) = A·[exp(−(t−t₀)/τ_fall) − exp(−(t−t₀)/τ_rise)] + b,   t₀ ∈ 16050 ± 3000 samples</a:t>
            </a:r>
          </a:p>
          <a:p>
            <a:pPr lvl="1">
              <a:spcAft>
                <a:spcPts val="500"/>
              </a:spcAft>
            </a:pPr>
            <a:r>
              <a:rPr sz="1300">
                <a:solidFill>
                  <a:srgbClr val="666666"/>
                </a:solidFill>
                <a:latin typeface="Arial"/>
              </a:rPr>
              <a:t>– fit window 12550–24050 (stride 4);  τ_rise ∈ [1 µs, 5 ms],  τ_fall ∈ [10 µs, 20 ms]</a:t>
            </a:r>
          </a:p>
          <a:p>
            <a:pPr>
              <a:spcAft>
                <a:spcPts val="500"/>
              </a:spcAft>
            </a:pPr>
            <a:r>
              <a:rPr sz="1500">
                <a:solidFill>
                  <a:srgbClr val="333333"/>
                </a:solidFill>
                <a:latin typeface="Arial"/>
              </a:rPr>
              <a:t>• 4.  Quality numbers — fit_ok := A&gt;0 and 0&lt;τ_rise&lt;τ_fall;  NRMSE := RMS(residual)/fit peak (recorded, no cut yet)</a:t>
            </a:r>
          </a:p>
          <a:p>
            <a:pPr>
              <a:spcAft>
                <a:spcPts val="500"/>
              </a:spcAft>
            </a:pPr>
            <a:r>
              <a:rPr sz="1500">
                <a:solidFill>
                  <a:srgbClr val="333333"/>
                </a:solidFill>
                <a:latin typeface="Arial"/>
              </a:rPr>
              <a:t>• 5.  Align — shift the measured trace by (fitted onset − 16050), sub-sample interpolation: a pure translation</a:t>
            </a: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a:rPr>
              <a:t>• Why a free onset?  Real trigger times vary event-by-event — fitted onsets cluster ≈230 samples after the nominal 16050. Pinning the onset distorts every other parameter.</a:t>
            </a:r>
          </a:p>
        </p:txBody>
      </p:sp>
      <p:pic>
        <p:nvPicPr>
          <p:cNvPr id="6" name="Picture 5" descr="fan_zip7_PBS1_before.png"/>
          <p:cNvPicPr>
            <a:picLocks noChangeAspect="1"/>
          </p:cNvPicPr>
          <p:nvPr/>
        </p:nvPicPr>
        <p:blipFill>
          <a:blip r:embed="rId2"/>
          <a:stretch>
            <a:fillRect/>
          </a:stretch>
        </p:blipFill>
        <p:spPr>
          <a:xfrm>
            <a:off x="594677" y="4800600"/>
            <a:ext cx="5302885" cy="1600200"/>
          </a:xfrm>
          <a:prstGeom prst="rect">
            <a:avLst/>
          </a:prstGeom>
        </p:spPr>
      </p:pic>
      <p:sp>
        <p:nvSpPr>
          <p:cNvPr id="7" name="TextBox 6"/>
          <p:cNvSpPr txBox="1"/>
          <p:nvPr/>
        </p:nvSpPr>
        <p:spPr>
          <a:xfrm>
            <a:off x="502920" y="6430800"/>
            <a:ext cx="5486400" cy="274320"/>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8" name="Picture 7" descr="fan_zip7_PBS1_nrmse.png"/>
          <p:cNvPicPr>
            <a:picLocks noChangeAspect="1"/>
          </p:cNvPicPr>
          <p:nvPr/>
        </p:nvPicPr>
        <p:blipFill>
          <a:blip r:embed="rId3"/>
          <a:stretch>
            <a:fillRect/>
          </a:stretch>
        </p:blipFill>
        <p:spPr>
          <a:xfrm>
            <a:off x="6355397" y="4800600"/>
            <a:ext cx="5302885" cy="1600200"/>
          </a:xfrm>
          <a:prstGeom prst="rect">
            <a:avLst/>
          </a:prstGeom>
        </p:spPr>
      </p:pic>
      <p:sp>
        <p:nvSpPr>
          <p:cNvPr id="9" name="TextBox 8"/>
          <p:cNvSpPr txBox="1"/>
          <p:nvPr/>
        </p:nvSpPr>
        <p:spPr>
          <a:xfrm>
            <a:off x="6263640" y="6430800"/>
            <a:ext cx="548640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onset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onset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onset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onset,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nrms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onset,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