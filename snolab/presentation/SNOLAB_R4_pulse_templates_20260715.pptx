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9"/>
    <p:sldId id="258" r:id="rId10"/>
    <p:sldId id="259" r:id="rId11"/>
    <p:sldId id="260" r:id="rId12"/>
    <p:sldId id="261" r:id="rId13"/>
    <p:sldId id="262" r:id="rId14"/>
    <p:sldId id="263" r:id="rId15"/>
    <p:sldId id="264" r:id="rId16"/>
    <p:sldId id="265" r:id="rId17"/>
    <p:sldId id="266" r:id="rId18"/>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notesMaster" Target="notesMasters/notesMaster1.xml"/><Relationship Id="rId9" Type="http://schemas.openxmlformats.org/officeDocument/2006/relationships/slide" Target="slides/slide2.xml"/><Relationship Id="rId10" Type="http://schemas.openxmlformats.org/officeDocument/2006/relationships/slide" Target="slides/slide3.xml"/><Relationship Id="rId11" Type="http://schemas.openxmlformats.org/officeDocument/2006/relationships/slide" Target="slides/slide4.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 Id="rId16" Type="http://schemas.openxmlformats.org/officeDocument/2006/relationships/slide" Target="slides/slide9.xml"/><Relationship Id="rId17" Type="http://schemas.openxmlformats.org/officeDocument/2006/relationships/slide" Target="slides/slide10.xml"/><Relationship Id="rId18" Type="http://schemas.openxmlformats.org/officeDocument/2006/relationships/slide" Target="slides/slide11.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Today I will present the phonon pulse-template work for SNOLAB Run 4: how we selected events on the Ge-activation K-line, the fit-and-align pipeline, the quality cuts and how each was derived, and the two template families we delivered for all 13 detectors.</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Everything starts from the Ge activation data. After Cf activation every detector shows the 10.37 keV K-line. Professor Saab's study located the K-line position in the PTOFamps spectrum of each detector - that is the red line in every panel here. Our event selection is exactly one condition: a window around the red line, a factor 1.35 both ways - a rough, eyeballed choice - and nothing else. For each selected event we cache the fully unprocessed raw MIDAS traces of all channels. You can already see on the weak detectors that the window will admit part of the noise-trigger population next to the K-line - that is intentional: the cache is raw, so every later cut stays explicit and reversible.</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Before the algorithm, a quick look at the data itself. We use event-by-channel grids: each row is one event, each column one channel, with the low-passed trace in blue and a fitted pulse model in red on top. The pattern is already clear: a real K-line event fits well in every channel at once, while a noise trigger fails in every channel at once. So the events split cleanly into two kinds. How we actually fit and align each trace is the next slide, and how we turn that split into a quantitative cut comes shortly after.</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per-trace algorithm. First a low-pass filter to smooth away the high-frequency noise, then the baseline is subtracted and the trace is scaled to unit peak - without that normalization the traces could not be overlaid or compared. The core is the fit: a two-exponential function, one exponential for the rise and one for the fall, with all five parameters free, including the pretrigger - the pulse start time. The pretrigger is never pinned: real trigger times vary, and the fitted pretriggers cluster about 230 samples after the nominal value - pinning it would bias the time constants. Each fit records two quality numbers: fit_ok, a physicality check - positive amplitude, rise faster than fall - and the NRMSE, the normalized root-mean-square error, the fit residual divided by the pulse height. At this stage we only record them. Step five, alignment, and its output get their own slide next.</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Step five: alignment. Each measured trace is shifted by its fitted pretrigger minus the nominal 16050 - a pure translation, nothing about the waveform is regenerated. Once everything is at the common pretrigger, the fitted curves stack up. On the left, all physical fits: you can see the slow stragglers spreading off the main bundle. On the right, after the NRMSE cut, a single tight, consistent shape family remains. That tight family is what makes a well-defined template possible - and where the cut comes from is what I show next.</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First quality cut. The NRMSE distribution of physical fits is bimodal on every detector: a good-fit population around 0.05 to 0.1, and a noise-trigger population around 1 to 2, separated by a valley at about 0.4. We place the cut in the valley - it is read off the distribution itself. On quiet detectors like Z7 the noise population is small; on weak detectors like Z22 it dominates, and this cut is what digs the real pulses out of the mixture.</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Before trusting the cut we looked at what it throws away. These are event grids of the rejected population on Z22: the raw traces show no pulse at all - they are noise triggers whose slow two-exp fit happened to converge. The fan-cut view on the right overlays the passing fitted curves in green and the rejected ones in red on the aligned data: the green population is the fast physical pulse shape, the red one is spread out with a median NRMSE three times higher. So the cut removes noise, not physics.</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first lead comes from the fan plot after the cut: some curves still fall very slowly. We chased it by sampling: among events passing the cut, take fall times above one point five milliseconds, randomly sample ten, and draw raw versus fit in every channel. Two findings. First, the sampled events are real pulses - so they stay in, and we apply no fall cut. Second, their extreme fall times all trace back to one channel: only PDS2 is swinging wildly, while the same events are normal fast pulses in the other eleven channels - so the extreme tail is a one-channel low-frequency artifact, not slow physics.</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First template family: the analytic one. For each channel we take every physical fitted curve at the common pretrigger and average them with a weight of one over NRMSE squared - badly fit events count less but nothing is excluded by hand. After the cuts, shown here, a single tight shape family remains, and its weighted mean is the 1x1 template - smooth and noise-free by construction because it is built from analytic curves, delivered as peak-normalized ROOT histograms.</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Second family: the NxM PCA templates, built to capture the pulse-shape variation across events. We run a PCA over the fitted curves that pass all cuts, in a window around the pulse. The mean shape becomes template zero, and the first four principal components become templates one to four - they oscillate and can be negative, and the optimal filter fits a real pulse as a linear combination of them. The first two components already capture 96 to 98 percent of the shape variance on every detector.</a:t>
            </a:r>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To summarize: both template families are delivered for all 13 detectors in the official PulseTemplates format - the analytic 1x1 templates and the PCA NxM set. The whole chain is traceable from raw traces to every figure, and both quality cuts were read off the data and verified in the raw traces. Two things remain: the final call on the rise-time ceiling versus the genuine slow pulses, and running the group's template-validation method on the new templates. Thank you - happy to take questions.</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hyperlink" Target="https://confluence.slac.stanford.edu/spaces/CDMS/pages/716899864/Ge+Activation+Data+-+Ops+Shift+260612" TargetMode="External"/><Relationship Id="rId3" Type="http://schemas.openxmlformats.org/officeDocument/2006/relationships/image" Target="../media/image1.png"/><Relationship Id="rId4"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png"/><Relationship Id="rId3" Type="http://schemas.openxmlformats.org/officeDocument/2006/relationships/image" Target="../media/image3.png"/><Relationship Id="rId4"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png"/><Relationship Id="rId3"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5.png"/><Relationship Id="rId3" Type="http://schemas.openxmlformats.org/officeDocument/2006/relationships/image" Target="../media/image6.png"/><Relationship Id="rId4"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7.png"/><Relationship Id="rId3" Type="http://schemas.openxmlformats.org/officeDocument/2006/relationships/image" Target="../media/image8.png"/><Relationship Id="rId4"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9.png"/><Relationship Id="rId3" Type="http://schemas.openxmlformats.org/officeDocument/2006/relationships/image" Target="../media/image10.png"/><Relationship Id="rId4"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1.png"/><Relationship Id="rId3" Type="http://schemas.openxmlformats.org/officeDocument/2006/relationships/image" Target="../media/image12.png"/><Relationship Id="rId4" Type="http://schemas.openxmlformats.org/officeDocument/2006/relationships/image" Target="../media/image13.png"/><Relationship Id="rId5"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4.png"/><Relationship Id="rId3"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5.png"/><Relationship Id="rId3" Type="http://schemas.openxmlformats.org/officeDocument/2006/relationships/image" Target="../media/image16.png"/><Relationship Id="rId4"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1.xm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822960" y="2103120"/>
            <a:ext cx="10515600" cy="1463040"/>
          </a:xfrm>
          <a:prstGeom prst="rect">
            <a:avLst/>
          </a:prstGeom>
          <a:noFill/>
        </p:spPr>
        <p:txBody>
          <a:bodyPr wrap="square">
            <a:spAutoFit/>
          </a:bodyPr>
          <a:lstStyle/>
          <a:p>
            <a:r>
              <a:rPr sz="3600" b="1">
                <a:solidFill>
                  <a:srgbClr val="1F3864"/>
                </a:solidFill>
                <a:latin typeface="Arial"/>
              </a:rPr>
              <a:t>NxM Templates for SuperCDMS SNOLAB Run 4 — Ge Activation Data</a:t>
            </a:r>
          </a:p>
        </p:txBody>
      </p:sp>
      <p:sp>
        <p:nvSpPr>
          <p:cNvPr id="3" name="TextBox 2"/>
          <p:cNvSpPr txBox="1"/>
          <p:nvPr/>
        </p:nvSpPr>
        <p:spPr>
          <a:xfrm>
            <a:off x="822960" y="3383280"/>
            <a:ext cx="10515600" cy="822960"/>
          </a:xfrm>
          <a:prstGeom prst="rect">
            <a:avLst/>
          </a:prstGeom>
          <a:noFill/>
        </p:spPr>
        <p:txBody>
          <a:bodyPr wrap="square">
            <a:spAutoFit/>
          </a:bodyPr>
          <a:lstStyle/>
          <a:p>
            <a:r>
              <a:rPr sz="1800">
                <a:solidFill>
                  <a:srgbClr val="666666"/>
                </a:solidFill>
                <a:latin typeface="Arial"/>
              </a:rPr>
              <a:t>K-line event selection  ·  free-pretrigger two-exponential fits  ·  1x1 and NxM (PCA) templates</a:t>
            </a:r>
          </a:p>
        </p:txBody>
      </p:sp>
      <p:sp>
        <p:nvSpPr>
          <p:cNvPr id="4" name="TextBox 3"/>
          <p:cNvSpPr txBox="1"/>
          <p:nvPr/>
        </p:nvSpPr>
        <p:spPr>
          <a:xfrm>
            <a:off x="822960" y="5120640"/>
            <a:ext cx="10515600" cy="731520"/>
          </a:xfrm>
          <a:prstGeom prst="rect">
            <a:avLst/>
          </a:prstGeom>
          <a:noFill/>
        </p:spPr>
        <p:txBody>
          <a:bodyPr wrap="square">
            <a:spAutoFit/>
          </a:bodyPr>
          <a:lstStyle/>
          <a:p>
            <a:r>
              <a:rPr sz="1600">
                <a:solidFill>
                  <a:srgbClr val="333333"/>
                </a:solidFill>
                <a:latin typeface="Arial"/>
              </a:rPr>
              <a:t>Zhiheng Li  —  July 2026</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02920" y="256032"/>
            <a:ext cx="11247120" cy="685800"/>
          </a:xfrm>
          <a:prstGeom prst="rect">
            <a:avLst/>
          </a:prstGeom>
          <a:noFill/>
        </p:spPr>
        <p:txBody>
          <a:bodyPr wrap="square">
            <a:spAutoFit/>
          </a:bodyPr>
          <a:lstStyle/>
          <a:p>
            <a:r>
              <a:rPr sz="2700" b="1">
                <a:solidFill>
                  <a:srgbClr val="1F3864"/>
                </a:solidFill>
                <a:latin typeface="Arial"/>
              </a:rPr>
              <a:t>From the Ge-activation K-line to an event sample</a:t>
            </a:r>
          </a:p>
          <a:p>
            <a:r>
              <a:rPr sz="1400">
                <a:solidFill>
                  <a:srgbClr val="666666"/>
                </a:solidFill>
                <a:latin typeface="Arial"/>
              </a:rPr>
              <a:t>Goal: one clean, minimally-biased pulse population per detector × channel</a:t>
            </a:r>
          </a:p>
        </p:txBody>
      </p:sp>
      <p:sp>
        <p:nvSpPr>
          <p:cNvPr id="3" name="Rectangle 2"/>
          <p:cNvSpPr/>
          <p:nvPr/>
        </p:nvSpPr>
        <p:spPr>
          <a:xfrm>
            <a:off x="502920" y="932688"/>
            <a:ext cx="11247120" cy="18000"/>
          </a:xfrm>
          <a:prstGeom prst="rect">
            <a:avLst/>
          </a:prstGeom>
          <a:solidFill>
            <a:srgbClr val="1F386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228600" y="1078992"/>
            <a:ext cx="11247120" cy="1325880"/>
          </a:xfrm>
          <a:prstGeom prst="rect">
            <a:avLst/>
          </a:prstGeom>
          <a:noFill/>
        </p:spPr>
        <p:txBody>
          <a:bodyPr wrap="square">
            <a:spAutoFit/>
          </a:bodyPr>
          <a:lstStyle/>
          <a:p>
            <a:pPr>
              <a:spcAft>
                <a:spcPts val="500"/>
              </a:spcAft>
            </a:pPr>
            <a:r>
              <a:rPr sz="1400">
                <a:solidFill>
                  <a:srgbClr val="333333"/>
                </a:solidFill>
                <a:latin typeface="Arial"/>
              </a:rPr>
              <a:t>• Per detector, Prof. Saab's study marked the 10.37 keV K-line position in PTOFamps — the red line in each panel below</a:t>
            </a:r>
          </a:p>
          <a:p>
            <a:pPr>
              <a:spcAft>
                <a:spcPts val="500"/>
              </a:spcAft>
            </a:pPr>
            <a:r>
              <a:rPr sz="1400">
                <a:solidFill>
                  <a:srgbClr val="333333"/>
                </a:solidFill>
                <a:latin typeface="Arial"/>
              </a:rPr>
              <a:t>• Our event selection: a PTOFamps window bracketing the red line — position ×/÷ 1.35, a rough, somewhat arbitrary eyeballed choice; deliberately minimal, no other cuts</a:t>
            </a:r>
          </a:p>
          <a:p>
            <a:pPr>
              <a:spcAft>
                <a:spcPts val="500"/>
              </a:spcAft>
            </a:pPr>
            <a:r>
              <a:rPr sz="1400">
                <a:solidFill>
                  <a:srgbClr val="333333"/>
                </a:solidFill>
                <a:latin typeface="Arial"/>
              </a:rPr>
              <a:t>• For every selected event: cache the fully unprocessed raw MIDAS traces of all channels + event metadata</a:t>
            </a:r>
          </a:p>
          <a:p>
            <a:pPr>
              <a:spcAft>
                <a:spcPts val="500"/>
              </a:spcAft>
            </a:pPr>
            <a:r>
              <a:rPr sz="1400">
                <a:solidFill>
                  <a:srgbClr val="333333"/>
                </a:solidFill>
                <a:latin typeface="Arial"/>
              </a:rPr>
              <a:t>• 13 detectors (zips) × 27–30 series → ~120 GB raw cache</a:t>
            </a:r>
          </a:p>
        </p:txBody>
      </p:sp>
      <p:sp>
        <p:nvSpPr>
          <p:cNvPr id="5" name="TextBox 4"/>
          <p:cNvSpPr txBox="1"/>
          <p:nvPr/>
        </p:nvSpPr>
        <p:spPr>
          <a:xfrm>
            <a:off x="8549640" y="274320"/>
            <a:ext cx="3200400" cy="658368"/>
          </a:xfrm>
          <a:prstGeom prst="rect">
            <a:avLst/>
          </a:prstGeom>
          <a:noFill/>
        </p:spPr>
        <p:txBody>
          <a:bodyPr wrap="square">
            <a:spAutoFit/>
          </a:bodyPr>
          <a:lstStyle/>
          <a:p>
            <a:pPr algn="r"/>
            <a:r>
              <a:rPr sz="1000">
                <a:solidFill>
                  <a:srgbClr val="666666"/>
                </a:solidFill>
                <a:latin typeface="Arial"/>
              </a:rPr>
              <a:t>Data: Ge Activation Data — Ops Shift 260612</a:t>
            </a:r>
          </a:p>
          <a:p>
            <a:pPr algn="r"/>
            <a:r>
              <a:rPr sz="1000">
                <a:solidFill>
                  <a:srgbClr val="666666"/>
                </a:solidFill>
                <a:latin typeface="Arial"/>
                <a:hlinkClick r:id="rId2"/>
              </a:rPr>
              <a:t>Credit: Prof. Tarek Saab  ·  SuperCDMS Confluence</a:t>
            </a:r>
          </a:p>
        </p:txBody>
      </p:sp>
      <p:pic>
        <p:nvPicPr>
          <p:cNvPr id="6" name="Picture 5" descr="kline_all_zips.png"/>
          <p:cNvPicPr>
            <a:picLocks noChangeAspect="1"/>
          </p:cNvPicPr>
          <p:nvPr/>
        </p:nvPicPr>
        <p:blipFill>
          <a:blip r:embed="rId3"/>
          <a:stretch>
            <a:fillRect/>
          </a:stretch>
        </p:blipFill>
        <p:spPr>
          <a:xfrm>
            <a:off x="1059892" y="2487168"/>
            <a:ext cx="10078312" cy="3977639"/>
          </a:xfrm>
          <a:prstGeom prst="rect">
            <a:avLst/>
          </a:prstGeom>
        </p:spPr>
      </p:pic>
      <p:sp>
        <p:nvSpPr>
          <p:cNvPr id="7" name="TextBox 6"/>
          <p:cNvSpPr txBox="1"/>
          <p:nvPr/>
        </p:nvSpPr>
        <p:spPr>
          <a:xfrm>
            <a:off x="384048" y="6494807"/>
            <a:ext cx="11430000" cy="274320"/>
          </a:xfrm>
          <a:prstGeom prst="rect">
            <a:avLst/>
          </a:prstGeom>
          <a:noFill/>
        </p:spPr>
        <p:txBody>
          <a:bodyPr wrap="square">
            <a:spAutoFit/>
          </a:bodyPr>
          <a:lstStyle/>
          <a:p>
            <a:pPr algn="ctr"/>
            <a:r>
              <a:rPr sz="1100" i="1">
                <a:solidFill>
                  <a:srgbClr val="666666"/>
                </a:solidFill>
                <a:latin typeface="Arial"/>
              </a:rPr>
              <a:t>All 13 detectors, PTOFamps spectra (Prof. Saab's study)</a:t>
            </a:r>
          </a:p>
        </p:txBody>
      </p:sp>
      <p:sp>
        <p:nvSpPr>
          <p:cNvPr id="8" name="TextBox 7"/>
          <p:cNvSpPr txBox="1"/>
          <p:nvPr/>
        </p:nvSpPr>
        <p:spPr>
          <a:xfrm>
            <a:off x="10957255" y="6446520"/>
            <a:ext cx="1005840" cy="274320"/>
          </a:xfrm>
          <a:prstGeom prst="rect">
            <a:avLst/>
          </a:prstGeom>
          <a:noFill/>
        </p:spPr>
        <p:txBody>
          <a:bodyPr wrap="none">
            <a:spAutoFit/>
          </a:bodyPr>
          <a:lstStyle/>
          <a:p>
            <a:pPr algn="r"/>
            <a:r>
              <a:rPr sz="1100">
                <a:solidFill>
                  <a:srgbClr val="666666"/>
                </a:solidFill>
                <a:latin typeface="Arial"/>
              </a:rPr>
              <a:t>2 / 11</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02920" y="256032"/>
            <a:ext cx="11247120" cy="685800"/>
          </a:xfrm>
          <a:prstGeom prst="rect">
            <a:avLst/>
          </a:prstGeom>
          <a:noFill/>
        </p:spPr>
        <p:txBody>
          <a:bodyPr wrap="square">
            <a:spAutoFit/>
          </a:bodyPr>
          <a:lstStyle/>
          <a:p>
            <a:r>
              <a:rPr sz="2700" b="1">
                <a:solidFill>
                  <a:srgbClr val="1F3864"/>
                </a:solidFill>
                <a:latin typeface="Arial"/>
              </a:rPr>
              <a:t>Fit quality at a glance — event × channel grids</a:t>
            </a:r>
          </a:p>
        </p:txBody>
      </p:sp>
      <p:sp>
        <p:nvSpPr>
          <p:cNvPr id="3" name="Rectangle 2"/>
          <p:cNvSpPr/>
          <p:nvPr/>
        </p:nvSpPr>
        <p:spPr>
          <a:xfrm>
            <a:off x="502920" y="932688"/>
            <a:ext cx="11247120" cy="18000"/>
          </a:xfrm>
          <a:prstGeom prst="rect">
            <a:avLst/>
          </a:prstGeom>
          <a:solidFill>
            <a:srgbClr val="1F386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1097280"/>
            <a:ext cx="11247120" cy="1188720"/>
          </a:xfrm>
          <a:prstGeom prst="rect">
            <a:avLst/>
          </a:prstGeom>
          <a:noFill/>
        </p:spPr>
        <p:txBody>
          <a:bodyPr wrap="square">
            <a:spAutoFit/>
          </a:bodyPr>
          <a:lstStyle/>
          <a:p>
            <a:pPr>
              <a:spcAft>
                <a:spcPts val="500"/>
              </a:spcAft>
            </a:pPr>
            <a:r>
              <a:rPr sz="1400">
                <a:solidFill>
                  <a:srgbClr val="333333"/>
                </a:solidFill>
                <a:latin typeface="Arial"/>
              </a:rPr>
              <a:t>• One row per event, one column per channel: the low-passed trace (blue) with the fitted pulse model (red) overlaid</a:t>
            </a:r>
          </a:p>
          <a:p>
            <a:pPr>
              <a:spcAft>
                <a:spcPts val="500"/>
              </a:spcAft>
            </a:pPr>
            <a:r>
              <a:rPr sz="1400">
                <a:solidFill>
                  <a:srgbClr val="333333"/>
                </a:solidFill>
                <a:latin typeface="Arial"/>
              </a:rPr>
              <a:t>• A real event fits well in every channel at once; a noise trigger fails in every channel — a clean handle on which events are real (how we fit each trace: next slide)</a:t>
            </a:r>
          </a:p>
        </p:txBody>
      </p:sp>
      <p:pic>
        <p:nvPicPr>
          <p:cNvPr id="5" name="Picture 4" descr="fit_examples_zip7_noise.png"/>
          <p:cNvPicPr>
            <a:picLocks noChangeAspect="1"/>
          </p:cNvPicPr>
          <p:nvPr/>
        </p:nvPicPr>
        <p:blipFill>
          <a:blip r:embed="rId2"/>
          <a:stretch>
            <a:fillRect/>
          </a:stretch>
        </p:blipFill>
        <p:spPr>
          <a:xfrm>
            <a:off x="182880" y="2514600"/>
            <a:ext cx="5989320" cy="2781247"/>
          </a:xfrm>
          <a:prstGeom prst="rect">
            <a:avLst/>
          </a:prstGeom>
        </p:spPr>
      </p:pic>
      <p:sp>
        <p:nvSpPr>
          <p:cNvPr id="6" name="TextBox 5"/>
          <p:cNvSpPr txBox="1"/>
          <p:nvPr/>
        </p:nvSpPr>
        <p:spPr>
          <a:xfrm>
            <a:off x="182880" y="5325847"/>
            <a:ext cx="5989320" cy="274320"/>
          </a:xfrm>
          <a:prstGeom prst="rect">
            <a:avLst/>
          </a:prstGeom>
          <a:noFill/>
        </p:spPr>
        <p:txBody>
          <a:bodyPr wrap="square">
            <a:spAutoFit/>
          </a:bodyPr>
          <a:lstStyle/>
          <a:p>
            <a:pPr algn="ctr"/>
            <a:r>
              <a:rPr sz="1100" i="1">
                <a:solidFill>
                  <a:srgbClr val="666666"/>
                </a:solidFill>
                <a:latin typeface="Arial"/>
              </a:rPr>
              <a:t>Noise triggers: the fit fails in every channel at once</a:t>
            </a:r>
          </a:p>
        </p:txBody>
      </p:sp>
      <p:pic>
        <p:nvPicPr>
          <p:cNvPr id="7" name="Picture 6" descr="fit_examples_zip7_good.png"/>
          <p:cNvPicPr>
            <a:picLocks noChangeAspect="1"/>
          </p:cNvPicPr>
          <p:nvPr/>
        </p:nvPicPr>
        <p:blipFill>
          <a:blip r:embed="rId3"/>
          <a:stretch>
            <a:fillRect/>
          </a:stretch>
        </p:blipFill>
        <p:spPr>
          <a:xfrm>
            <a:off x="6035040" y="2514600"/>
            <a:ext cx="5989320" cy="2677983"/>
          </a:xfrm>
          <a:prstGeom prst="rect">
            <a:avLst/>
          </a:prstGeom>
        </p:spPr>
      </p:pic>
      <p:sp>
        <p:nvSpPr>
          <p:cNvPr id="8" name="TextBox 7"/>
          <p:cNvSpPr txBox="1"/>
          <p:nvPr/>
        </p:nvSpPr>
        <p:spPr>
          <a:xfrm>
            <a:off x="6035040" y="5222583"/>
            <a:ext cx="5989320" cy="274320"/>
          </a:xfrm>
          <a:prstGeom prst="rect">
            <a:avLst/>
          </a:prstGeom>
          <a:noFill/>
        </p:spPr>
        <p:txBody>
          <a:bodyPr wrap="square">
            <a:spAutoFit/>
          </a:bodyPr>
          <a:lstStyle/>
          <a:p>
            <a:pPr algn="ctr"/>
            <a:r>
              <a:rPr sz="1100" i="1">
                <a:solidFill>
                  <a:srgbClr val="666666"/>
                </a:solidFill>
                <a:latin typeface="Arial"/>
              </a:rPr>
              <a:t>K-line events: consistent good fits across channels</a:t>
            </a:r>
          </a:p>
        </p:txBody>
      </p:sp>
      <p:sp>
        <p:nvSpPr>
          <p:cNvPr id="9" name="TextBox 8"/>
          <p:cNvSpPr txBox="1"/>
          <p:nvPr/>
        </p:nvSpPr>
        <p:spPr>
          <a:xfrm>
            <a:off x="10957255" y="6446520"/>
            <a:ext cx="1005840" cy="274320"/>
          </a:xfrm>
          <a:prstGeom prst="rect">
            <a:avLst/>
          </a:prstGeom>
          <a:noFill/>
        </p:spPr>
        <p:txBody>
          <a:bodyPr wrap="none">
            <a:spAutoFit/>
          </a:bodyPr>
          <a:lstStyle/>
          <a:p>
            <a:pPr algn="r"/>
            <a:r>
              <a:rPr sz="1100">
                <a:solidFill>
                  <a:srgbClr val="666666"/>
                </a:solidFill>
                <a:latin typeface="Arial"/>
              </a:rPr>
              <a:t>3 / 11</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02920" y="256032"/>
            <a:ext cx="11247120" cy="685800"/>
          </a:xfrm>
          <a:prstGeom prst="rect">
            <a:avLst/>
          </a:prstGeom>
          <a:noFill/>
        </p:spPr>
        <p:txBody>
          <a:bodyPr wrap="square">
            <a:spAutoFit/>
          </a:bodyPr>
          <a:lstStyle/>
          <a:p>
            <a:r>
              <a:rPr sz="2700" b="1">
                <a:solidFill>
                  <a:srgbClr val="1F3864"/>
                </a:solidFill>
                <a:latin typeface="Arial"/>
              </a:rPr>
              <a:t>Per-trace algorithm: low-pass → fit → align</a:t>
            </a:r>
          </a:p>
        </p:txBody>
      </p:sp>
      <p:sp>
        <p:nvSpPr>
          <p:cNvPr id="3" name="Rectangle 2"/>
          <p:cNvSpPr/>
          <p:nvPr/>
        </p:nvSpPr>
        <p:spPr>
          <a:xfrm>
            <a:off x="502920" y="932688"/>
            <a:ext cx="11247120" cy="18000"/>
          </a:xfrm>
          <a:prstGeom prst="rect">
            <a:avLst/>
          </a:prstGeom>
          <a:solidFill>
            <a:srgbClr val="1F386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1097280"/>
            <a:ext cx="11247120" cy="1234440"/>
          </a:xfrm>
          <a:prstGeom prst="rect">
            <a:avLst/>
          </a:prstGeom>
          <a:noFill/>
        </p:spPr>
        <p:txBody>
          <a:bodyPr wrap="square">
            <a:spAutoFit/>
          </a:bodyPr>
          <a:lstStyle/>
          <a:p>
            <a:pPr>
              <a:spcAft>
                <a:spcPts val="600"/>
              </a:spcAft>
            </a:pPr>
            <a:r>
              <a:rPr sz="1600" b="1">
                <a:solidFill>
                  <a:srgbClr val="1F3864"/>
                </a:solidFill>
                <a:latin typeface="Arial"/>
              </a:rPr>
              <a:t>1.  Low-pass</a:t>
            </a:r>
            <a:r>
              <a:rPr sz="1600">
                <a:solidFill>
                  <a:srgbClr val="333333"/>
                </a:solidFill>
                <a:latin typeface="Arial"/>
              </a:rPr>
              <a:t> — 100 kHz 4th-order Butterworth</a:t>
            </a:r>
          </a:p>
          <a:p>
            <a:pPr>
              <a:spcAft>
                <a:spcPts val="600"/>
              </a:spcAft>
            </a:pPr>
            <a:r>
              <a:rPr sz="1600" b="1">
                <a:solidFill>
                  <a:srgbClr val="1F3864"/>
                </a:solidFill>
                <a:latin typeface="Arial"/>
              </a:rPr>
              <a:t>2.  Normalize</a:t>
            </a:r>
            <a:r>
              <a:rPr sz="1600">
                <a:solidFill>
                  <a:srgbClr val="333333"/>
                </a:solidFill>
                <a:latin typeface="Arial"/>
              </a:rPr>
              <a:t> — subtract the baseline, scale the trace to unit peak</a:t>
            </a:r>
          </a:p>
          <a:p>
            <a:pPr>
              <a:spcAft>
                <a:spcPts val="600"/>
              </a:spcAft>
            </a:pPr>
            <a:r>
              <a:rPr sz="1600" b="1">
                <a:solidFill>
                  <a:srgbClr val="1F3864"/>
                </a:solidFill>
                <a:latin typeface="Arial"/>
              </a:rPr>
              <a:t>3.  Fit</a:t>
            </a:r>
            <a:r>
              <a:rPr sz="1600">
                <a:solidFill>
                  <a:srgbClr val="333333"/>
                </a:solidFill>
                <a:latin typeface="Arial"/>
              </a:rPr>
              <a:t> — two-exponential model, all 5 parameters free (including the pretrigger t₀):</a:t>
            </a:r>
          </a:p>
        </p:txBody>
      </p:sp>
      <p:pic>
        <p:nvPicPr>
          <p:cNvPr id="5" name="Picture 4" descr="formula_2exp.png"/>
          <p:cNvPicPr>
            <a:picLocks noChangeAspect="1"/>
          </p:cNvPicPr>
          <p:nvPr/>
        </p:nvPicPr>
        <p:blipFill>
          <a:blip r:embed="rId2"/>
          <a:stretch>
            <a:fillRect/>
          </a:stretch>
        </p:blipFill>
        <p:spPr>
          <a:xfrm>
            <a:off x="3114415" y="2395728"/>
            <a:ext cx="5932689" cy="868680"/>
          </a:xfrm>
          <a:prstGeom prst="rect">
            <a:avLst/>
          </a:prstGeom>
        </p:spPr>
      </p:pic>
      <p:sp>
        <p:nvSpPr>
          <p:cNvPr id="6" name="TextBox 5"/>
          <p:cNvSpPr txBox="1"/>
          <p:nvPr/>
        </p:nvSpPr>
        <p:spPr>
          <a:xfrm>
            <a:off x="502920" y="3337560"/>
            <a:ext cx="11247120" cy="1371600"/>
          </a:xfrm>
          <a:prstGeom prst="rect">
            <a:avLst/>
          </a:prstGeom>
          <a:noFill/>
        </p:spPr>
        <p:txBody>
          <a:bodyPr wrap="square">
            <a:spAutoFit/>
          </a:bodyPr>
          <a:lstStyle/>
          <a:p>
            <a:pPr>
              <a:spcAft>
                <a:spcPts val="600"/>
              </a:spcAft>
            </a:pPr>
            <a:r>
              <a:rPr sz="1600" b="1">
                <a:solidFill>
                  <a:srgbClr val="1F3864"/>
                </a:solidFill>
                <a:latin typeface="Arial"/>
              </a:rPr>
              <a:t>4.  Two quality numbers per trace</a:t>
            </a:r>
            <a:r>
              <a:rPr sz="1600">
                <a:solidFill>
                  <a:srgbClr val="333333"/>
                </a:solidFill>
                <a:latin typeface="Arial"/>
              </a:rPr>
              <a:t> (recorded here, not cut yet):</a:t>
            </a:r>
          </a:p>
        </p:txBody>
      </p:sp>
      <p:sp>
        <p:nvSpPr>
          <p:cNvPr id="7" name="TextBox 6"/>
          <p:cNvSpPr txBox="1"/>
          <p:nvPr/>
        </p:nvSpPr>
        <p:spPr>
          <a:xfrm>
            <a:off x="1051560" y="3675887"/>
            <a:ext cx="10607040" cy="822960"/>
          </a:xfrm>
          <a:prstGeom prst="rect">
            <a:avLst/>
          </a:prstGeom>
          <a:noFill/>
        </p:spPr>
        <p:txBody>
          <a:bodyPr wrap="square">
            <a:spAutoFit/>
          </a:bodyPr>
          <a:lstStyle/>
          <a:p>
            <a:pPr>
              <a:spcAft>
                <a:spcPts val="400"/>
              </a:spcAft>
            </a:pPr>
            <a:r>
              <a:rPr sz="1500" b="1">
                <a:solidFill>
                  <a:srgbClr val="333333"/>
                </a:solidFill>
                <a:latin typeface="Arial"/>
              </a:rPr>
              <a:t>•  fit_ok</a:t>
            </a:r>
            <a:r>
              <a:rPr sz="1500">
                <a:solidFill>
                  <a:srgbClr val="333333"/>
                </a:solidFill>
                <a:latin typeface="Arial"/>
              </a:rPr>
              <a:t> — amplitude is positive, and the pulse rises faster than it falls</a:t>
            </a:r>
          </a:p>
          <a:p>
            <a:pPr>
              <a:spcAft>
                <a:spcPts val="400"/>
              </a:spcAft>
            </a:pPr>
            <a:r>
              <a:rPr sz="1500" b="1">
                <a:solidFill>
                  <a:srgbClr val="333333"/>
                </a:solidFill>
                <a:latin typeface="Arial"/>
              </a:rPr>
              <a:t>•  NRMSE</a:t>
            </a:r>
            <a:r>
              <a:rPr sz="1500">
                <a:solidFill>
                  <a:srgbClr val="333333"/>
                </a:solidFill>
                <a:latin typeface="Arial"/>
              </a:rPr>
              <a:t> — RMS of the fit residual ÷ pulse peak  (smaller = better fit)</a:t>
            </a:r>
          </a:p>
        </p:txBody>
      </p:sp>
      <p:sp>
        <p:nvSpPr>
          <p:cNvPr id="8" name="TextBox 7"/>
          <p:cNvSpPr txBox="1"/>
          <p:nvPr/>
        </p:nvSpPr>
        <p:spPr>
          <a:xfrm>
            <a:off x="10957255" y="6446520"/>
            <a:ext cx="1005840" cy="274320"/>
          </a:xfrm>
          <a:prstGeom prst="rect">
            <a:avLst/>
          </a:prstGeom>
          <a:noFill/>
        </p:spPr>
        <p:txBody>
          <a:bodyPr wrap="none">
            <a:spAutoFit/>
          </a:bodyPr>
          <a:lstStyle/>
          <a:p>
            <a:pPr algn="r"/>
            <a:r>
              <a:rPr sz="1100">
                <a:solidFill>
                  <a:srgbClr val="666666"/>
                </a:solidFill>
                <a:latin typeface="Arial"/>
              </a:rPr>
              <a:t>4 / 11</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02920" y="256032"/>
            <a:ext cx="11247120" cy="685800"/>
          </a:xfrm>
          <a:prstGeom prst="rect">
            <a:avLst/>
          </a:prstGeom>
          <a:noFill/>
        </p:spPr>
        <p:txBody>
          <a:bodyPr wrap="square">
            <a:spAutoFit/>
          </a:bodyPr>
          <a:lstStyle/>
          <a:p>
            <a:r>
              <a:rPr sz="2700" b="1">
                <a:solidFill>
                  <a:srgbClr val="1F3864"/>
                </a:solidFill>
                <a:latin typeface="Arial"/>
              </a:rPr>
              <a:t>5. Align — shift each trace to a common pretrigger</a:t>
            </a:r>
          </a:p>
        </p:txBody>
      </p:sp>
      <p:sp>
        <p:nvSpPr>
          <p:cNvPr id="3" name="Rectangle 2"/>
          <p:cNvSpPr/>
          <p:nvPr/>
        </p:nvSpPr>
        <p:spPr>
          <a:xfrm>
            <a:off x="502920" y="932688"/>
            <a:ext cx="11247120" cy="18000"/>
          </a:xfrm>
          <a:prstGeom prst="rect">
            <a:avLst/>
          </a:prstGeom>
          <a:solidFill>
            <a:srgbClr val="1F386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1097280"/>
            <a:ext cx="11247120" cy="868680"/>
          </a:xfrm>
          <a:prstGeom prst="rect">
            <a:avLst/>
          </a:prstGeom>
          <a:noFill/>
        </p:spPr>
        <p:txBody>
          <a:bodyPr wrap="square">
            <a:spAutoFit/>
          </a:bodyPr>
          <a:lstStyle/>
          <a:p>
            <a:pPr>
              <a:spcAft>
                <a:spcPts val="500"/>
              </a:spcAft>
            </a:pPr>
            <a:r>
              <a:rPr sz="1600">
                <a:solidFill>
                  <a:srgbClr val="333333"/>
                </a:solidFill>
                <a:latin typeface="Arial"/>
              </a:rPr>
              <a:t>• Shift the measured trace by (fitted pretrigger − 16050) — a pure translation. Drawn at the common pretrigger, the fitted curves stack into one shape family:</a:t>
            </a:r>
          </a:p>
        </p:txBody>
      </p:sp>
      <p:pic>
        <p:nvPicPr>
          <p:cNvPr id="5" name="Picture 4" descr="fan_zip7_PBS1_before_zoom.png"/>
          <p:cNvPicPr>
            <a:picLocks noChangeAspect="1"/>
          </p:cNvPicPr>
          <p:nvPr/>
        </p:nvPicPr>
        <p:blipFill>
          <a:blip r:embed="rId2"/>
          <a:stretch>
            <a:fillRect/>
          </a:stretch>
        </p:blipFill>
        <p:spPr>
          <a:xfrm>
            <a:off x="502920" y="2331720"/>
            <a:ext cx="5806440" cy="3463126"/>
          </a:xfrm>
          <a:prstGeom prst="rect">
            <a:avLst/>
          </a:prstGeom>
        </p:spPr>
      </p:pic>
      <p:sp>
        <p:nvSpPr>
          <p:cNvPr id="6" name="TextBox 5"/>
          <p:cNvSpPr txBox="1"/>
          <p:nvPr/>
        </p:nvSpPr>
        <p:spPr>
          <a:xfrm>
            <a:off x="502920" y="5824846"/>
            <a:ext cx="5806440" cy="274320"/>
          </a:xfrm>
          <a:prstGeom prst="rect">
            <a:avLst/>
          </a:prstGeom>
          <a:noFill/>
        </p:spPr>
        <p:txBody>
          <a:bodyPr wrap="square">
            <a:spAutoFit/>
          </a:bodyPr>
          <a:lstStyle/>
          <a:p>
            <a:pPr algn="ctr"/>
            <a:r>
              <a:rPr sz="1100" i="1">
                <a:solidFill>
                  <a:srgbClr val="666666"/>
                </a:solidFill>
                <a:latin typeface="Arial"/>
              </a:rPr>
              <a:t>All fit_ok fitted curves (Z7 PBS1) — no cut</a:t>
            </a:r>
          </a:p>
        </p:txBody>
      </p:sp>
      <p:pic>
        <p:nvPicPr>
          <p:cNvPr id="7" name="Picture 6" descr="fan_zip7_PBS1_nrmse_zoom.png"/>
          <p:cNvPicPr>
            <a:picLocks noChangeAspect="1"/>
          </p:cNvPicPr>
          <p:nvPr/>
        </p:nvPicPr>
        <p:blipFill>
          <a:blip r:embed="rId3"/>
          <a:stretch>
            <a:fillRect/>
          </a:stretch>
        </p:blipFill>
        <p:spPr>
          <a:xfrm>
            <a:off x="6309360" y="2331720"/>
            <a:ext cx="5806440" cy="3463126"/>
          </a:xfrm>
          <a:prstGeom prst="rect">
            <a:avLst/>
          </a:prstGeom>
        </p:spPr>
      </p:pic>
      <p:sp>
        <p:nvSpPr>
          <p:cNvPr id="8" name="TextBox 7"/>
          <p:cNvSpPr txBox="1"/>
          <p:nvPr/>
        </p:nvSpPr>
        <p:spPr>
          <a:xfrm>
            <a:off x="6309360" y="5824846"/>
            <a:ext cx="5806440" cy="274320"/>
          </a:xfrm>
          <a:prstGeom prst="rect">
            <a:avLst/>
          </a:prstGeom>
          <a:noFill/>
        </p:spPr>
        <p:txBody>
          <a:bodyPr wrap="square">
            <a:spAutoFit/>
          </a:bodyPr>
          <a:lstStyle/>
          <a:p>
            <a:pPr algn="ctr"/>
            <a:r>
              <a:rPr sz="1100" i="1">
                <a:solidFill>
                  <a:srgbClr val="666666"/>
                </a:solidFill>
                <a:latin typeface="Arial"/>
              </a:rPr>
              <a:t>After NRMSE ≤ 0.4 — one tight shape family</a:t>
            </a:r>
          </a:p>
        </p:txBody>
      </p:sp>
      <p:sp>
        <p:nvSpPr>
          <p:cNvPr id="9" name="TextBox 8"/>
          <p:cNvSpPr txBox="1"/>
          <p:nvPr/>
        </p:nvSpPr>
        <p:spPr>
          <a:xfrm>
            <a:off x="10957255" y="6446520"/>
            <a:ext cx="1005840" cy="274320"/>
          </a:xfrm>
          <a:prstGeom prst="rect">
            <a:avLst/>
          </a:prstGeom>
          <a:noFill/>
        </p:spPr>
        <p:txBody>
          <a:bodyPr wrap="none">
            <a:spAutoFit/>
          </a:bodyPr>
          <a:lstStyle/>
          <a:p>
            <a:pPr algn="r"/>
            <a:r>
              <a:rPr sz="1100">
                <a:solidFill>
                  <a:srgbClr val="666666"/>
                </a:solidFill>
                <a:latin typeface="Arial"/>
              </a:rPr>
              <a:t>5 / 11</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02920" y="256032"/>
            <a:ext cx="11247120" cy="685800"/>
          </a:xfrm>
          <a:prstGeom prst="rect">
            <a:avLst/>
          </a:prstGeom>
          <a:noFill/>
        </p:spPr>
        <p:txBody>
          <a:bodyPr wrap="square">
            <a:spAutoFit/>
          </a:bodyPr>
          <a:lstStyle/>
          <a:p>
            <a:r>
              <a:rPr sz="2700" b="1">
                <a:solidFill>
                  <a:srgbClr val="1F3864"/>
                </a:solidFill>
                <a:latin typeface="Arial"/>
              </a:rPr>
              <a:t>Quality cut 1: NRMSE ≤ 0.4 — where the number comes from</a:t>
            </a:r>
          </a:p>
        </p:txBody>
      </p:sp>
      <p:sp>
        <p:nvSpPr>
          <p:cNvPr id="3" name="Rectangle 2"/>
          <p:cNvSpPr/>
          <p:nvPr/>
        </p:nvSpPr>
        <p:spPr>
          <a:xfrm>
            <a:off x="502920" y="932688"/>
            <a:ext cx="11247120" cy="18000"/>
          </a:xfrm>
          <a:prstGeom prst="rect">
            <a:avLst/>
          </a:prstGeom>
          <a:solidFill>
            <a:srgbClr val="1F386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1097280"/>
            <a:ext cx="11247120" cy="1417320"/>
          </a:xfrm>
          <a:prstGeom prst="rect">
            <a:avLst/>
          </a:prstGeom>
          <a:noFill/>
        </p:spPr>
        <p:txBody>
          <a:bodyPr wrap="square">
            <a:spAutoFit/>
          </a:bodyPr>
          <a:lstStyle/>
          <a:p>
            <a:pPr>
              <a:spcAft>
                <a:spcPts val="500"/>
              </a:spcAft>
            </a:pPr>
            <a:r>
              <a:rPr sz="1400">
                <a:solidFill>
                  <a:srgbClr val="333333"/>
                </a:solidFill>
                <a:latin typeface="Arial"/>
              </a:rPr>
              <a:t>• NRMSE of fit_ok events is bimodal: good fits (median ≈ 0.05–0.1) vs noise triggers (≈ 1–2), valley at ≈ 0.4–0.5</a:t>
            </a:r>
          </a:p>
          <a:p>
            <a:pPr>
              <a:spcAft>
                <a:spcPts val="500"/>
              </a:spcAft>
            </a:pPr>
            <a:r>
              <a:rPr sz="1400">
                <a:solidFill>
                  <a:srgbClr val="333333"/>
                </a:solidFill>
                <a:latin typeface="Arial"/>
              </a:rPr>
              <a:t>• The cut sits in the valley — it is read off the distribution, not tuned on the templates</a:t>
            </a:r>
          </a:p>
          <a:p>
            <a:pPr>
              <a:spcAft>
                <a:spcPts val="500"/>
              </a:spcAft>
            </a:pPr>
            <a:r>
              <a:rPr sz="1400">
                <a:solidFill>
                  <a:srgbClr val="333333"/>
                </a:solidFill>
                <a:latin typeface="Arial"/>
              </a:rPr>
              <a:t>• Weak detectors (Z1, Z4, Z6, Z18, Z19, Z22, Z24): the PTOF window admits a noise-dominated mixture — this cut is what extracts the real-pulse population</a:t>
            </a:r>
          </a:p>
        </p:txBody>
      </p:sp>
      <p:pic>
        <p:nvPicPr>
          <p:cNvPr id="5" name="Picture 4" descr="nrmse_zip7_PBS1.png"/>
          <p:cNvPicPr>
            <a:picLocks noChangeAspect="1"/>
          </p:cNvPicPr>
          <p:nvPr/>
        </p:nvPicPr>
        <p:blipFill>
          <a:blip r:embed="rId2"/>
          <a:stretch>
            <a:fillRect/>
          </a:stretch>
        </p:blipFill>
        <p:spPr>
          <a:xfrm>
            <a:off x="1970576" y="2651760"/>
            <a:ext cx="8220367" cy="1874519"/>
          </a:xfrm>
          <a:prstGeom prst="rect">
            <a:avLst/>
          </a:prstGeom>
        </p:spPr>
      </p:pic>
      <p:sp>
        <p:nvSpPr>
          <p:cNvPr id="6" name="TextBox 5"/>
          <p:cNvSpPr txBox="1"/>
          <p:nvPr/>
        </p:nvSpPr>
        <p:spPr>
          <a:xfrm>
            <a:off x="1737360" y="4556279"/>
            <a:ext cx="8686800" cy="274320"/>
          </a:xfrm>
          <a:prstGeom prst="rect">
            <a:avLst/>
          </a:prstGeom>
          <a:noFill/>
        </p:spPr>
        <p:txBody>
          <a:bodyPr wrap="square">
            <a:spAutoFit/>
          </a:bodyPr>
          <a:lstStyle/>
          <a:p>
            <a:pPr algn="ctr"/>
            <a:r>
              <a:rPr sz="1100" i="1">
                <a:solidFill>
                  <a:srgbClr val="666666"/>
                </a:solidFill>
                <a:latin typeface="Arial"/>
              </a:rPr>
              <a:t>Z7 PBS1 (quiet): two clean populations, log-log axes</a:t>
            </a:r>
          </a:p>
        </p:txBody>
      </p:sp>
      <p:pic>
        <p:nvPicPr>
          <p:cNvPr id="7" name="Picture 6" descr="nrmse_zip22_PAS1.png"/>
          <p:cNvPicPr>
            <a:picLocks noChangeAspect="1"/>
          </p:cNvPicPr>
          <p:nvPr/>
        </p:nvPicPr>
        <p:blipFill>
          <a:blip r:embed="rId3"/>
          <a:stretch>
            <a:fillRect/>
          </a:stretch>
        </p:blipFill>
        <p:spPr>
          <a:xfrm>
            <a:off x="1989344" y="4754880"/>
            <a:ext cx="8182831" cy="1874519"/>
          </a:xfrm>
          <a:prstGeom prst="rect">
            <a:avLst/>
          </a:prstGeom>
        </p:spPr>
      </p:pic>
      <p:sp>
        <p:nvSpPr>
          <p:cNvPr id="8" name="TextBox 7"/>
          <p:cNvSpPr txBox="1"/>
          <p:nvPr/>
        </p:nvSpPr>
        <p:spPr>
          <a:xfrm>
            <a:off x="1737360" y="6659399"/>
            <a:ext cx="8686800" cy="274320"/>
          </a:xfrm>
          <a:prstGeom prst="rect">
            <a:avLst/>
          </a:prstGeom>
          <a:noFill/>
        </p:spPr>
        <p:txBody>
          <a:bodyPr wrap="square">
            <a:spAutoFit/>
          </a:bodyPr>
          <a:lstStyle/>
          <a:p>
            <a:pPr algn="ctr"/>
            <a:r>
              <a:rPr sz="1100" i="1">
                <a:solidFill>
                  <a:srgbClr val="666666"/>
                </a:solidFill>
                <a:latin typeface="Arial"/>
              </a:rPr>
              <a:t>Z22 PAS1 (weak): noise population dominates — the window alone is not enough</a:t>
            </a:r>
          </a:p>
        </p:txBody>
      </p:sp>
      <p:sp>
        <p:nvSpPr>
          <p:cNvPr id="9" name="TextBox 8"/>
          <p:cNvSpPr txBox="1"/>
          <p:nvPr/>
        </p:nvSpPr>
        <p:spPr>
          <a:xfrm>
            <a:off x="10957255" y="6446520"/>
            <a:ext cx="1005840" cy="274320"/>
          </a:xfrm>
          <a:prstGeom prst="rect">
            <a:avLst/>
          </a:prstGeom>
          <a:noFill/>
        </p:spPr>
        <p:txBody>
          <a:bodyPr wrap="none">
            <a:spAutoFit/>
          </a:bodyPr>
          <a:lstStyle/>
          <a:p>
            <a:pPr algn="r"/>
            <a:r>
              <a:rPr sz="1100">
                <a:solidFill>
                  <a:srgbClr val="666666"/>
                </a:solidFill>
                <a:latin typeface="Arial"/>
              </a:rPr>
              <a:t>6 / 11</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02920" y="256032"/>
            <a:ext cx="11247120" cy="685800"/>
          </a:xfrm>
          <a:prstGeom prst="rect">
            <a:avLst/>
          </a:prstGeom>
          <a:noFill/>
        </p:spPr>
        <p:txBody>
          <a:bodyPr wrap="square">
            <a:spAutoFit/>
          </a:bodyPr>
          <a:lstStyle/>
          <a:p>
            <a:r>
              <a:rPr sz="2700" b="1">
                <a:solidFill>
                  <a:srgbClr val="1F3864"/>
                </a:solidFill>
                <a:latin typeface="Arial"/>
              </a:rPr>
              <a:t>The rejected population is noise — verified in the raw traces</a:t>
            </a:r>
          </a:p>
        </p:txBody>
      </p:sp>
      <p:sp>
        <p:nvSpPr>
          <p:cNvPr id="3" name="Rectangle 2"/>
          <p:cNvSpPr/>
          <p:nvPr/>
        </p:nvSpPr>
        <p:spPr>
          <a:xfrm>
            <a:off x="502920" y="932688"/>
            <a:ext cx="11247120" cy="18000"/>
          </a:xfrm>
          <a:prstGeom prst="rect">
            <a:avLst/>
          </a:prstGeom>
          <a:solidFill>
            <a:srgbClr val="1F386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1097280"/>
            <a:ext cx="11247120" cy="914400"/>
          </a:xfrm>
          <a:prstGeom prst="rect">
            <a:avLst/>
          </a:prstGeom>
          <a:noFill/>
        </p:spPr>
        <p:txBody>
          <a:bodyPr wrap="square">
            <a:spAutoFit/>
          </a:bodyPr>
          <a:lstStyle/>
          <a:p>
            <a:pPr>
              <a:spcAft>
                <a:spcPts val="500"/>
              </a:spcAft>
            </a:pPr>
            <a:r>
              <a:rPr sz="1400">
                <a:solidFill>
                  <a:srgbClr val="333333"/>
                </a:solidFill>
                <a:latin typeface="Arial"/>
              </a:rPr>
              <a:t>• Event grids of NRMSE-rejected events (median NRMSE &gt; 0.4 across channels): the raw traces show no pulse — the cut removes noise triggers, not physics</a:t>
            </a:r>
          </a:p>
        </p:txBody>
      </p:sp>
      <p:pic>
        <p:nvPicPr>
          <p:cNvPr id="5" name="Picture 4" descr="slow_rise_zip22_crop.png"/>
          <p:cNvPicPr>
            <a:picLocks noChangeAspect="1"/>
          </p:cNvPicPr>
          <p:nvPr/>
        </p:nvPicPr>
        <p:blipFill>
          <a:blip r:embed="rId2"/>
          <a:stretch>
            <a:fillRect/>
          </a:stretch>
        </p:blipFill>
        <p:spPr>
          <a:xfrm>
            <a:off x="365760" y="2468880"/>
            <a:ext cx="5394960" cy="3699401"/>
          </a:xfrm>
          <a:prstGeom prst="rect">
            <a:avLst/>
          </a:prstGeom>
        </p:spPr>
      </p:pic>
      <p:sp>
        <p:nvSpPr>
          <p:cNvPr id="6" name="TextBox 5"/>
          <p:cNvSpPr txBox="1"/>
          <p:nvPr/>
        </p:nvSpPr>
        <p:spPr>
          <a:xfrm>
            <a:off x="365760" y="6198281"/>
            <a:ext cx="5394960" cy="274320"/>
          </a:xfrm>
          <a:prstGeom prst="rect">
            <a:avLst/>
          </a:prstGeom>
          <a:noFill/>
        </p:spPr>
        <p:txBody>
          <a:bodyPr wrap="square">
            <a:spAutoFit/>
          </a:bodyPr>
          <a:lstStyle/>
          <a:p>
            <a:pPr algn="ctr"/>
            <a:r>
              <a:rPr sz="1100" i="1">
                <a:solidFill>
                  <a:srgbClr val="666666"/>
                </a:solidFill>
                <a:latin typeface="Arial"/>
              </a:rPr>
              <a:t>Z22: NRMSE-rejected events — raw traces are noise</a:t>
            </a:r>
          </a:p>
        </p:txBody>
      </p:sp>
      <p:pic>
        <p:nvPicPr>
          <p:cNvPr id="7" name="Picture 6" descr="fan_cut_zip22_PCS1.png"/>
          <p:cNvPicPr>
            <a:picLocks noChangeAspect="1"/>
          </p:cNvPicPr>
          <p:nvPr/>
        </p:nvPicPr>
        <p:blipFill>
          <a:blip r:embed="rId3"/>
          <a:stretch>
            <a:fillRect/>
          </a:stretch>
        </p:blipFill>
        <p:spPr>
          <a:xfrm>
            <a:off x="5943600" y="2240280"/>
            <a:ext cx="6263640" cy="3429000"/>
          </a:xfrm>
          <a:prstGeom prst="rect">
            <a:avLst/>
          </a:prstGeom>
        </p:spPr>
      </p:pic>
      <p:sp>
        <p:nvSpPr>
          <p:cNvPr id="8" name="TextBox 7"/>
          <p:cNvSpPr txBox="1"/>
          <p:nvPr/>
        </p:nvSpPr>
        <p:spPr>
          <a:xfrm>
            <a:off x="6035040" y="5806440"/>
            <a:ext cx="6126480" cy="960120"/>
          </a:xfrm>
          <a:prstGeom prst="rect">
            <a:avLst/>
          </a:prstGeom>
          <a:noFill/>
        </p:spPr>
        <p:txBody>
          <a:bodyPr wrap="square">
            <a:spAutoFit/>
          </a:bodyPr>
          <a:lstStyle/>
          <a:p>
            <a:r>
              <a:rPr sz="1400" b="1">
                <a:solidFill>
                  <a:srgbClr val="2E7D32"/>
                </a:solidFill>
                <a:latin typeface="Arial"/>
              </a:rPr>
              <a:t>── passes the cut (kept)</a:t>
            </a:r>
            <a:r>
              <a:rPr sz="1400" b="1">
                <a:solidFill>
                  <a:srgbClr val="C0392B"/>
                </a:solidFill>
                <a:latin typeface="Arial"/>
              </a:rPr>
              <a:t>      ── cut away = rejected</a:t>
            </a:r>
          </a:p>
          <a:p>
            <a:r>
              <a:rPr sz="1400" b="0">
                <a:solidFill>
                  <a:srgbClr val="4A70B0"/>
                </a:solidFill>
                <a:latin typeface="Arial"/>
              </a:rPr>
              <a:t>faint blue = measured traces</a:t>
            </a:r>
            <a:r>
              <a:rPr sz="1400" b="0">
                <a:solidFill>
                  <a:srgbClr val="333333"/>
                </a:solidFill>
                <a:latin typeface="Arial"/>
              </a:rPr>
              <a:t>      Z22 PCS1: 7198 kept / 4788 cut (~40%)</a:t>
            </a:r>
          </a:p>
        </p:txBody>
      </p:sp>
      <p:sp>
        <p:nvSpPr>
          <p:cNvPr id="9" name="TextBox 8"/>
          <p:cNvSpPr txBox="1"/>
          <p:nvPr/>
        </p:nvSpPr>
        <p:spPr>
          <a:xfrm>
            <a:off x="10957255" y="6446520"/>
            <a:ext cx="1005840" cy="274320"/>
          </a:xfrm>
          <a:prstGeom prst="rect">
            <a:avLst/>
          </a:prstGeom>
          <a:noFill/>
        </p:spPr>
        <p:txBody>
          <a:bodyPr wrap="none">
            <a:spAutoFit/>
          </a:bodyPr>
          <a:lstStyle/>
          <a:p>
            <a:pPr algn="r"/>
            <a:r>
              <a:rPr sz="1100">
                <a:solidFill>
                  <a:srgbClr val="666666"/>
                </a:solidFill>
                <a:latin typeface="Arial"/>
              </a:rPr>
              <a:t>7 / 11</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02920" y="256032"/>
            <a:ext cx="11247120" cy="685800"/>
          </a:xfrm>
          <a:prstGeom prst="rect">
            <a:avLst/>
          </a:prstGeom>
          <a:noFill/>
        </p:spPr>
        <p:txBody>
          <a:bodyPr wrap="square">
            <a:spAutoFit/>
          </a:bodyPr>
          <a:lstStyle/>
          <a:p>
            <a:r>
              <a:rPr sz="2700" b="1">
                <a:solidFill>
                  <a:srgbClr val="1F3864"/>
                </a:solidFill>
                <a:latin typeface="Arial"/>
              </a:rPr>
              <a:t>Follow-up 1 — the slow-fall tail is a one-channel artifact</a:t>
            </a:r>
          </a:p>
        </p:txBody>
      </p:sp>
      <p:sp>
        <p:nvSpPr>
          <p:cNvPr id="3" name="Rectangle 2"/>
          <p:cNvSpPr/>
          <p:nvPr/>
        </p:nvSpPr>
        <p:spPr>
          <a:xfrm>
            <a:off x="502920" y="932688"/>
            <a:ext cx="11247120" cy="18000"/>
          </a:xfrm>
          <a:prstGeom prst="rect">
            <a:avLst/>
          </a:prstGeom>
          <a:solidFill>
            <a:srgbClr val="1F386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1097280"/>
            <a:ext cx="11247120" cy="1417320"/>
          </a:xfrm>
          <a:prstGeom prst="rect">
            <a:avLst/>
          </a:prstGeom>
          <a:noFill/>
        </p:spPr>
        <p:txBody>
          <a:bodyPr wrap="square">
            <a:spAutoFit/>
          </a:bodyPr>
          <a:lstStyle/>
          <a:p>
            <a:pPr>
              <a:spcAft>
                <a:spcPts val="500"/>
              </a:spcAft>
            </a:pPr>
            <a:r>
              <a:rPr sz="1400">
                <a:solidFill>
                  <a:srgbClr val="333333"/>
                </a:solidFill>
                <a:latin typeface="Arial"/>
              </a:rPr>
              <a:t>• The post-cut fan still shows slow-fall tails → sample them: NRMSE ≤ 0.4 AND τ_fall &gt; 1.5 ms, 10 random events, raw vs fit drawn in all 12 channels</a:t>
            </a:r>
          </a:p>
          <a:p>
            <a:pPr>
              <a:spcAft>
                <a:spcPts val="500"/>
              </a:spcAft>
            </a:pPr>
            <a:r>
              <a:rPr sz="1400">
                <a:solidFill>
                  <a:srgbClr val="333333"/>
                </a:solidFill>
                <a:latin typeface="Arial"/>
              </a:rPr>
              <a:t>• The sampled events are real pulses → kept. Their extreme fall times trace to one channel: only PDS2 swings (τ_fall median 0.51 ms vs ≈ 0.25 ms elsewhere) — a low-frequency disturbance</a:t>
            </a:r>
          </a:p>
          <a:p>
            <a:pPr>
              <a:spcAft>
                <a:spcPts val="500"/>
              </a:spcAft>
            </a:pPr>
            <a:r>
              <a:rPr sz="1400">
                <a:solidFill>
                  <a:srgbClr val="333333"/>
                </a:solidFill>
                <a:latin typeface="Arial"/>
              </a:rPr>
              <a:t>• Conclusion: no τ_fall cut — slow-fall events passing NRMSE stay in; the extreme tail is a one-channel artifact, not physics</a:t>
            </a:r>
          </a:p>
        </p:txBody>
      </p:sp>
      <p:pic>
        <p:nvPicPr>
          <p:cNvPr id="5" name="Picture 4" descr="slow_fall_zip7_crop.png"/>
          <p:cNvPicPr>
            <a:picLocks noChangeAspect="1"/>
          </p:cNvPicPr>
          <p:nvPr/>
        </p:nvPicPr>
        <p:blipFill>
          <a:blip r:embed="rId2"/>
          <a:stretch>
            <a:fillRect/>
          </a:stretch>
        </p:blipFill>
        <p:spPr>
          <a:xfrm>
            <a:off x="274320" y="2697480"/>
            <a:ext cx="6126480" cy="3149961"/>
          </a:xfrm>
          <a:prstGeom prst="rect">
            <a:avLst/>
          </a:prstGeom>
        </p:spPr>
      </p:pic>
      <p:sp>
        <p:nvSpPr>
          <p:cNvPr id="6" name="TextBox 5"/>
          <p:cNvSpPr txBox="1"/>
          <p:nvPr/>
        </p:nvSpPr>
        <p:spPr>
          <a:xfrm>
            <a:off x="274320" y="5877441"/>
            <a:ext cx="6126480" cy="274320"/>
          </a:xfrm>
          <a:prstGeom prst="rect">
            <a:avLst/>
          </a:prstGeom>
          <a:noFill/>
        </p:spPr>
        <p:txBody>
          <a:bodyPr wrap="square">
            <a:spAutoFit/>
          </a:bodyPr>
          <a:lstStyle/>
          <a:p>
            <a:pPr algn="ctr"/>
            <a:r>
              <a:rPr sz="1100" i="1">
                <a:solidFill>
                  <a:srgbClr val="666666"/>
                </a:solidFill>
                <a:latin typeface="Arial"/>
              </a:rPr>
              <a:t>Z7, 3 sampled slow-fall events: normal in PBS2/PCS2/PES2, swings only in PDS2</a:t>
            </a:r>
          </a:p>
        </p:txBody>
      </p:sp>
      <p:pic>
        <p:nvPicPr>
          <p:cNvPr id="7" name="Picture 6" descr="time_constants_zip7_PAS1_tfall.png"/>
          <p:cNvPicPr>
            <a:picLocks noChangeAspect="1"/>
          </p:cNvPicPr>
          <p:nvPr/>
        </p:nvPicPr>
        <p:blipFill>
          <a:blip r:embed="rId3"/>
          <a:stretch>
            <a:fillRect/>
          </a:stretch>
        </p:blipFill>
        <p:spPr>
          <a:xfrm>
            <a:off x="6446520" y="3063240"/>
            <a:ext cx="2788920" cy="2085332"/>
          </a:xfrm>
          <a:prstGeom prst="rect">
            <a:avLst/>
          </a:prstGeom>
        </p:spPr>
      </p:pic>
      <p:sp>
        <p:nvSpPr>
          <p:cNvPr id="8" name="TextBox 7"/>
          <p:cNvSpPr txBox="1"/>
          <p:nvPr/>
        </p:nvSpPr>
        <p:spPr>
          <a:xfrm>
            <a:off x="6446520" y="5178572"/>
            <a:ext cx="2788920" cy="274320"/>
          </a:xfrm>
          <a:prstGeom prst="rect">
            <a:avLst/>
          </a:prstGeom>
          <a:noFill/>
        </p:spPr>
        <p:txBody>
          <a:bodyPr wrap="square">
            <a:spAutoFit/>
          </a:bodyPr>
          <a:lstStyle/>
          <a:p>
            <a:pPr algn="ctr"/>
            <a:r>
              <a:rPr sz="1100" i="1">
                <a:solidFill>
                  <a:srgbClr val="666666"/>
                </a:solidFill>
                <a:latin typeface="Arial"/>
              </a:rPr>
              <a:t>PAS1 — normal channel: narrow (median 0.25 ms)</a:t>
            </a:r>
          </a:p>
        </p:txBody>
      </p:sp>
      <p:pic>
        <p:nvPicPr>
          <p:cNvPr id="9" name="Picture 8" descr="time_constants_zip7_PDS2_tfall.png"/>
          <p:cNvPicPr>
            <a:picLocks noChangeAspect="1"/>
          </p:cNvPicPr>
          <p:nvPr/>
        </p:nvPicPr>
        <p:blipFill>
          <a:blip r:embed="rId4"/>
          <a:stretch>
            <a:fillRect/>
          </a:stretch>
        </p:blipFill>
        <p:spPr>
          <a:xfrm>
            <a:off x="9326880" y="3063240"/>
            <a:ext cx="2788920" cy="2076855"/>
          </a:xfrm>
          <a:prstGeom prst="rect">
            <a:avLst/>
          </a:prstGeom>
        </p:spPr>
      </p:pic>
      <p:sp>
        <p:nvSpPr>
          <p:cNvPr id="10" name="TextBox 9"/>
          <p:cNvSpPr txBox="1"/>
          <p:nvPr/>
        </p:nvSpPr>
        <p:spPr>
          <a:xfrm>
            <a:off x="9326880" y="5170095"/>
            <a:ext cx="2788920" cy="274320"/>
          </a:xfrm>
          <a:prstGeom prst="rect">
            <a:avLst/>
          </a:prstGeom>
          <a:noFill/>
        </p:spPr>
        <p:txBody>
          <a:bodyPr wrap="square">
            <a:spAutoFit/>
          </a:bodyPr>
          <a:lstStyle/>
          <a:p>
            <a:pPr algn="ctr"/>
            <a:r>
              <a:rPr sz="1100" i="1">
                <a:solidFill>
                  <a:srgbClr val="666666"/>
                </a:solidFill>
                <a:latin typeface="Arial"/>
              </a:rPr>
              <a:t>PDS2 — bad channel: broad tail (median 0.51 ms)</a:t>
            </a:r>
          </a:p>
        </p:txBody>
      </p:sp>
      <p:sp>
        <p:nvSpPr>
          <p:cNvPr id="11" name="TextBox 10"/>
          <p:cNvSpPr txBox="1"/>
          <p:nvPr/>
        </p:nvSpPr>
        <p:spPr>
          <a:xfrm>
            <a:off x="6446520" y="2395728"/>
            <a:ext cx="5669280" cy="502920"/>
          </a:xfrm>
          <a:prstGeom prst="rect">
            <a:avLst/>
          </a:prstGeom>
          <a:noFill/>
        </p:spPr>
        <p:txBody>
          <a:bodyPr wrap="square">
            <a:spAutoFit/>
          </a:bodyPr>
          <a:lstStyle/>
          <a:p>
            <a:r>
              <a:rPr sz="1500" b="1">
                <a:solidFill>
                  <a:srgbClr val="1F3864"/>
                </a:solidFill>
                <a:latin typeface="Arial"/>
              </a:rPr>
              <a:t>Fitted τ_fall distribution, same 0–7 ms axis:</a:t>
            </a:r>
          </a:p>
        </p:txBody>
      </p:sp>
      <p:sp>
        <p:nvSpPr>
          <p:cNvPr id="12" name="TextBox 11"/>
          <p:cNvSpPr txBox="1"/>
          <p:nvPr/>
        </p:nvSpPr>
        <p:spPr>
          <a:xfrm>
            <a:off x="10957255" y="6446520"/>
            <a:ext cx="1005840" cy="274320"/>
          </a:xfrm>
          <a:prstGeom prst="rect">
            <a:avLst/>
          </a:prstGeom>
          <a:noFill/>
        </p:spPr>
        <p:txBody>
          <a:bodyPr wrap="none">
            <a:spAutoFit/>
          </a:bodyPr>
          <a:lstStyle/>
          <a:p>
            <a:pPr algn="r"/>
            <a:r>
              <a:rPr sz="1100">
                <a:solidFill>
                  <a:srgbClr val="666666"/>
                </a:solidFill>
                <a:latin typeface="Arial"/>
              </a:rPr>
              <a:t>8 / 11</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02920" y="256032"/>
            <a:ext cx="11247120" cy="685800"/>
          </a:xfrm>
          <a:prstGeom prst="rect">
            <a:avLst/>
          </a:prstGeom>
          <a:noFill/>
        </p:spPr>
        <p:txBody>
          <a:bodyPr wrap="square">
            <a:spAutoFit/>
          </a:bodyPr>
          <a:lstStyle/>
          <a:p>
            <a:r>
              <a:rPr sz="2700" b="1">
                <a:solidFill>
                  <a:srgbClr val="1F3864"/>
                </a:solidFill>
                <a:latin typeface="Arial"/>
              </a:rPr>
              <a:t>Template family 1 — analytic 2-exp, NRMSE-weighted (1x1)</a:t>
            </a:r>
          </a:p>
        </p:txBody>
      </p:sp>
      <p:sp>
        <p:nvSpPr>
          <p:cNvPr id="3" name="Rectangle 2"/>
          <p:cNvSpPr/>
          <p:nvPr/>
        </p:nvSpPr>
        <p:spPr>
          <a:xfrm>
            <a:off x="502920" y="932688"/>
            <a:ext cx="11247120" cy="18000"/>
          </a:xfrm>
          <a:prstGeom prst="rect">
            <a:avLst/>
          </a:prstGeom>
          <a:solidFill>
            <a:srgbClr val="1F386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1143000"/>
            <a:ext cx="11247120" cy="1371600"/>
          </a:xfrm>
          <a:prstGeom prst="rect">
            <a:avLst/>
          </a:prstGeom>
          <a:noFill/>
        </p:spPr>
        <p:txBody>
          <a:bodyPr wrap="square">
            <a:spAutoFit/>
          </a:bodyPr>
          <a:lstStyle/>
          <a:p>
            <a:pPr>
              <a:spcAft>
                <a:spcPts val="500"/>
              </a:spcAft>
            </a:pPr>
            <a:r>
              <a:rPr sz="1800">
                <a:solidFill>
                  <a:srgbClr val="333333"/>
                </a:solidFill>
                <a:latin typeface="Arial"/>
              </a:rPr>
              <a:t>• NRMSE-weighted mean of the fit_ok 2-exp curves</a:t>
            </a:r>
          </a:p>
          <a:p>
            <a:pPr>
              <a:spcAft>
                <a:spcPts val="500"/>
              </a:spcAft>
            </a:pPr>
            <a:r>
              <a:rPr sz="1800">
                <a:solidFill>
                  <a:srgbClr val="333333"/>
                </a:solidFill>
                <a:latin typeface="Arial"/>
              </a:rPr>
              <a:t>• Smooth &amp; noise-free by construction</a:t>
            </a:r>
          </a:p>
          <a:p>
            <a:pPr>
              <a:spcAft>
                <a:spcPts val="500"/>
              </a:spcAft>
            </a:pPr>
            <a:r>
              <a:rPr sz="1800">
                <a:solidFill>
                  <a:srgbClr val="333333"/>
                </a:solidFill>
                <a:latin typeface="Arial"/>
              </a:rPr>
              <a:t>• ROOT TH1D, peak-normalized (+ summed PT / PS1 / PS2)</a:t>
            </a:r>
          </a:p>
        </p:txBody>
      </p:sp>
      <p:pic>
        <p:nvPicPr>
          <p:cNvPr id="5" name="Picture 4" descr="fan_zip7_PBS1_after.png"/>
          <p:cNvPicPr>
            <a:picLocks noChangeAspect="1"/>
          </p:cNvPicPr>
          <p:nvPr/>
        </p:nvPicPr>
        <p:blipFill>
          <a:blip r:embed="rId2"/>
          <a:stretch>
            <a:fillRect/>
          </a:stretch>
        </p:blipFill>
        <p:spPr>
          <a:xfrm>
            <a:off x="1383919" y="3063240"/>
            <a:ext cx="9393682" cy="2834640"/>
          </a:xfrm>
          <a:prstGeom prst="rect">
            <a:avLst/>
          </a:prstGeom>
        </p:spPr>
      </p:pic>
      <p:sp>
        <p:nvSpPr>
          <p:cNvPr id="6" name="TextBox 5"/>
          <p:cNvSpPr txBox="1"/>
          <p:nvPr/>
        </p:nvSpPr>
        <p:spPr>
          <a:xfrm>
            <a:off x="1280160" y="5927880"/>
            <a:ext cx="9601200" cy="274320"/>
          </a:xfrm>
          <a:prstGeom prst="rect">
            <a:avLst/>
          </a:prstGeom>
          <a:noFill/>
        </p:spPr>
        <p:txBody>
          <a:bodyPr wrap="square">
            <a:spAutoFit/>
          </a:bodyPr>
          <a:lstStyle/>
          <a:p>
            <a:pPr algn="ctr"/>
            <a:r>
              <a:rPr sz="1100" i="1">
                <a:solidFill>
                  <a:srgbClr val="666666"/>
                </a:solidFill>
                <a:latin typeface="Arial"/>
              </a:rPr>
              <a:t>Z7 PBS1, fitted curves after NRMSE ≤ 0.4 and τ_rise ≤ 0.3 ms — the NRMSE-weighted mean of this family is the 1x1 template</a:t>
            </a:r>
          </a:p>
        </p:txBody>
      </p:sp>
      <p:sp>
        <p:nvSpPr>
          <p:cNvPr id="7" name="TextBox 6"/>
          <p:cNvSpPr txBox="1"/>
          <p:nvPr/>
        </p:nvSpPr>
        <p:spPr>
          <a:xfrm>
            <a:off x="10957255" y="6446520"/>
            <a:ext cx="1005840" cy="274320"/>
          </a:xfrm>
          <a:prstGeom prst="rect">
            <a:avLst/>
          </a:prstGeom>
          <a:noFill/>
        </p:spPr>
        <p:txBody>
          <a:bodyPr wrap="none">
            <a:spAutoFit/>
          </a:bodyPr>
          <a:lstStyle/>
          <a:p>
            <a:pPr algn="r"/>
            <a:r>
              <a:rPr sz="1100">
                <a:solidFill>
                  <a:srgbClr val="666666"/>
                </a:solidFill>
                <a:latin typeface="Arial"/>
              </a:rPr>
              <a:t>9 / 11</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02920" y="256032"/>
            <a:ext cx="11247120" cy="685800"/>
          </a:xfrm>
          <a:prstGeom prst="rect">
            <a:avLst/>
          </a:prstGeom>
          <a:noFill/>
        </p:spPr>
        <p:txBody>
          <a:bodyPr wrap="square">
            <a:spAutoFit/>
          </a:bodyPr>
          <a:lstStyle/>
          <a:p>
            <a:r>
              <a:rPr sz="2700" b="1">
                <a:solidFill>
                  <a:srgbClr val="1F3864"/>
                </a:solidFill>
                <a:latin typeface="Arial"/>
              </a:rPr>
              <a:t>Template family 2 — NxM PCA templates</a:t>
            </a:r>
          </a:p>
        </p:txBody>
      </p:sp>
      <p:sp>
        <p:nvSpPr>
          <p:cNvPr id="3" name="Rectangle 2"/>
          <p:cNvSpPr/>
          <p:nvPr/>
        </p:nvSpPr>
        <p:spPr>
          <a:xfrm>
            <a:off x="502920" y="932688"/>
            <a:ext cx="11247120" cy="18000"/>
          </a:xfrm>
          <a:prstGeom prst="rect">
            <a:avLst/>
          </a:prstGeom>
          <a:solidFill>
            <a:srgbClr val="1F386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1115568"/>
            <a:ext cx="11247120" cy="1371600"/>
          </a:xfrm>
          <a:prstGeom prst="rect">
            <a:avLst/>
          </a:prstGeom>
          <a:noFill/>
        </p:spPr>
        <p:txBody>
          <a:bodyPr wrap="square">
            <a:spAutoFit/>
          </a:bodyPr>
          <a:lstStyle/>
          <a:p>
            <a:pPr>
              <a:spcAft>
                <a:spcPts val="500"/>
              </a:spcAft>
            </a:pPr>
            <a:r>
              <a:rPr sz="1600">
                <a:solidFill>
                  <a:srgbClr val="333333"/>
                </a:solidFill>
                <a:latin typeface="Arial"/>
              </a:rPr>
              <a:t>• Per-channel PCA over the clean fitted curves (fit_ok + NRMSE ≤ 0.4 + τ_rise ≤ 0.3 ms)</a:t>
            </a:r>
          </a:p>
          <a:p>
            <a:pPr>
              <a:spcAft>
                <a:spcPts val="500"/>
              </a:spcAft>
            </a:pPr>
            <a:r>
              <a:rPr sz="1600">
                <a:solidFill>
                  <a:srgbClr val="333333"/>
                </a:solidFill>
                <a:latin typeface="Arial"/>
              </a:rPr>
              <a:t>• nxm0 = mean shape;  nxm1–4 = principal components;  real pulse = Σᵢ ampᵢ · nxmᵢ</a:t>
            </a:r>
          </a:p>
          <a:p>
            <a:pPr>
              <a:spcAft>
                <a:spcPts val="500"/>
              </a:spcAft>
            </a:pPr>
            <a:r>
              <a:rPr sz="1600">
                <a:solidFill>
                  <a:srgbClr val="333333"/>
                </a:solidFill>
                <a:latin typeface="Arial"/>
              </a:rPr>
              <a:t>• PC1 + PC2 ≈ 96–98% of the shape variance;  delivered peak-normalized</a:t>
            </a:r>
          </a:p>
        </p:txBody>
      </p:sp>
      <p:pic>
        <p:nvPicPr>
          <p:cNvPr id="5" name="Picture 4" descr="pca_zip7_PAS1.png"/>
          <p:cNvPicPr>
            <a:picLocks noChangeAspect="1"/>
          </p:cNvPicPr>
          <p:nvPr/>
        </p:nvPicPr>
        <p:blipFill>
          <a:blip r:embed="rId2"/>
          <a:stretch>
            <a:fillRect/>
          </a:stretch>
        </p:blipFill>
        <p:spPr>
          <a:xfrm>
            <a:off x="2831374" y="2697480"/>
            <a:ext cx="6498771" cy="1828800"/>
          </a:xfrm>
          <a:prstGeom prst="rect">
            <a:avLst/>
          </a:prstGeom>
        </p:spPr>
      </p:pic>
      <p:pic>
        <p:nvPicPr>
          <p:cNvPr id="6" name="Picture 5" descr="pca_zip7_PBS1.png"/>
          <p:cNvPicPr>
            <a:picLocks noChangeAspect="1"/>
          </p:cNvPicPr>
          <p:nvPr/>
        </p:nvPicPr>
        <p:blipFill>
          <a:blip r:embed="rId3"/>
          <a:stretch>
            <a:fillRect/>
          </a:stretch>
        </p:blipFill>
        <p:spPr>
          <a:xfrm>
            <a:off x="2831374" y="4572000"/>
            <a:ext cx="6498771" cy="1828800"/>
          </a:xfrm>
          <a:prstGeom prst="rect">
            <a:avLst/>
          </a:prstGeom>
        </p:spPr>
      </p:pic>
      <p:sp>
        <p:nvSpPr>
          <p:cNvPr id="7" name="TextBox 6"/>
          <p:cNvSpPr txBox="1"/>
          <p:nvPr/>
        </p:nvSpPr>
        <p:spPr>
          <a:xfrm>
            <a:off x="1371600" y="6430800"/>
            <a:ext cx="9418320" cy="274320"/>
          </a:xfrm>
          <a:prstGeom prst="rect">
            <a:avLst/>
          </a:prstGeom>
          <a:noFill/>
        </p:spPr>
        <p:txBody>
          <a:bodyPr wrap="square">
            <a:spAutoFit/>
          </a:bodyPr>
          <a:lstStyle/>
          <a:p>
            <a:pPr algn="ctr"/>
            <a:r>
              <a:rPr sz="1100" i="1">
                <a:solidFill>
                  <a:srgbClr val="666666"/>
                </a:solidFill>
                <a:latin typeface="Arial"/>
              </a:rPr>
              <a:t>Z7 PAS1 / PBS1: nxm0 (mean) + nxm1–4 (PCs) — the oscillating components encode rise/fall-time variation</a:t>
            </a:r>
          </a:p>
        </p:txBody>
      </p:sp>
      <p:sp>
        <p:nvSpPr>
          <p:cNvPr id="8" name="TextBox 7"/>
          <p:cNvSpPr txBox="1"/>
          <p:nvPr/>
        </p:nvSpPr>
        <p:spPr>
          <a:xfrm>
            <a:off x="10957255" y="6446520"/>
            <a:ext cx="1005840" cy="274320"/>
          </a:xfrm>
          <a:prstGeom prst="rect">
            <a:avLst/>
          </a:prstGeom>
          <a:noFill/>
        </p:spPr>
        <p:txBody>
          <a:bodyPr wrap="none">
            <a:spAutoFit/>
          </a:bodyPr>
          <a:lstStyle/>
          <a:p>
            <a:pPr algn="r"/>
            <a:r>
              <a:rPr sz="1100">
                <a:solidFill>
                  <a:srgbClr val="666666"/>
                </a:solidFill>
                <a:latin typeface="Arial"/>
              </a:rPr>
              <a:t>10 / 11</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02920" y="256032"/>
            <a:ext cx="11247120" cy="685800"/>
          </a:xfrm>
          <a:prstGeom prst="rect">
            <a:avLst/>
          </a:prstGeom>
          <a:noFill/>
        </p:spPr>
        <p:txBody>
          <a:bodyPr wrap="square">
            <a:spAutoFit/>
          </a:bodyPr>
          <a:lstStyle/>
          <a:p>
            <a:r>
              <a:rPr sz="2700" b="1">
                <a:solidFill>
                  <a:srgbClr val="1F3864"/>
                </a:solidFill>
                <a:latin typeface="Arial"/>
              </a:rPr>
              <a:t>Delivered — and what remains</a:t>
            </a:r>
          </a:p>
        </p:txBody>
      </p:sp>
      <p:sp>
        <p:nvSpPr>
          <p:cNvPr id="3" name="Rectangle 2"/>
          <p:cNvSpPr/>
          <p:nvPr/>
        </p:nvSpPr>
        <p:spPr>
          <a:xfrm>
            <a:off x="502920" y="932688"/>
            <a:ext cx="11247120" cy="18000"/>
          </a:xfrm>
          <a:prstGeom prst="rect">
            <a:avLst/>
          </a:prstGeom>
          <a:solidFill>
            <a:srgbClr val="1F386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1554480"/>
            <a:ext cx="11247120" cy="3200400"/>
          </a:xfrm>
          <a:prstGeom prst="rect">
            <a:avLst/>
          </a:prstGeom>
          <a:noFill/>
        </p:spPr>
        <p:txBody>
          <a:bodyPr wrap="square">
            <a:spAutoFit/>
          </a:bodyPr>
          <a:lstStyle/>
          <a:p>
            <a:pPr>
              <a:spcAft>
                <a:spcPts val="500"/>
              </a:spcAft>
            </a:pPr>
            <a:r>
              <a:rPr sz="2200">
                <a:solidFill>
                  <a:srgbClr val="333333"/>
                </a:solidFill>
                <a:latin typeface="Arial"/>
              </a:rPr>
              <a:t>• Two template families built for all 13 detectors:  1x1 (2-exp weighted)  +  NxM PCA</a:t>
            </a:r>
          </a:p>
          <a:p>
            <a:pPr>
              <a:spcAft>
                <a:spcPts val="500"/>
              </a:spcAft>
            </a:pPr>
            <a:r>
              <a:rPr sz="2200">
                <a:solidFill>
                  <a:srgbClr val="333333"/>
                </a:solidFill>
                <a:latin typeface="Arial"/>
              </a:rPr>
              <a:t>• Delivered in the official cdmsbats PulseTemplates format</a:t>
            </a:r>
          </a:p>
          <a:p>
            <a:pPr>
              <a:spcAft>
                <a:spcPts val="500"/>
              </a:spcAft>
            </a:pPr>
            <a:r>
              <a:rPr sz="2200">
                <a:solidFill>
                  <a:srgbClr val="333333"/>
                </a:solidFill>
                <a:latin typeface="Arial"/>
              </a:rPr>
              <a:t>• Cuts read off the data, verified in raw traces:  NRMSE ≤ 0.4,  τ_rise ≤ 0.3 ms</a:t>
            </a:r>
          </a:p>
        </p:txBody>
      </p:sp>
      <p:sp>
        <p:nvSpPr>
          <p:cNvPr id="5" name="TextBox 4"/>
          <p:cNvSpPr txBox="1"/>
          <p:nvPr/>
        </p:nvSpPr>
        <p:spPr>
          <a:xfrm>
            <a:off x="10957255" y="6446520"/>
            <a:ext cx="1005840" cy="274320"/>
          </a:xfrm>
          <a:prstGeom prst="rect">
            <a:avLst/>
          </a:prstGeom>
          <a:noFill/>
        </p:spPr>
        <p:txBody>
          <a:bodyPr wrap="none">
            <a:spAutoFit/>
          </a:bodyPr>
          <a:lstStyle/>
          <a:p>
            <a:pPr algn="r"/>
            <a:r>
              <a:rPr sz="1100">
                <a:solidFill>
                  <a:srgbClr val="666666"/>
                </a:solidFill>
                <a:latin typeface="Arial"/>
              </a:rPr>
              <a:t>11 / 11</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