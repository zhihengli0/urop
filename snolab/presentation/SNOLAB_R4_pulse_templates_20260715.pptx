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I will present the phonon pulse-template work for SNOLAB Run 4: how we selected events on the Ge-activation K-line, the fit-and-align pipeline, the quality cuts and how each was derived, and the two template families we delivered for all 13 detectors.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starts from the Ge activation data. After Cf activation every detector shows the 10.37 keV K-line. Professor Saab's study located the K-line position in the PTOFamps spectrum of each detector - that is the red line in every panel here. Our event selection is exactly one condition: a window around the red line, a factor 1.35 both ways - a rough, eyeballed choice - and nothing else. For each selected event we cache the fully unprocessed raw MIDAS traces of all channels. You can already see on the weak detectors that the window will admit part of the noise-trigger population next to the K-line - that is intentional: the cache is raw, so every later cut stays explicit and reversible.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per-trace algorithm, five steps. First a low-pass filter to smooth away the high-frequency noise, then the baseline is subtracted and the trace is scaled to unit peak - without that normalization the traces could not be overlaid or compared. The core is the fit: a two-exponential function, one exponential for the rise and one for the fall, with all five parameters free, including the pretrigger - the pulse start time. The pretrigger is never pinned: real trigger times vary, and the fitted pretriggers cluster about 230 samples after the nominal value - pinning it would bias the time constants. Each fit records two quality numbers: fit_ok, a physicality check - positive amplitude, rise faster than fall - and the NRMSE, the normalized root-mean-square error, the fit residual divided by the pulse height. At this stage we only record them. Finally the measured trace is aligned by shifting it by the fitted pretrigger minus 16050. The two fan plots show the output of the fit step: every fitted curve drawn at the common pretrigger, peak-normalized. On the left, all physical fits - you can see stragglers spreading off the main bundle. On the right, after the NRMSE cut, a single tight shape family remains. Where that cut comes from is the next part of the talk.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judge the fits we use event-by-channel grids: each row is one event, each column one channel. A real K-line event fits well in all channels simultaneously, while a noise trigger - like the top rows here - fails everywhere at once. The per-panel NRMSE makes this quantitative. All our figures carry the processing chain stamped in the header, so each PNG is self-documenting.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quality cut. The NRMSE distribution of physical fits is bimodal on every detector: a good-fit population around 0.05 to 0.1, and a noise-trigger population around 1 to 2, separated by a valley at about 0.4. We place the cut in the valley - it is read off the distribution itself. On quiet detectors like Z7 the noise population is small; on noisy detectors like Z22 it dominates, and this cut is what digs the real pulses out of the mixture.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trusting the cut we looked at what it throws away. These are event grids of the rejected population on Z22: the raw traces show no pulse at all - they are noise triggers whose slow two-exp fit happened to converge. The fan-cut view on the right overlays the passing fitted curves in green and the rejected ones in red on the aligned data: the green population is the fast physical pulse shape, the red one is spread out with a median NRMSE three times higher. So the cut removes noise, not physics.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lead comes from the fan plot after the cut: some curves still fall very slowly. We chased it by sampling: among events passing the cut, take fall times above one point five milliseconds, randomly sample ten, and draw raw versus fit in every channel. Two findings. First, the sampled events are real pulses - so they stay in, and we apply no fall cut. Second, their extreme fall times all trace back to one channel: only PDS2 is swinging wildly, while the same events are normal fast pulses in the other eleven channels - so the extreme tail is a one-channel low-frequency artifact, not slow physics.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template family: the analytic one. For each channel we take every physical fitted curve at the common pretrigger and average them with a weight of one over NRMSE squared - badly fit events count less but nothing is excluded by hand. After the cuts, shown here, a single tight shape family remains, and its weighted mean is the 1x1 template - smooth and noise-free by construction because it is built from analytic curves, delivered as peak-normalized ROOT histograms.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family: the NxM PCA templates, built to capture the pulse-shape variation across events. We run a PCA over the fitted curves that pass all cuts, in a window around the pulse. The mean shape becomes template zero, and the first four principal components become templates one to four - they oscillate and can be negative, and the optimal filter fits a real pulse as a linear combination of them. The first two components already capture 96 to 98 percent of the shape variance on every detector.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summarize: both template families are delivered for all 13 detectors in the official PulseTemplates format - the analytic 1x1 templates and the PCA NxM set. The whole chain is traceable from raw traces to every figure, and both quality cuts were read off the data and verified in the raw traces. Two things remain: the final call on the rise-time ceiling versus the genuine slow pulses, and running the group's template-validation method on the new templates. Thank you -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onfluence.slac.stanford.edu/spaces/CDMS/pages/716899864/Ge+Activation+Data+-+Ops+Shift+260612" TargetMode="External"/><Relationship Id="rId3" Type="http://schemas.openxmlformats.org/officeDocument/2006/relationships/image" Target="../media/image1.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2103120"/>
            <a:ext cx="10515600" cy="1463040"/>
          </a:xfrm>
          <a:prstGeom prst="rect">
            <a:avLst/>
          </a:prstGeom>
          <a:noFill/>
        </p:spPr>
        <p:txBody>
          <a:bodyPr wrap="square">
            <a:spAutoFit/>
          </a:bodyPr>
          <a:lstStyle/>
          <a:p>
            <a:r>
              <a:rPr sz="3600" b="1">
                <a:solidFill>
                  <a:srgbClr val="1F3864"/>
                </a:solidFill>
                <a:latin typeface="Arial"/>
              </a:rPr>
              <a:t>NxM Templates for SuperCDMS SNOLAB Run 4 — Ge Activation Data</a:t>
            </a:r>
          </a:p>
        </p:txBody>
      </p:sp>
      <p:sp>
        <p:nvSpPr>
          <p:cNvPr id="3" name="TextBox 2"/>
          <p:cNvSpPr txBox="1"/>
          <p:nvPr/>
        </p:nvSpPr>
        <p:spPr>
          <a:xfrm>
            <a:off x="822960" y="3383280"/>
            <a:ext cx="10515600" cy="822960"/>
          </a:xfrm>
          <a:prstGeom prst="rect">
            <a:avLst/>
          </a:prstGeom>
          <a:noFill/>
        </p:spPr>
        <p:txBody>
          <a:bodyPr wrap="square">
            <a:spAutoFit/>
          </a:bodyPr>
          <a:lstStyle/>
          <a:p>
            <a:r>
              <a:rPr sz="1800">
                <a:solidFill>
                  <a:srgbClr val="666666"/>
                </a:solidFill>
                <a:latin typeface="Arial"/>
              </a:rPr>
              <a:t>K-line event selection  ·  free-pretrigger two-exponential fits  ·  1x1 and NxM (PCA) templates</a:t>
            </a:r>
          </a:p>
        </p:txBody>
      </p:sp>
      <p:sp>
        <p:nvSpPr>
          <p:cNvPr id="4" name="TextBox 3"/>
          <p:cNvSpPr txBox="1"/>
          <p:nvPr/>
        </p:nvSpPr>
        <p:spPr>
          <a:xfrm>
            <a:off x="822960" y="5120640"/>
            <a:ext cx="10515600" cy="731520"/>
          </a:xfrm>
          <a:prstGeom prst="rect">
            <a:avLst/>
          </a:prstGeom>
          <a:noFill/>
        </p:spPr>
        <p:txBody>
          <a:bodyPr wrap="square">
            <a:spAutoFit/>
          </a:bodyPr>
          <a:lstStyle/>
          <a:p>
            <a:r>
              <a:rPr sz="1600">
                <a:solidFill>
                  <a:srgbClr val="333333"/>
                </a:solidFill>
                <a:latin typeface="Arial"/>
              </a:rPr>
              <a:t>Zhiheng Li  —  July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From the Ge-activation K-line to an event sample</a:t>
            </a:r>
          </a:p>
          <a:p>
            <a:r>
              <a:rPr sz="1400">
                <a:solidFill>
                  <a:srgbClr val="666666"/>
                </a:solidFill>
                <a:latin typeface="Arial"/>
              </a:rPr>
              <a:t>Goal: one clean, minimally-biased pulse population per detector × channel</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28600" y="1078992"/>
            <a:ext cx="11247120" cy="1325880"/>
          </a:xfrm>
          <a:prstGeom prst="rect">
            <a:avLst/>
          </a:prstGeom>
          <a:noFill/>
        </p:spPr>
        <p:txBody>
          <a:bodyPr wrap="square">
            <a:spAutoFit/>
          </a:bodyPr>
          <a:lstStyle/>
          <a:p>
            <a:pPr>
              <a:spcAft>
                <a:spcPts val="500"/>
              </a:spcAft>
            </a:pPr>
            <a:r>
              <a:rPr sz="1400">
                <a:solidFill>
                  <a:srgbClr val="333333"/>
                </a:solidFill>
                <a:latin typeface="Arial"/>
              </a:rPr>
              <a:t>• Per detector, Prof. Saab's study marked the 10.37 keV K-line position in PTOFamps — the red line in each panel below</a:t>
            </a:r>
          </a:p>
          <a:p>
            <a:pPr>
              <a:spcAft>
                <a:spcPts val="500"/>
              </a:spcAft>
            </a:pPr>
            <a:r>
              <a:rPr sz="1400">
                <a:solidFill>
                  <a:srgbClr val="333333"/>
                </a:solidFill>
                <a:latin typeface="Arial"/>
              </a:rPr>
              <a:t>• Our event selection: a PTOFamps window bracketing the red line — position ×/÷ 1.35, a rough, somewhat arbitrary eyeballed choice; deliberately minimal, no other cuts</a:t>
            </a:r>
          </a:p>
          <a:p>
            <a:pPr>
              <a:spcAft>
                <a:spcPts val="500"/>
              </a:spcAft>
            </a:pPr>
            <a:r>
              <a:rPr sz="1400">
                <a:solidFill>
                  <a:srgbClr val="333333"/>
                </a:solidFill>
                <a:latin typeface="Arial"/>
              </a:rPr>
              <a:t>• For every selected event: cache the fully unprocessed raw MIDAS traces of all channels + event metadata</a:t>
            </a:r>
          </a:p>
          <a:p>
            <a:pPr>
              <a:spcAft>
                <a:spcPts val="500"/>
              </a:spcAft>
            </a:pPr>
            <a:r>
              <a:rPr sz="1400">
                <a:solidFill>
                  <a:srgbClr val="333333"/>
                </a:solidFill>
                <a:latin typeface="Arial"/>
              </a:rPr>
              <a:t>• 13 detectors (zips) × 27–30 series → ~120 GB raw cache</a:t>
            </a:r>
          </a:p>
        </p:txBody>
      </p:sp>
      <p:sp>
        <p:nvSpPr>
          <p:cNvPr id="5" name="TextBox 4"/>
          <p:cNvSpPr txBox="1"/>
          <p:nvPr/>
        </p:nvSpPr>
        <p:spPr>
          <a:xfrm>
            <a:off x="8549640" y="274320"/>
            <a:ext cx="3200400" cy="658368"/>
          </a:xfrm>
          <a:prstGeom prst="rect">
            <a:avLst/>
          </a:prstGeom>
          <a:noFill/>
        </p:spPr>
        <p:txBody>
          <a:bodyPr wrap="square">
            <a:spAutoFit/>
          </a:bodyPr>
          <a:lstStyle/>
          <a:p>
            <a:pPr algn="r"/>
            <a:r>
              <a:rPr sz="1000">
                <a:solidFill>
                  <a:srgbClr val="666666"/>
                </a:solidFill>
                <a:latin typeface="Arial"/>
              </a:rPr>
              <a:t>Data: Ge Activation Data — Ops Shift 260612</a:t>
            </a:r>
          </a:p>
          <a:p>
            <a:pPr algn="r"/>
            <a:r>
              <a:rPr sz="1000">
                <a:solidFill>
                  <a:srgbClr val="666666"/>
                </a:solidFill>
                <a:latin typeface="Arial"/>
                <a:hlinkClick r:id="rId2"/>
              </a:rPr>
              <a:t>Credit: Prof. Tarek Saab  ·  SuperCDMS Confluence</a:t>
            </a:r>
          </a:p>
        </p:txBody>
      </p:sp>
      <p:pic>
        <p:nvPicPr>
          <p:cNvPr id="6" name="Picture 5" descr="kline_all_zips.png"/>
          <p:cNvPicPr>
            <a:picLocks noChangeAspect="1"/>
          </p:cNvPicPr>
          <p:nvPr/>
        </p:nvPicPr>
        <p:blipFill>
          <a:blip r:embed="rId3"/>
          <a:stretch>
            <a:fillRect/>
          </a:stretch>
        </p:blipFill>
        <p:spPr>
          <a:xfrm>
            <a:off x="1059892" y="2487168"/>
            <a:ext cx="10078312" cy="3977639"/>
          </a:xfrm>
          <a:prstGeom prst="rect">
            <a:avLst/>
          </a:prstGeom>
        </p:spPr>
      </p:pic>
      <p:sp>
        <p:nvSpPr>
          <p:cNvPr id="7" name="TextBox 6"/>
          <p:cNvSpPr txBox="1"/>
          <p:nvPr/>
        </p:nvSpPr>
        <p:spPr>
          <a:xfrm>
            <a:off x="384048" y="6494807"/>
            <a:ext cx="11430000" cy="274320"/>
          </a:xfrm>
          <a:prstGeom prst="rect">
            <a:avLst/>
          </a:prstGeom>
          <a:noFill/>
        </p:spPr>
        <p:txBody>
          <a:bodyPr wrap="square">
            <a:spAutoFit/>
          </a:bodyPr>
          <a:lstStyle/>
          <a:p>
            <a:pPr algn="ctr"/>
            <a:r>
              <a:rPr sz="1100" i="1">
                <a:solidFill>
                  <a:srgbClr val="666666"/>
                </a:solidFill>
                <a:latin typeface="Arial"/>
              </a:rPr>
              <a:t>All 13 detectors, PTOFamps spectra (Prof. Saab's study)</a:t>
            </a:r>
          </a:p>
        </p:txBody>
      </p:sp>
      <p:sp>
        <p:nvSpPr>
          <p:cNvPr id="8" name="TextBox 7"/>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2 / 10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Per-trace algorithm: low-pass → fit → align</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234440"/>
          </a:xfrm>
          <a:prstGeom prst="rect">
            <a:avLst/>
          </a:prstGeom>
          <a:noFill/>
        </p:spPr>
        <p:txBody>
          <a:bodyPr wrap="square">
            <a:spAutoFit/>
          </a:bodyPr>
          <a:lstStyle/>
          <a:p>
            <a:pPr>
              <a:spcAft>
                <a:spcPts val="600"/>
              </a:spcAft>
            </a:pPr>
            <a:r>
              <a:rPr sz="1600" b="1">
                <a:solidFill>
                  <a:srgbClr val="1F3864"/>
                </a:solidFill>
                <a:latin typeface="Arial"/>
              </a:rPr>
              <a:t>1.  Low-pass</a:t>
            </a:r>
            <a:r>
              <a:rPr sz="1600">
                <a:solidFill>
                  <a:srgbClr val="333333"/>
                </a:solidFill>
                <a:latin typeface="Arial"/>
              </a:rPr>
              <a:t> — 100 kHz 4th-order Butterworth</a:t>
            </a:r>
          </a:p>
          <a:p>
            <a:pPr>
              <a:spcAft>
                <a:spcPts val="600"/>
              </a:spcAft>
            </a:pPr>
            <a:r>
              <a:rPr sz="1600" b="1">
                <a:solidFill>
                  <a:srgbClr val="1F3864"/>
                </a:solidFill>
                <a:latin typeface="Arial"/>
              </a:rPr>
              <a:t>2.  Normalize</a:t>
            </a:r>
            <a:r>
              <a:rPr sz="1600">
                <a:solidFill>
                  <a:srgbClr val="333333"/>
                </a:solidFill>
                <a:latin typeface="Arial"/>
              </a:rPr>
              <a:t> — subtract the baseline, scale the trace to unit peak</a:t>
            </a:r>
          </a:p>
          <a:p>
            <a:pPr>
              <a:spcAft>
                <a:spcPts val="600"/>
              </a:spcAft>
            </a:pPr>
            <a:r>
              <a:rPr sz="1600" b="1">
                <a:solidFill>
                  <a:srgbClr val="1F3864"/>
                </a:solidFill>
                <a:latin typeface="Arial"/>
              </a:rPr>
              <a:t>3.  Fit</a:t>
            </a:r>
            <a:r>
              <a:rPr sz="1600">
                <a:solidFill>
                  <a:srgbClr val="333333"/>
                </a:solidFill>
                <a:latin typeface="Arial"/>
              </a:rPr>
              <a:t> — two-exponential model, all 5 parameters free (including the pretrigger t₀):</a:t>
            </a:r>
          </a:p>
        </p:txBody>
      </p:sp>
      <p:pic>
        <p:nvPicPr>
          <p:cNvPr id="5" name="Picture 4" descr="formula_2exp.png"/>
          <p:cNvPicPr>
            <a:picLocks noChangeAspect="1"/>
          </p:cNvPicPr>
          <p:nvPr/>
        </p:nvPicPr>
        <p:blipFill>
          <a:blip r:embed="rId2"/>
          <a:stretch>
            <a:fillRect/>
          </a:stretch>
        </p:blipFill>
        <p:spPr>
          <a:xfrm>
            <a:off x="3114415" y="2395728"/>
            <a:ext cx="5932689" cy="868680"/>
          </a:xfrm>
          <a:prstGeom prst="rect">
            <a:avLst/>
          </a:prstGeom>
        </p:spPr>
      </p:pic>
      <p:sp>
        <p:nvSpPr>
          <p:cNvPr id="6" name="TextBox 5"/>
          <p:cNvSpPr txBox="1"/>
          <p:nvPr/>
        </p:nvSpPr>
        <p:spPr>
          <a:xfrm>
            <a:off x="502920" y="3337560"/>
            <a:ext cx="11247120" cy="1371600"/>
          </a:xfrm>
          <a:prstGeom prst="rect">
            <a:avLst/>
          </a:prstGeom>
          <a:noFill/>
        </p:spPr>
        <p:txBody>
          <a:bodyPr wrap="square">
            <a:spAutoFit/>
          </a:bodyPr>
          <a:lstStyle/>
          <a:p>
            <a:pPr>
              <a:spcAft>
                <a:spcPts val="600"/>
              </a:spcAft>
            </a:pPr>
            <a:r>
              <a:rPr sz="1600" b="1">
                <a:solidFill>
                  <a:srgbClr val="1F3864"/>
                </a:solidFill>
                <a:latin typeface="Arial"/>
              </a:rPr>
              <a:t>4.  Two quality numbers per trace</a:t>
            </a:r>
            <a:r>
              <a:rPr sz="1600">
                <a:solidFill>
                  <a:srgbClr val="333333"/>
                </a:solidFill>
                <a:latin typeface="Arial"/>
              </a:rPr>
              <a:t> (recorded here, not cut yet):</a:t>
            </a:r>
          </a:p>
        </p:txBody>
      </p:sp>
      <p:sp>
        <p:nvSpPr>
          <p:cNvPr id="7" name="TextBox 6"/>
          <p:cNvSpPr txBox="1"/>
          <p:nvPr/>
        </p:nvSpPr>
        <p:spPr>
          <a:xfrm>
            <a:off x="1051560" y="3675887"/>
            <a:ext cx="10607040" cy="822960"/>
          </a:xfrm>
          <a:prstGeom prst="rect">
            <a:avLst/>
          </a:prstGeom>
          <a:noFill/>
        </p:spPr>
        <p:txBody>
          <a:bodyPr wrap="square">
            <a:spAutoFit/>
          </a:bodyPr>
          <a:lstStyle/>
          <a:p>
            <a:pPr>
              <a:spcAft>
                <a:spcPts val="400"/>
              </a:spcAft>
            </a:pPr>
            <a:r>
              <a:rPr sz="1500" b="1">
                <a:solidFill>
                  <a:srgbClr val="333333"/>
                </a:solidFill>
                <a:latin typeface="Arial"/>
              </a:rPr>
              <a:t>•  fit_ok</a:t>
            </a:r>
            <a:r>
              <a:rPr sz="1500">
                <a:solidFill>
                  <a:srgbClr val="333333"/>
                </a:solidFill>
                <a:latin typeface="Arial"/>
              </a:rPr>
              <a:t> — amplitude is positive, and the pulse rises faster than it falls</a:t>
            </a:r>
          </a:p>
          <a:p>
            <a:pPr>
              <a:spcAft>
                <a:spcPts val="400"/>
              </a:spcAft>
            </a:pPr>
            <a:r>
              <a:rPr sz="1500" b="1">
                <a:solidFill>
                  <a:srgbClr val="333333"/>
                </a:solidFill>
                <a:latin typeface="Arial"/>
              </a:rPr>
              <a:t>•  NRMSE</a:t>
            </a:r>
            <a:r>
              <a:rPr sz="1500">
                <a:solidFill>
                  <a:srgbClr val="333333"/>
                </a:solidFill>
                <a:latin typeface="Arial"/>
              </a:rPr>
              <a:t> — RMS of the fit residual ÷ pulse peak  (smaller = better fit)</a:t>
            </a:r>
          </a:p>
        </p:txBody>
      </p:sp>
      <p:sp>
        <p:nvSpPr>
          <p:cNvPr id="8" name="TextBox 7"/>
          <p:cNvSpPr txBox="1"/>
          <p:nvPr/>
        </p:nvSpPr>
        <p:spPr>
          <a:xfrm>
            <a:off x="502920" y="4526280"/>
            <a:ext cx="11247120" cy="502920"/>
          </a:xfrm>
          <a:prstGeom prst="rect">
            <a:avLst/>
          </a:prstGeom>
          <a:noFill/>
        </p:spPr>
        <p:txBody>
          <a:bodyPr wrap="square">
            <a:spAutoFit/>
          </a:bodyPr>
          <a:lstStyle/>
          <a:p>
            <a:pPr>
              <a:spcAft>
                <a:spcPts val="600"/>
              </a:spcAft>
            </a:pPr>
            <a:r>
              <a:rPr sz="1600" b="1">
                <a:solidFill>
                  <a:srgbClr val="1F3864"/>
                </a:solidFill>
                <a:latin typeface="Arial"/>
              </a:rPr>
              <a:t>5.  Align</a:t>
            </a:r>
            <a:r>
              <a:rPr sz="1600">
                <a:solidFill>
                  <a:srgbClr val="333333"/>
                </a:solidFill>
                <a:latin typeface="Arial"/>
              </a:rPr>
              <a:t> — shift the measured trace by (fitted pretrigger − 16050)</a:t>
            </a:r>
          </a:p>
        </p:txBody>
      </p:sp>
      <p:pic>
        <p:nvPicPr>
          <p:cNvPr id="9" name="Picture 8" descr="fan_zip7_PBS1_before_zoom.png"/>
          <p:cNvPicPr>
            <a:picLocks noChangeAspect="1"/>
          </p:cNvPicPr>
          <p:nvPr/>
        </p:nvPicPr>
        <p:blipFill>
          <a:blip r:embed="rId3"/>
          <a:stretch>
            <a:fillRect/>
          </a:stretch>
        </p:blipFill>
        <p:spPr>
          <a:xfrm>
            <a:off x="2233436" y="4864608"/>
            <a:ext cx="2299688" cy="1371600"/>
          </a:xfrm>
          <a:prstGeom prst="rect">
            <a:avLst/>
          </a:prstGeom>
        </p:spPr>
      </p:pic>
      <p:sp>
        <p:nvSpPr>
          <p:cNvPr id="10" name="TextBox 9"/>
          <p:cNvSpPr txBox="1"/>
          <p:nvPr/>
        </p:nvSpPr>
        <p:spPr>
          <a:xfrm>
            <a:off x="822960" y="6266208"/>
            <a:ext cx="5120640" cy="274320"/>
          </a:xfrm>
          <a:prstGeom prst="rect">
            <a:avLst/>
          </a:prstGeom>
          <a:noFill/>
        </p:spPr>
        <p:txBody>
          <a:bodyPr wrap="square">
            <a:spAutoFit/>
          </a:bodyPr>
          <a:lstStyle/>
          <a:p>
            <a:pPr algn="ctr"/>
            <a:r>
              <a:rPr sz="1100" i="1">
                <a:solidFill>
                  <a:srgbClr val="666666"/>
                </a:solidFill>
                <a:latin typeface="Arial"/>
              </a:rPr>
              <a:t>All fit_ok fitted curves (Z7 PBS1) — no cut</a:t>
            </a:r>
          </a:p>
        </p:txBody>
      </p:sp>
      <p:pic>
        <p:nvPicPr>
          <p:cNvPr id="11" name="Picture 10" descr="fan_zip7_PBS1_nrmse_zoom.png"/>
          <p:cNvPicPr>
            <a:picLocks noChangeAspect="1"/>
          </p:cNvPicPr>
          <p:nvPr/>
        </p:nvPicPr>
        <p:blipFill>
          <a:blip r:embed="rId4"/>
          <a:stretch>
            <a:fillRect/>
          </a:stretch>
        </p:blipFill>
        <p:spPr>
          <a:xfrm>
            <a:off x="7719836" y="4864608"/>
            <a:ext cx="2299688" cy="1371600"/>
          </a:xfrm>
          <a:prstGeom prst="rect">
            <a:avLst/>
          </a:prstGeom>
        </p:spPr>
      </p:pic>
      <p:sp>
        <p:nvSpPr>
          <p:cNvPr id="12" name="TextBox 11"/>
          <p:cNvSpPr txBox="1"/>
          <p:nvPr/>
        </p:nvSpPr>
        <p:spPr>
          <a:xfrm>
            <a:off x="6309360" y="6266208"/>
            <a:ext cx="5120640" cy="274320"/>
          </a:xfrm>
          <a:prstGeom prst="rect">
            <a:avLst/>
          </a:prstGeom>
          <a:noFill/>
        </p:spPr>
        <p:txBody>
          <a:bodyPr wrap="square">
            <a:spAutoFit/>
          </a:bodyPr>
          <a:lstStyle/>
          <a:p>
            <a:pPr algn="ctr"/>
            <a:r>
              <a:rPr sz="1100" i="1">
                <a:solidFill>
                  <a:srgbClr val="666666"/>
                </a:solidFill>
                <a:latin typeface="Arial"/>
              </a:rPr>
              <a:t>After NRMSE ≤ 0.4 — one tight shape family</a:t>
            </a:r>
          </a:p>
        </p:txBody>
      </p:sp>
      <p:sp>
        <p:nvSpPr>
          <p:cNvPr id="13" name="TextBox 12"/>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3 / 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Fit quality at a glance — event × channel grids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188720"/>
          </a:xfrm>
          <a:prstGeom prst="rect">
            <a:avLst/>
          </a:prstGeom>
          <a:noFill/>
        </p:spPr>
        <p:txBody>
          <a:bodyPr wrap="square">
            <a:spAutoFit/>
          </a:bodyPr>
          <a:lstStyle/>
          <a:p>
            <a:pPr>
              <a:spcAft>
                <a:spcPts val="500"/>
              </a:spcAft>
            </a:pPr>
            <a:r>
              <a:rPr sz="1400">
                <a:solidFill>
                  <a:srgbClr val="333333"/>
                </a:solidFill>
                <a:latin typeface="Arial"/>
              </a:rPr>
              <a:t>• One row per event, one column per channel: low-passed trace (blue) vs 2-exp fit (red), NRMSE stamped per panel</a:t>
            </a:r>
          </a:p>
          <a:p>
            <a:pPr>
              <a:spcAft>
                <a:spcPts val="500"/>
              </a:spcAft>
            </a:pPr>
            <a:r>
              <a:rPr sz="1400">
                <a:solidFill>
                  <a:srgbClr val="333333"/>
                </a:solidFill>
                <a:latin typeface="Arial"/>
              </a:rPr>
              <a:t>• The same event fits consistently across channels; a noise trigger fails in all channels at once</a:t>
            </a:r>
          </a:p>
        </p:txBody>
      </p:sp>
      <p:pic>
        <p:nvPicPr>
          <p:cNvPr id="5" name="Picture 4" descr="fit_examples_zip7_noise.png"/>
          <p:cNvPicPr>
            <a:picLocks noChangeAspect="1"/>
          </p:cNvPicPr>
          <p:nvPr/>
        </p:nvPicPr>
        <p:blipFill>
          <a:blip r:embed="rId2"/>
          <a:stretch>
            <a:fillRect/>
          </a:stretch>
        </p:blipFill>
        <p:spPr>
          <a:xfrm>
            <a:off x="182880" y="2514600"/>
            <a:ext cx="5989320" cy="2781247"/>
          </a:xfrm>
          <a:prstGeom prst="rect">
            <a:avLst/>
          </a:prstGeom>
        </p:spPr>
      </p:pic>
      <p:sp>
        <p:nvSpPr>
          <p:cNvPr id="6" name="TextBox 5"/>
          <p:cNvSpPr txBox="1"/>
          <p:nvPr/>
        </p:nvSpPr>
        <p:spPr>
          <a:xfrm>
            <a:off x="182880" y="5325847"/>
            <a:ext cx="5989320" cy="274320"/>
          </a:xfrm>
          <a:prstGeom prst="rect">
            <a:avLst/>
          </a:prstGeom>
          <a:noFill/>
        </p:spPr>
        <p:txBody>
          <a:bodyPr wrap="square">
            <a:spAutoFit/>
          </a:bodyPr>
          <a:lstStyle/>
          <a:p>
            <a:pPr algn="ctr"/>
            <a:r>
              <a:rPr sz="1100" i="1">
                <a:solidFill>
                  <a:srgbClr val="666666"/>
                </a:solidFill>
                <a:latin typeface="Arial"/>
              </a:rPr>
              <a:t>Noise triggers: the fit fails in every channel at once</a:t>
            </a:r>
          </a:p>
        </p:txBody>
      </p:sp>
      <p:pic>
        <p:nvPicPr>
          <p:cNvPr id="7" name="Picture 6" descr="fit_examples_zip7_good.png"/>
          <p:cNvPicPr>
            <a:picLocks noChangeAspect="1"/>
          </p:cNvPicPr>
          <p:nvPr/>
        </p:nvPicPr>
        <p:blipFill>
          <a:blip r:embed="rId3"/>
          <a:stretch>
            <a:fillRect/>
          </a:stretch>
        </p:blipFill>
        <p:spPr>
          <a:xfrm>
            <a:off x="6035040" y="2514600"/>
            <a:ext cx="5989320" cy="2677983"/>
          </a:xfrm>
          <a:prstGeom prst="rect">
            <a:avLst/>
          </a:prstGeom>
        </p:spPr>
      </p:pic>
      <p:sp>
        <p:nvSpPr>
          <p:cNvPr id="8" name="TextBox 7"/>
          <p:cNvSpPr txBox="1"/>
          <p:nvPr/>
        </p:nvSpPr>
        <p:spPr>
          <a:xfrm>
            <a:off x="6035040" y="5222583"/>
            <a:ext cx="5989320" cy="274320"/>
          </a:xfrm>
          <a:prstGeom prst="rect">
            <a:avLst/>
          </a:prstGeom>
          <a:noFill/>
        </p:spPr>
        <p:txBody>
          <a:bodyPr wrap="square">
            <a:spAutoFit/>
          </a:bodyPr>
          <a:lstStyle/>
          <a:p>
            <a:pPr algn="ctr"/>
            <a:r>
              <a:rPr sz="1100" i="1">
                <a:solidFill>
                  <a:srgbClr val="666666"/>
                </a:solidFill>
                <a:latin typeface="Arial"/>
              </a:rPr>
              <a:t>K-line events: consistent good fits across channels</a:t>
            </a:r>
          </a:p>
        </p:txBody>
      </p:sp>
      <p:sp>
        <p:nvSpPr>
          <p:cNvPr id="9" name="TextBox 8"/>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4 / 10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Quality cut 1: NRMSE ≤ 0.4 — where the number comes from</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NRMSE of fit_ok events is bimodal: good fits (median ≈ 0.05–0.1) vs noise triggers (≈ 1–2), valley at ≈ 0.4–0.5</a:t>
            </a:r>
          </a:p>
          <a:p>
            <a:pPr>
              <a:spcAft>
                <a:spcPts val="500"/>
              </a:spcAft>
            </a:pPr>
            <a:r>
              <a:rPr sz="1400">
                <a:solidFill>
                  <a:srgbClr val="333333"/>
                </a:solidFill>
                <a:latin typeface="Arial"/>
              </a:rPr>
              <a:t>• The cut sits in the valley — it is read off the distribution, not tuned on the templates</a:t>
            </a:r>
          </a:p>
          <a:p>
            <a:pPr>
              <a:spcAft>
                <a:spcPts val="500"/>
              </a:spcAft>
            </a:pPr>
            <a:r>
              <a:rPr sz="1400">
                <a:solidFill>
                  <a:srgbClr val="333333"/>
                </a:solidFill>
                <a:latin typeface="Arial"/>
              </a:rPr>
              <a:t>• Noisy detectors (Z1, Z4, Z6, Z18, Z19, Z22, Z24): the PTOF window admits a noise-dominated mixture — this cut is what extracts the real-pulse population</a:t>
            </a:r>
          </a:p>
        </p:txBody>
      </p:sp>
      <p:pic>
        <p:nvPicPr>
          <p:cNvPr id="5" name="Picture 4" descr="nrmse_zip7_PBS1.png"/>
          <p:cNvPicPr>
            <a:picLocks noChangeAspect="1"/>
          </p:cNvPicPr>
          <p:nvPr/>
        </p:nvPicPr>
        <p:blipFill>
          <a:blip r:embed="rId2"/>
          <a:stretch>
            <a:fillRect/>
          </a:stretch>
        </p:blipFill>
        <p:spPr>
          <a:xfrm>
            <a:off x="1970576" y="2651760"/>
            <a:ext cx="8220367" cy="1874519"/>
          </a:xfrm>
          <a:prstGeom prst="rect">
            <a:avLst/>
          </a:prstGeom>
        </p:spPr>
      </p:pic>
      <p:sp>
        <p:nvSpPr>
          <p:cNvPr id="6" name="TextBox 5"/>
          <p:cNvSpPr txBox="1"/>
          <p:nvPr/>
        </p:nvSpPr>
        <p:spPr>
          <a:xfrm>
            <a:off x="1737360" y="4556279"/>
            <a:ext cx="8686800" cy="274320"/>
          </a:xfrm>
          <a:prstGeom prst="rect">
            <a:avLst/>
          </a:prstGeom>
          <a:noFill/>
        </p:spPr>
        <p:txBody>
          <a:bodyPr wrap="square">
            <a:spAutoFit/>
          </a:bodyPr>
          <a:lstStyle/>
          <a:p>
            <a:pPr algn="ctr"/>
            <a:r>
              <a:rPr sz="1100" i="1">
                <a:solidFill>
                  <a:srgbClr val="666666"/>
                </a:solidFill>
                <a:latin typeface="Arial"/>
              </a:rPr>
              <a:t>Z7 PBS1 (quiet): two clean populations, log-log axes</a:t>
            </a:r>
          </a:p>
        </p:txBody>
      </p:sp>
      <p:pic>
        <p:nvPicPr>
          <p:cNvPr id="7" name="Picture 6" descr="nrmse_zip22_PAS1.png"/>
          <p:cNvPicPr>
            <a:picLocks noChangeAspect="1"/>
          </p:cNvPicPr>
          <p:nvPr/>
        </p:nvPicPr>
        <p:blipFill>
          <a:blip r:embed="rId3"/>
          <a:stretch>
            <a:fillRect/>
          </a:stretch>
        </p:blipFill>
        <p:spPr>
          <a:xfrm>
            <a:off x="1989344" y="4754880"/>
            <a:ext cx="8182831" cy="1874519"/>
          </a:xfrm>
          <a:prstGeom prst="rect">
            <a:avLst/>
          </a:prstGeom>
        </p:spPr>
      </p:pic>
      <p:sp>
        <p:nvSpPr>
          <p:cNvPr id="8" name="TextBox 7"/>
          <p:cNvSpPr txBox="1"/>
          <p:nvPr/>
        </p:nvSpPr>
        <p:spPr>
          <a:xfrm>
            <a:off x="1737360" y="6659399"/>
            <a:ext cx="8686800" cy="274320"/>
          </a:xfrm>
          <a:prstGeom prst="rect">
            <a:avLst/>
          </a:prstGeom>
          <a:noFill/>
        </p:spPr>
        <p:txBody>
          <a:bodyPr wrap="square">
            <a:spAutoFit/>
          </a:bodyPr>
          <a:lstStyle/>
          <a:p>
            <a:pPr algn="ctr"/>
            <a:r>
              <a:rPr sz="1100" i="1">
                <a:solidFill>
                  <a:srgbClr val="666666"/>
                </a:solidFill>
                <a:latin typeface="Arial"/>
              </a:rPr>
              <a:t>Z22 PAS1 (noisy): noise population dominates — the window alone is not enough</a:t>
            </a:r>
          </a:p>
        </p:txBody>
      </p:sp>
      <p:sp>
        <p:nvSpPr>
          <p:cNvPr id="9" name="TextBox 8"/>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5 / 10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The rejected population is noise — verified in the raw traces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914400"/>
          </a:xfrm>
          <a:prstGeom prst="rect">
            <a:avLst/>
          </a:prstGeom>
          <a:noFill/>
        </p:spPr>
        <p:txBody>
          <a:bodyPr wrap="square">
            <a:spAutoFit/>
          </a:bodyPr>
          <a:lstStyle/>
          <a:p>
            <a:pPr>
              <a:spcAft>
                <a:spcPts val="500"/>
              </a:spcAft>
            </a:pPr>
            <a:r>
              <a:rPr sz="1400">
                <a:solidFill>
                  <a:srgbClr val="333333"/>
                </a:solidFill>
                <a:latin typeface="Arial"/>
              </a:rPr>
              <a:t>• Event grids of NRMSE-rejected events (median NRMSE &gt; 0.4 across channels): the raw traces show no pulse — the cut removes noise triggers, not physics</a:t>
            </a:r>
          </a:p>
        </p:txBody>
      </p:sp>
      <p:pic>
        <p:nvPicPr>
          <p:cNvPr id="5" name="Picture 4" descr="slow_rise_zip22_crop.png"/>
          <p:cNvPicPr>
            <a:picLocks noChangeAspect="1"/>
          </p:cNvPicPr>
          <p:nvPr/>
        </p:nvPicPr>
        <p:blipFill>
          <a:blip r:embed="rId2"/>
          <a:stretch>
            <a:fillRect/>
          </a:stretch>
        </p:blipFill>
        <p:spPr>
          <a:xfrm>
            <a:off x="365760" y="2468880"/>
            <a:ext cx="5394960" cy="3699401"/>
          </a:xfrm>
          <a:prstGeom prst="rect">
            <a:avLst/>
          </a:prstGeom>
        </p:spPr>
      </p:pic>
      <p:sp>
        <p:nvSpPr>
          <p:cNvPr id="6" name="TextBox 5"/>
          <p:cNvSpPr txBox="1"/>
          <p:nvPr/>
        </p:nvSpPr>
        <p:spPr>
          <a:xfrm>
            <a:off x="365760" y="6198281"/>
            <a:ext cx="5394960" cy="274320"/>
          </a:xfrm>
          <a:prstGeom prst="rect">
            <a:avLst/>
          </a:prstGeom>
          <a:noFill/>
        </p:spPr>
        <p:txBody>
          <a:bodyPr wrap="square">
            <a:spAutoFit/>
          </a:bodyPr>
          <a:lstStyle/>
          <a:p>
            <a:pPr algn="ctr"/>
            <a:r>
              <a:rPr sz="1100" i="1">
                <a:solidFill>
                  <a:srgbClr val="666666"/>
                </a:solidFill>
                <a:latin typeface="Arial"/>
              </a:rPr>
              <a:t>Z22: NRMSE-rejected events — raw traces are noise</a:t>
            </a:r>
          </a:p>
        </p:txBody>
      </p:sp>
      <p:pic>
        <p:nvPicPr>
          <p:cNvPr id="7" name="Picture 6" descr="fan_cut_zip22_PCS1.png"/>
          <p:cNvPicPr>
            <a:picLocks noChangeAspect="1"/>
          </p:cNvPicPr>
          <p:nvPr/>
        </p:nvPicPr>
        <p:blipFill>
          <a:blip r:embed="rId3"/>
          <a:stretch>
            <a:fillRect/>
          </a:stretch>
        </p:blipFill>
        <p:spPr>
          <a:xfrm>
            <a:off x="5943600" y="2240280"/>
            <a:ext cx="6263640" cy="3429000"/>
          </a:xfrm>
          <a:prstGeom prst="rect">
            <a:avLst/>
          </a:prstGeom>
        </p:spPr>
      </p:pic>
      <p:sp>
        <p:nvSpPr>
          <p:cNvPr id="8" name="TextBox 7"/>
          <p:cNvSpPr txBox="1"/>
          <p:nvPr/>
        </p:nvSpPr>
        <p:spPr>
          <a:xfrm>
            <a:off x="6035040" y="5806440"/>
            <a:ext cx="6126480" cy="960120"/>
          </a:xfrm>
          <a:prstGeom prst="rect">
            <a:avLst/>
          </a:prstGeom>
          <a:noFill/>
        </p:spPr>
        <p:txBody>
          <a:bodyPr wrap="square">
            <a:spAutoFit/>
          </a:bodyPr>
          <a:lstStyle/>
          <a:p>
            <a:r>
              <a:rPr sz="1400" b="1">
                <a:solidFill>
                  <a:srgbClr val="2E7D32"/>
                </a:solidFill>
                <a:latin typeface="Arial"/>
              </a:rPr>
              <a:t>── passes the cut (kept)</a:t>
            </a:r>
            <a:r>
              <a:rPr sz="1400" b="1">
                <a:solidFill>
                  <a:srgbClr val="C0392B"/>
                </a:solidFill>
                <a:latin typeface="Arial"/>
              </a:rPr>
              <a:t>      ── cut away = rejected</a:t>
            </a:r>
          </a:p>
          <a:p>
            <a:r>
              <a:rPr sz="1400" b="0">
                <a:solidFill>
                  <a:srgbClr val="4A70B0"/>
                </a:solidFill>
                <a:latin typeface="Arial"/>
              </a:rPr>
              <a:t>faint blue = measured traces</a:t>
            </a:r>
            <a:r>
              <a:rPr sz="1400" b="0">
                <a:solidFill>
                  <a:srgbClr val="333333"/>
                </a:solidFill>
                <a:latin typeface="Arial"/>
              </a:rPr>
              <a:t>      Z22 PCS1: 7198 kept / 4788 cut (~40%)</a:t>
            </a:r>
          </a:p>
        </p:txBody>
      </p:sp>
      <p:sp>
        <p:nvSpPr>
          <p:cNvPr id="9" name="TextBox 8"/>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6 / 10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Follow-up 1 — the slow-fall tail is a one-channel artifact</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The post-cut fan still shows slow-fall tails → sample them: NRMSE ≤ 0.4 AND τ_fall &gt; 1.5 ms, 10 random events, raw vs fit drawn in all 12 channels</a:t>
            </a:r>
          </a:p>
          <a:p>
            <a:pPr>
              <a:spcAft>
                <a:spcPts val="500"/>
              </a:spcAft>
            </a:pPr>
            <a:r>
              <a:rPr sz="1400">
                <a:solidFill>
                  <a:srgbClr val="333333"/>
                </a:solidFill>
                <a:latin typeface="Arial"/>
              </a:rPr>
              <a:t>• The sampled events are real pulses → kept. Their extreme fall times trace to one channel: only PDS2 swings (τ_fall median 0.51 ms vs ≈ 0.25 ms elsewhere) — a low-frequency disturbance</a:t>
            </a:r>
          </a:p>
          <a:p>
            <a:pPr>
              <a:spcAft>
                <a:spcPts val="500"/>
              </a:spcAft>
            </a:pPr>
            <a:r>
              <a:rPr sz="1400">
                <a:solidFill>
                  <a:srgbClr val="333333"/>
                </a:solidFill>
                <a:latin typeface="Arial"/>
              </a:rPr>
              <a:t>• Conclusion: no τ_fall cut — slow-fall events passing NRMSE stay in; the extreme tail is a one-channel artifact, not physics</a:t>
            </a:r>
          </a:p>
        </p:txBody>
      </p:sp>
      <p:pic>
        <p:nvPicPr>
          <p:cNvPr id="5" name="Picture 4" descr="slow_fall_zip7_crop.png"/>
          <p:cNvPicPr>
            <a:picLocks noChangeAspect="1"/>
          </p:cNvPicPr>
          <p:nvPr/>
        </p:nvPicPr>
        <p:blipFill>
          <a:blip r:embed="rId2"/>
          <a:stretch>
            <a:fillRect/>
          </a:stretch>
        </p:blipFill>
        <p:spPr>
          <a:xfrm>
            <a:off x="274320" y="2697480"/>
            <a:ext cx="6126480" cy="3149961"/>
          </a:xfrm>
          <a:prstGeom prst="rect">
            <a:avLst/>
          </a:prstGeom>
        </p:spPr>
      </p:pic>
      <p:sp>
        <p:nvSpPr>
          <p:cNvPr id="6" name="TextBox 5"/>
          <p:cNvSpPr txBox="1"/>
          <p:nvPr/>
        </p:nvSpPr>
        <p:spPr>
          <a:xfrm>
            <a:off x="274320" y="5877441"/>
            <a:ext cx="6126480" cy="274320"/>
          </a:xfrm>
          <a:prstGeom prst="rect">
            <a:avLst/>
          </a:prstGeom>
          <a:noFill/>
        </p:spPr>
        <p:txBody>
          <a:bodyPr wrap="square">
            <a:spAutoFit/>
          </a:bodyPr>
          <a:lstStyle/>
          <a:p>
            <a:pPr algn="ctr"/>
            <a:r>
              <a:rPr sz="1100" i="1">
                <a:solidFill>
                  <a:srgbClr val="666666"/>
                </a:solidFill>
                <a:latin typeface="Arial"/>
              </a:rPr>
              <a:t>Z7, 3 sampled slow-fall events: normal in PBS2/PCS2/PES2, swings only in PDS2</a:t>
            </a:r>
          </a:p>
        </p:txBody>
      </p:sp>
      <p:pic>
        <p:nvPicPr>
          <p:cNvPr id="7" name="Picture 6" descr="time_constants_zip7_PAS1_tfall.png"/>
          <p:cNvPicPr>
            <a:picLocks noChangeAspect="1"/>
          </p:cNvPicPr>
          <p:nvPr/>
        </p:nvPicPr>
        <p:blipFill>
          <a:blip r:embed="rId3"/>
          <a:stretch>
            <a:fillRect/>
          </a:stretch>
        </p:blipFill>
        <p:spPr>
          <a:xfrm>
            <a:off x="6446520" y="3063240"/>
            <a:ext cx="2788920" cy="2085332"/>
          </a:xfrm>
          <a:prstGeom prst="rect">
            <a:avLst/>
          </a:prstGeom>
        </p:spPr>
      </p:pic>
      <p:sp>
        <p:nvSpPr>
          <p:cNvPr id="8" name="TextBox 7"/>
          <p:cNvSpPr txBox="1"/>
          <p:nvPr/>
        </p:nvSpPr>
        <p:spPr>
          <a:xfrm>
            <a:off x="6446520" y="5178572"/>
            <a:ext cx="2788920" cy="274320"/>
          </a:xfrm>
          <a:prstGeom prst="rect">
            <a:avLst/>
          </a:prstGeom>
          <a:noFill/>
        </p:spPr>
        <p:txBody>
          <a:bodyPr wrap="square">
            <a:spAutoFit/>
          </a:bodyPr>
          <a:lstStyle/>
          <a:p>
            <a:pPr algn="ctr"/>
            <a:r>
              <a:rPr sz="1100" i="1">
                <a:solidFill>
                  <a:srgbClr val="666666"/>
                </a:solidFill>
                <a:latin typeface="Arial"/>
              </a:rPr>
              <a:t>PAS1 — normal channel: narrow (median 0.25 ms)</a:t>
            </a:r>
          </a:p>
        </p:txBody>
      </p:sp>
      <p:pic>
        <p:nvPicPr>
          <p:cNvPr id="9" name="Picture 8" descr="time_constants_zip7_PDS2_tfall.png"/>
          <p:cNvPicPr>
            <a:picLocks noChangeAspect="1"/>
          </p:cNvPicPr>
          <p:nvPr/>
        </p:nvPicPr>
        <p:blipFill>
          <a:blip r:embed="rId4"/>
          <a:stretch>
            <a:fillRect/>
          </a:stretch>
        </p:blipFill>
        <p:spPr>
          <a:xfrm>
            <a:off x="9326880" y="3063240"/>
            <a:ext cx="2788920" cy="2076855"/>
          </a:xfrm>
          <a:prstGeom prst="rect">
            <a:avLst/>
          </a:prstGeom>
        </p:spPr>
      </p:pic>
      <p:sp>
        <p:nvSpPr>
          <p:cNvPr id="10" name="TextBox 9"/>
          <p:cNvSpPr txBox="1"/>
          <p:nvPr/>
        </p:nvSpPr>
        <p:spPr>
          <a:xfrm>
            <a:off x="9326880" y="5170095"/>
            <a:ext cx="2788920" cy="274320"/>
          </a:xfrm>
          <a:prstGeom prst="rect">
            <a:avLst/>
          </a:prstGeom>
          <a:noFill/>
        </p:spPr>
        <p:txBody>
          <a:bodyPr wrap="square">
            <a:spAutoFit/>
          </a:bodyPr>
          <a:lstStyle/>
          <a:p>
            <a:pPr algn="ctr"/>
            <a:r>
              <a:rPr sz="1100" i="1">
                <a:solidFill>
                  <a:srgbClr val="666666"/>
                </a:solidFill>
                <a:latin typeface="Arial"/>
              </a:rPr>
              <a:t>PDS2 — bad channel: broad tail (median 0.51 ms)</a:t>
            </a:r>
          </a:p>
        </p:txBody>
      </p:sp>
      <p:sp>
        <p:nvSpPr>
          <p:cNvPr id="11" name="TextBox 10"/>
          <p:cNvSpPr txBox="1"/>
          <p:nvPr/>
        </p:nvSpPr>
        <p:spPr>
          <a:xfrm>
            <a:off x="6446520" y="2395728"/>
            <a:ext cx="5669280" cy="502920"/>
          </a:xfrm>
          <a:prstGeom prst="rect">
            <a:avLst/>
          </a:prstGeom>
          <a:noFill/>
        </p:spPr>
        <p:txBody>
          <a:bodyPr wrap="square">
            <a:spAutoFit/>
          </a:bodyPr>
          <a:lstStyle/>
          <a:p>
            <a:r>
              <a:rPr sz="1500" b="1">
                <a:solidFill>
                  <a:srgbClr val="1F3864"/>
                </a:solidFill>
                <a:latin typeface="Arial"/>
              </a:rPr>
              <a:t>Fitted τ_fall distribution, same 0–7 ms axis:</a:t>
            </a:r>
          </a:p>
        </p:txBody>
      </p:sp>
      <p:sp>
        <p:nvSpPr>
          <p:cNvPr id="12" name="TextBox 11"/>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7 / 10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Template family 1 — analytic 2-exp, NRMSE-weighted (1x1)</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43000"/>
            <a:ext cx="11247120" cy="1371600"/>
          </a:xfrm>
          <a:prstGeom prst="rect">
            <a:avLst/>
          </a:prstGeom>
          <a:noFill/>
        </p:spPr>
        <p:txBody>
          <a:bodyPr wrap="square">
            <a:spAutoFit/>
          </a:bodyPr>
          <a:lstStyle/>
          <a:p>
            <a:pPr>
              <a:spcAft>
                <a:spcPts val="500"/>
              </a:spcAft>
            </a:pPr>
            <a:r>
              <a:rPr sz="1800">
                <a:solidFill>
                  <a:srgbClr val="333333"/>
                </a:solidFill>
                <a:latin typeface="Arial"/>
              </a:rPr>
              <a:t>• NRMSE-weighted mean of the fit_ok 2-exp curves</a:t>
            </a:r>
          </a:p>
          <a:p>
            <a:pPr>
              <a:spcAft>
                <a:spcPts val="500"/>
              </a:spcAft>
            </a:pPr>
            <a:r>
              <a:rPr sz="1800">
                <a:solidFill>
                  <a:srgbClr val="333333"/>
                </a:solidFill>
                <a:latin typeface="Arial"/>
              </a:rPr>
              <a:t>• Smooth &amp; noise-free by construction</a:t>
            </a:r>
          </a:p>
          <a:p>
            <a:pPr>
              <a:spcAft>
                <a:spcPts val="500"/>
              </a:spcAft>
            </a:pPr>
            <a:r>
              <a:rPr sz="1800">
                <a:solidFill>
                  <a:srgbClr val="333333"/>
                </a:solidFill>
                <a:latin typeface="Arial"/>
              </a:rPr>
              <a:t>• ROOT TH1D, peak-normalized (+ summed PT / PS1 / PS2)</a:t>
            </a:r>
          </a:p>
        </p:txBody>
      </p:sp>
      <p:pic>
        <p:nvPicPr>
          <p:cNvPr id="5" name="Picture 4" descr="fan_zip7_PBS1_after.png"/>
          <p:cNvPicPr>
            <a:picLocks noChangeAspect="1"/>
          </p:cNvPicPr>
          <p:nvPr/>
        </p:nvPicPr>
        <p:blipFill>
          <a:blip r:embed="rId2"/>
          <a:stretch>
            <a:fillRect/>
          </a:stretch>
        </p:blipFill>
        <p:spPr>
          <a:xfrm>
            <a:off x="1383919" y="3063240"/>
            <a:ext cx="9393682" cy="2834640"/>
          </a:xfrm>
          <a:prstGeom prst="rect">
            <a:avLst/>
          </a:prstGeom>
        </p:spPr>
      </p:pic>
      <p:sp>
        <p:nvSpPr>
          <p:cNvPr id="6" name="TextBox 5"/>
          <p:cNvSpPr txBox="1"/>
          <p:nvPr/>
        </p:nvSpPr>
        <p:spPr>
          <a:xfrm>
            <a:off x="1280160" y="5927880"/>
            <a:ext cx="9601200" cy="274320"/>
          </a:xfrm>
          <a:prstGeom prst="rect">
            <a:avLst/>
          </a:prstGeom>
          <a:noFill/>
        </p:spPr>
        <p:txBody>
          <a:bodyPr wrap="square">
            <a:spAutoFit/>
          </a:bodyPr>
          <a:lstStyle/>
          <a:p>
            <a:pPr algn="ctr"/>
            <a:r>
              <a:rPr sz="1100" i="1">
                <a:solidFill>
                  <a:srgbClr val="666666"/>
                </a:solidFill>
                <a:latin typeface="Arial"/>
              </a:rPr>
              <a:t>Z7 PBS1, fitted curves after NRMSE ≤ 0.4 and τ_rise ≤ 0.3 ms — the NRMSE-weighted mean of this family is the 1x1 template</a:t>
            </a:r>
          </a:p>
        </p:txBody>
      </p:sp>
      <p:sp>
        <p:nvSpPr>
          <p:cNvPr id="7" name="TextBox 6"/>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8 / 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Template family 2 — NxM PCA templates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15568"/>
            <a:ext cx="11247120" cy="1371600"/>
          </a:xfrm>
          <a:prstGeom prst="rect">
            <a:avLst/>
          </a:prstGeom>
          <a:noFill/>
        </p:spPr>
        <p:txBody>
          <a:bodyPr wrap="square">
            <a:spAutoFit/>
          </a:bodyPr>
          <a:lstStyle/>
          <a:p>
            <a:pPr>
              <a:spcAft>
                <a:spcPts val="500"/>
              </a:spcAft>
            </a:pPr>
            <a:r>
              <a:rPr sz="1600">
                <a:solidFill>
                  <a:srgbClr val="333333"/>
                </a:solidFill>
                <a:latin typeface="Arial"/>
              </a:rPr>
              <a:t>• Per-channel PCA over the clean fitted curves (fit_ok + NRMSE ≤ 0.4 + τ_rise ≤ 0.3 ms)</a:t>
            </a:r>
          </a:p>
          <a:p>
            <a:pPr>
              <a:spcAft>
                <a:spcPts val="500"/>
              </a:spcAft>
            </a:pPr>
            <a:r>
              <a:rPr sz="1600">
                <a:solidFill>
                  <a:srgbClr val="333333"/>
                </a:solidFill>
                <a:latin typeface="Arial"/>
              </a:rPr>
              <a:t>• nxm0 = mean shape;  nxm1–4 = principal components;  real pulse = Σᵢ ampᵢ · nxmᵢ</a:t>
            </a:r>
          </a:p>
          <a:p>
            <a:pPr>
              <a:spcAft>
                <a:spcPts val="500"/>
              </a:spcAft>
            </a:pPr>
            <a:r>
              <a:rPr sz="1600">
                <a:solidFill>
                  <a:srgbClr val="333333"/>
                </a:solidFill>
                <a:latin typeface="Arial"/>
              </a:rPr>
              <a:t>• PC1 + PC2 ≈ 96–98% of the shape variance;  delivered peak-normalized</a:t>
            </a:r>
          </a:p>
        </p:txBody>
      </p:sp>
      <p:pic>
        <p:nvPicPr>
          <p:cNvPr id="5" name="Picture 4" descr="pca_zip7_PAS1.png"/>
          <p:cNvPicPr>
            <a:picLocks noChangeAspect="1"/>
          </p:cNvPicPr>
          <p:nvPr/>
        </p:nvPicPr>
        <p:blipFill>
          <a:blip r:embed="rId2"/>
          <a:stretch>
            <a:fillRect/>
          </a:stretch>
        </p:blipFill>
        <p:spPr>
          <a:xfrm>
            <a:off x="2831374" y="2697480"/>
            <a:ext cx="6498771" cy="1828800"/>
          </a:xfrm>
          <a:prstGeom prst="rect">
            <a:avLst/>
          </a:prstGeom>
        </p:spPr>
      </p:pic>
      <p:pic>
        <p:nvPicPr>
          <p:cNvPr id="6" name="Picture 5" descr="pca_zip7_PBS1.png"/>
          <p:cNvPicPr>
            <a:picLocks noChangeAspect="1"/>
          </p:cNvPicPr>
          <p:nvPr/>
        </p:nvPicPr>
        <p:blipFill>
          <a:blip r:embed="rId3"/>
          <a:stretch>
            <a:fillRect/>
          </a:stretch>
        </p:blipFill>
        <p:spPr>
          <a:xfrm>
            <a:off x="2831374" y="4572000"/>
            <a:ext cx="6498771" cy="1828800"/>
          </a:xfrm>
          <a:prstGeom prst="rect">
            <a:avLst/>
          </a:prstGeom>
        </p:spPr>
      </p:pic>
      <p:sp>
        <p:nvSpPr>
          <p:cNvPr id="7" name="TextBox 6"/>
          <p:cNvSpPr txBox="1"/>
          <p:nvPr/>
        </p:nvSpPr>
        <p:spPr>
          <a:xfrm>
            <a:off x="1371600" y="6430800"/>
            <a:ext cx="9418320" cy="274320"/>
          </a:xfrm>
          <a:prstGeom prst="rect">
            <a:avLst/>
          </a:prstGeom>
          <a:noFill/>
        </p:spPr>
        <p:txBody>
          <a:bodyPr wrap="square">
            <a:spAutoFit/>
          </a:bodyPr>
          <a:lstStyle/>
          <a:p>
            <a:pPr algn="ctr"/>
            <a:r>
              <a:rPr sz="1100" i="1">
                <a:solidFill>
                  <a:srgbClr val="666666"/>
                </a:solidFill>
                <a:latin typeface="Arial"/>
              </a:rPr>
              <a:t>Z7 PAS1 / PBS1: nxm0 (mean) + nxm1–4 (PCs) — the oscillating components encode rise/fall-time variation</a:t>
            </a:r>
          </a:p>
        </p:txBody>
      </p:sp>
      <p:sp>
        <p:nvSpPr>
          <p:cNvPr id="8" name="TextBox 7"/>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9 / 10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Delivered — and what remains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0"/>
            <a:ext cx="11247120" cy="3200400"/>
          </a:xfrm>
          <a:prstGeom prst="rect">
            <a:avLst/>
          </a:prstGeom>
          <a:noFill/>
        </p:spPr>
        <p:txBody>
          <a:bodyPr wrap="square">
            <a:spAutoFit/>
          </a:bodyPr>
          <a:lstStyle/>
          <a:p>
            <a:pPr>
              <a:spcAft>
                <a:spcPts val="500"/>
              </a:spcAft>
            </a:pPr>
            <a:r>
              <a:rPr sz="2200">
                <a:solidFill>
                  <a:srgbClr val="333333"/>
                </a:solidFill>
                <a:latin typeface="Arial"/>
              </a:rPr>
              <a:t>• Two template families built for all 13 detectors:  1x1 (2-exp weighted)  +  NxM PCA</a:t>
            </a:r>
          </a:p>
          <a:p>
            <a:pPr>
              <a:spcAft>
                <a:spcPts val="500"/>
              </a:spcAft>
            </a:pPr>
            <a:r>
              <a:rPr sz="2200">
                <a:solidFill>
                  <a:srgbClr val="333333"/>
                </a:solidFill>
                <a:latin typeface="Arial"/>
              </a:rPr>
              <a:t>• Delivered in the official cdmsbats PulseTemplates format</a:t>
            </a:r>
          </a:p>
          <a:p>
            <a:pPr>
              <a:spcAft>
                <a:spcPts val="500"/>
              </a:spcAft>
            </a:pPr>
            <a:r>
              <a:rPr sz="2200">
                <a:solidFill>
                  <a:srgbClr val="333333"/>
                </a:solidFill>
                <a:latin typeface="Arial"/>
              </a:rPr>
              <a:t>• Cuts read off the data, verified in raw traces:  NRMSE ≤ 0.4,  τ_rise ≤ 0.3 ms</a:t>
            </a:r>
          </a:p>
        </p:txBody>
      </p:sp>
      <p:sp>
        <p:nvSpPr>
          <p:cNvPr id="5" name="TextBox 4"/>
          <p:cNvSpPr txBox="1"/>
          <p:nvPr/>
        </p:nvSpPr>
        <p:spPr>
          <a:xfrm>
            <a:off x="10957255" y="6446520"/>
            <a:ext cx="1005840" cy="274320"/>
          </a:xfrm>
          <a:prstGeom prst="rect">
            <a:avLst/>
          </a:prstGeom>
          <a:noFill/>
        </p:spPr>
        <p:txBody>
          <a:bodyPr wrap="none">
            <a:spAutoFit/>
          </a:bodyPr>
          <a:lstStyle/>
          <a:p>
            <a:pPr algn="r"/>
            <a:r>
              <a:rPr sz="1100">
                <a:solidFill>
                  <a:srgbClr val="666666"/>
                </a:solidFill>
                <a:latin typeface="Arial"/>
              </a:rPr>
              <a:t>10 / 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