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We'll return to where that cut comes from shortly.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alignment step, on its own. Each measured trace is shifted by its fitted pretrigger minus the nominal 16050 - a pure translation, nothing about the waveform is regenerated. The dotted vertical line is the common pretrigger everything is aligned to. The blue band is the aligned measured traces stacked together; they form a tight bundle, which tells us the pulse shape is highly consistent once the trigger-time jitter is removed. Red is the plain mean of the measured traces, and orange is the NRMSE-weighted mean of the fitted curves - already essentially the template. This tight bundle is what makes a well-defined template possible.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502920" y="4526280"/>
            <a:ext cx="11247120" cy="502920"/>
          </a:xfrm>
          <a:prstGeom prst="rect">
            <a:avLst/>
          </a:prstGeom>
          <a:noFill/>
        </p:spPr>
        <p:txBody>
          <a:bodyPr wrap="square">
            <a:spAutoFit/>
          </a:bodyPr>
          <a:lstStyle/>
          <a:p>
            <a:pPr>
              <a:spcAft>
                <a:spcPts val="6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9" name="Picture 8" descr="fan_zip7_PBS1_before_zoom.png"/>
          <p:cNvPicPr>
            <a:picLocks noChangeAspect="1"/>
          </p:cNvPicPr>
          <p:nvPr/>
        </p:nvPicPr>
        <p:blipFill>
          <a:blip r:embed="rId3"/>
          <a:stretch>
            <a:fillRect/>
          </a:stretch>
        </p:blipFill>
        <p:spPr>
          <a:xfrm>
            <a:off x="2233436" y="4864608"/>
            <a:ext cx="2299688" cy="1371600"/>
          </a:xfrm>
          <a:prstGeom prst="rect">
            <a:avLst/>
          </a:prstGeom>
        </p:spPr>
      </p:pic>
      <p:sp>
        <p:nvSpPr>
          <p:cNvPr id="10" name="TextBox 9"/>
          <p:cNvSpPr txBox="1"/>
          <p:nvPr/>
        </p:nvSpPr>
        <p:spPr>
          <a:xfrm>
            <a:off x="822960" y="6266208"/>
            <a:ext cx="51206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11" name="Picture 10" descr="fan_zip7_PBS1_nrmse_zoom.png"/>
          <p:cNvPicPr>
            <a:picLocks noChangeAspect="1"/>
          </p:cNvPicPr>
          <p:nvPr/>
        </p:nvPicPr>
        <p:blipFill>
          <a:blip r:embed="rId4"/>
          <a:stretch>
            <a:fillRect/>
          </a:stretch>
        </p:blipFill>
        <p:spPr>
          <a:xfrm>
            <a:off x="7719836" y="4864608"/>
            <a:ext cx="2299688" cy="1371600"/>
          </a:xfrm>
          <a:prstGeom prst="rect">
            <a:avLst/>
          </a:prstGeom>
        </p:spPr>
      </p:pic>
      <p:sp>
        <p:nvSpPr>
          <p:cNvPr id="12" name="TextBox 11"/>
          <p:cNvSpPr txBox="1"/>
          <p:nvPr/>
        </p:nvSpPr>
        <p:spPr>
          <a:xfrm>
            <a:off x="6309360" y="6266208"/>
            <a:ext cx="5120640" cy="274320"/>
          </a:xfrm>
          <a:prstGeom prst="rect">
            <a:avLst/>
          </a:prstGeom>
          <a:noFill/>
        </p:spPr>
        <p:txBody>
          <a:bodyPr wrap="square">
            <a:spAutoFit/>
          </a:bodyPr>
          <a:lstStyle/>
          <a:p>
            <a:pPr algn="ctr"/>
            <a:r>
              <a:rPr sz="1100" i="1">
                <a:solidFill>
                  <a:srgbClr val="666666"/>
                </a:solidFill>
                <a:latin typeface="Arial"/>
              </a:rPr>
              <a:t>After NRMSE ≤ 0.4 — one tight shape family</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 every trace shifted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22960"/>
          </a:xfrm>
          <a:prstGeom prst="rect">
            <a:avLst/>
          </a:prstGeom>
          <a:noFill/>
        </p:spPr>
        <p:txBody>
          <a:bodyPr wrap="square">
            <a:spAutoFit/>
          </a:bodyPr>
          <a:lstStyle/>
          <a:p>
            <a:pPr>
              <a:spcAft>
                <a:spcPts val="500"/>
              </a:spcAft>
            </a:pPr>
            <a:r>
              <a:rPr sz="1500">
                <a:solidFill>
                  <a:srgbClr val="333333"/>
                </a:solidFill>
                <a:latin typeface="Arial"/>
              </a:rPr>
              <a:t>• Each measured trace is shifted by (fitted pretrigger − 16050) — a pure translation; the aligned traces stack into a tight bundle</a:t>
            </a:r>
          </a:p>
        </p:txBody>
      </p:sp>
      <p:pic>
        <p:nvPicPr>
          <p:cNvPr id="5" name="Picture 4" descr="aligned_zoom_zip7_PBS1_clean.png"/>
          <p:cNvPicPr>
            <a:picLocks noChangeAspect="1"/>
          </p:cNvPicPr>
          <p:nvPr/>
        </p:nvPicPr>
        <p:blipFill>
          <a:blip r:embed="rId2"/>
          <a:stretch>
            <a:fillRect/>
          </a:stretch>
        </p:blipFill>
        <p:spPr>
          <a:xfrm>
            <a:off x="1581796" y="2194560"/>
            <a:ext cx="8997927" cy="4297680"/>
          </a:xfrm>
          <a:prstGeom prst="rect">
            <a:avLst/>
          </a:prstGeom>
        </p:spPr>
      </p:pic>
      <p:sp>
        <p:nvSpPr>
          <p:cNvPr id="6" name="TextBox 5"/>
          <p:cNvSpPr txBox="1"/>
          <p:nvPr/>
        </p:nvSpPr>
        <p:spPr>
          <a:xfrm>
            <a:off x="548640" y="6522240"/>
            <a:ext cx="11064240" cy="274320"/>
          </a:xfrm>
          <a:prstGeom prst="rect">
            <a:avLst/>
          </a:prstGeom>
          <a:noFill/>
        </p:spPr>
        <p:txBody>
          <a:bodyPr wrap="square">
            <a:spAutoFit/>
          </a:bodyPr>
          <a:lstStyle/>
          <a:p>
            <a:pPr algn="ctr"/>
            <a:r>
              <a:rPr sz="1100" i="1">
                <a:solidFill>
                  <a:srgbClr val="666666"/>
                </a:solidFill>
                <a:latin typeface="Arial"/>
              </a:rPr>
              <a:t>Z7 PBS1 (peak zoom): shift-aligned measured traces (blue)  ·  mean (red)  ·  NRMSE-weighted mean of the fitted curves (orange)  ·  dotted line = common pretrigger 16050</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365760" y="2468880"/>
            <a:ext cx="5394960" cy="3699401"/>
          </a:xfrm>
          <a:prstGeom prst="rect">
            <a:avLst/>
          </a:prstGeom>
        </p:spPr>
      </p:pic>
      <p:sp>
        <p:nvSpPr>
          <p:cNvPr id="6" name="TextBox 5"/>
          <p:cNvSpPr txBox="1"/>
          <p:nvPr/>
        </p:nvSpPr>
        <p:spPr>
          <a:xfrm>
            <a:off x="36576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Z22 PCS1: 7198 kept / 4788 cut (~40%)</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