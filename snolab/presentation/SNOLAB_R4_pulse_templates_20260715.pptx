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Today I will present the phonon pulse-template work for SNOLAB Run 4: how we selected events on the Ge-activation K-line, the fit-and-align pipeline, the quality cuts and how each was derived, and the two template families we delivered for all 13 detectors.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starts from the Ge activation data. After Cf activation every detector shows the 10.37 keV K-line. The ops-shift study located the K-line position in the PTOFamps spectrum of each detector - that is the red line in every panel here. Our event selection is exactly one condition: a window around the red line, a factor 1.35 both ways, and nothing else. For each selected event we cache the fully unprocessed raw MIDAS traces of all channels. You can already see on the weak detectors that the window will admit part of the noise-trigger population next to the K-line - that is intentional: the cache is raw, so every later cut stays explicit and reversible.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per-trace algorithm, five steps. Low-pass at 100 kilohertz, baseline subtraction, peak normalization, then a two-exponential fit where all five parameters are free, including the pulse onset. The onset is never pinned: real trigger times vary, and the fitted onsets cluster about 230 samples after the nominal pretrigger - pinning it would bias the time constants. Each fit records a physicality flag and an NRMSE; no cut yet. Finally the measured trace is aligned by shifting it by the fitted onset - a pure translation. The two fan plots show the output of the fit step: every fitted curve drawn at the common onset, peak-normalized. On the left, all physical fits - you can see slow components spreading off the main bundle. On the right, after the NRMSE cut, a single tight shape family remains. Where that cut comes from is the next part of the talk.</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judge the fits we use event-by-channel grids: each row is one event, each column one channel. A real K-line event fits well in all channels simultaneously, while a noise trigger - like the top rows here - fails everywhere at once. The per-panel NRMSE makes this quantitative. All our figures carry the processing chain stamped in the header, so each PNG is self-documenting.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what things look like after alignment - zoomed right on the peak. The blue band is thousands of measured traces stacked on top of each other; red is their average; orange is the weighted average of the fitted curves. On a quiet detector the bundle is very tight - the pulse shape really is highly consistent, so the raw material for a template is good. Now please notice one detail: in both channels there is a faint, displaced little bundle next to the main one - very clear in the left panel. And these two channels sit on opposite faces of the crystal, so this is not a quirk of one channel. Keep it in mind - we'll come back to what it is.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quality cut. The NRMSE distribution of physical fits is bimodal on every detector: a good-fit population around 0.05 to 0.1, and a noise-trigger population around 1 to 2, separated by a valley at about 0.4. We place the cut in the valley - it is read off the distribution itself. On quiet detectors like Z7 the noise population is small; on weak detectors like Z22 it dominates, and this cut is what digs the real pulses out of the mixture.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trusting the cut we looked at what it throws away. These are event grids of the rejected population on Z22: the raw traces show no pulse at all - they are noise triggers whose slow two-exp fit happened to converge. The fan-cut view on the right overlays the passing fitted curves in green and the rejected ones in red on the aligned data: the green population is the fast physical pulse shape, the red one is spread out with a median NRMSE three times higher. So the cut removes noise, not physics.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lead comes from the fan plot after the cut: some curves still fall very slowly. We chased it with the same recipe: among events passing the cut, take fall times above one point five milliseconds, randomly sample ten, and draw raw versus fit in every channel. The result is clean: in the other eleven channels these events are perfectly normal fast pulses - only PDS2, one single channel, is swinging wildly. So it's not the event that's slow, it's that one channel's low-frequency disturbance. Conclusion: no fall cut is needed - artifact, not physics.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 lead is the slow rise. Same recipe: take events that fit well - NRMSE fine - but whose median rise time is above zero point two milliseconds, sample them, look at the raw traces. This time the conclusion is the opposite: these are real pulses. Onset aligned, peak arriving late, consistent across all channels - they are exactly the shadow from the alignment plot. So the slow rise cannot simply be cut away: there is real physics in it, possibly related to where in the crystal the event happens; that is not settled yet.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But on the slow-rise side there is also a troublemaker: on detectors with a noisy window, a slow baseline drift also fits as a slow rise, with a tiny residual - NRMSE cannot catch it. The real pulses cluster near zero point one milliseconds while the drift tail stretches much further, so for the template input we set a ceiling at zero point three milliseconds. That blocks the drift and keeps the vast majority of real pulses - including part of the shadow population; the price is that the very slowest genuine pulses get trimmed too. That trade-off is documented and not final - I would like your input on it later.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template family: the analytic one. For each channel we take every physical fitted curve at the common onset and average them with a weight of one over NRMSE squared - badly fit events count less but nothing is excluded by hand. After the cuts, shown here, a single tight shape family remains, and its weighted mean is the 1x1 template - smooth and noise-free by construction because it is built from analytic curves, delivered as peak-normalized ROOT histograms.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Second family: the NxM PCA templates, built to capture the shape variation we just saw. We run a PCA over the fitted curves that pass all cuts, in a window around the pulse. The mean shape becomes template zero, and the first four principal components become templates one to four - they oscillate and can be negative, and the optimal filter fits a real pulse as a linear combination of them. The first two components already capture 96 to 98 percent of the shape variance on every detector.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summarize: both template families are delivered for all 13 detectors in the official PulseTemplates format - the analytic 1x1 templates and the PCA NxM set. The whole chain is traceable from raw traces to every figure, and both quality cuts were read off the data and verified in the raw traces. Two things remain: the final call on the rise-time ceiling versus the genuine slow pulses, and running the group's template-validation method on the new templates. Thank you - happy to take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7.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2103120"/>
            <a:ext cx="10515600" cy="1463040"/>
          </a:xfrm>
          <a:prstGeom prst="rect">
            <a:avLst/>
          </a:prstGeom>
          <a:noFill/>
        </p:spPr>
        <p:txBody>
          <a:bodyPr wrap="square">
            <a:spAutoFit/>
          </a:bodyPr>
          <a:lstStyle/>
          <a:p>
            <a:r>
              <a:rPr sz="3600" b="1">
                <a:solidFill>
                  <a:srgbClr val="1F3864"/>
                </a:solidFill>
                <a:latin typeface="Arial"/>
              </a:rPr>
              <a:t>Phonon Pulse Templates for SuperCDMS SNOLAB Run 4</a:t>
            </a:r>
          </a:p>
        </p:txBody>
      </p:sp>
      <p:sp>
        <p:nvSpPr>
          <p:cNvPr id="3" name="TextBox 2"/>
          <p:cNvSpPr txBox="1"/>
          <p:nvPr/>
        </p:nvSpPr>
        <p:spPr>
          <a:xfrm>
            <a:off x="822960" y="3383280"/>
            <a:ext cx="10515600" cy="822960"/>
          </a:xfrm>
          <a:prstGeom prst="rect">
            <a:avLst/>
          </a:prstGeom>
          <a:noFill/>
        </p:spPr>
        <p:txBody>
          <a:bodyPr wrap="square">
            <a:spAutoFit/>
          </a:bodyPr>
          <a:lstStyle/>
          <a:p>
            <a:r>
              <a:rPr sz="1800">
                <a:solidFill>
                  <a:srgbClr val="666666"/>
                </a:solidFill>
                <a:latin typeface="Arial"/>
              </a:rPr>
              <a:t>K-line event selection  ·  free-pretrigger two-exponential fits  ·  1x1 and NxM (PCA) templates</a:t>
            </a:r>
          </a:p>
        </p:txBody>
      </p:sp>
      <p:sp>
        <p:nvSpPr>
          <p:cNvPr id="4" name="TextBox 3"/>
          <p:cNvSpPr txBox="1"/>
          <p:nvPr/>
        </p:nvSpPr>
        <p:spPr>
          <a:xfrm>
            <a:off x="822960" y="5120640"/>
            <a:ext cx="10515600" cy="731520"/>
          </a:xfrm>
          <a:prstGeom prst="rect">
            <a:avLst/>
          </a:prstGeom>
          <a:noFill/>
        </p:spPr>
        <p:txBody>
          <a:bodyPr wrap="square">
            <a:spAutoFit/>
          </a:bodyPr>
          <a:lstStyle/>
          <a:p>
            <a:r>
              <a:rPr sz="1600">
                <a:solidFill>
                  <a:srgbClr val="333333"/>
                </a:solidFill>
                <a:latin typeface="Arial"/>
              </a:rPr>
              <a:t>Zhiheng Li  —  July 15,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From the Ge-activation K-line to an event sample</a:t>
            </a:r>
          </a:p>
          <a:p>
            <a:r>
              <a:rPr sz="1400">
                <a:solidFill>
                  <a:srgbClr val="666666"/>
                </a:solidFill>
                <a:latin typeface="Arial"/>
              </a:rPr>
              <a:t>Goal: one clean, minimally-biased pulse population per detector × channel</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28600" y="1078992"/>
            <a:ext cx="11247120" cy="1325880"/>
          </a:xfrm>
          <a:prstGeom prst="rect">
            <a:avLst/>
          </a:prstGeom>
          <a:noFill/>
        </p:spPr>
        <p:txBody>
          <a:bodyPr wrap="square">
            <a:spAutoFit/>
          </a:bodyPr>
          <a:lstStyle/>
          <a:p>
            <a:pPr>
              <a:spcAft>
                <a:spcPts val="500"/>
              </a:spcAft>
            </a:pPr>
            <a:r>
              <a:rPr sz="1400">
                <a:solidFill>
                  <a:srgbClr val="333333"/>
                </a:solidFill>
                <a:latin typeface="Arial"/>
              </a:rPr>
              <a:t>• Per detector, the ops-shift study marked the 10.37 keV K-line position in PTOFamps — the red line in each panel below</a:t>
            </a:r>
          </a:p>
          <a:p>
            <a:pPr>
              <a:spcAft>
                <a:spcPts val="500"/>
              </a:spcAft>
            </a:pPr>
            <a:r>
              <a:rPr sz="1400">
                <a:solidFill>
                  <a:srgbClr val="333333"/>
                </a:solidFill>
                <a:latin typeface="Arial"/>
              </a:rPr>
              <a:t>• Our event selection: a PTOFamps window bracketing the red line (position ×/÷ 1.35) — deliberately minimal, no other cuts</a:t>
            </a:r>
          </a:p>
          <a:p>
            <a:pPr>
              <a:spcAft>
                <a:spcPts val="500"/>
              </a:spcAft>
            </a:pPr>
            <a:r>
              <a:rPr sz="1400">
                <a:solidFill>
                  <a:srgbClr val="333333"/>
                </a:solidFill>
                <a:latin typeface="Arial"/>
              </a:rPr>
              <a:t>• For every selected event: cache the fully unprocessed raw MIDAS traces of all channels + event metadata</a:t>
            </a:r>
          </a:p>
          <a:p>
            <a:pPr>
              <a:spcAft>
                <a:spcPts val="500"/>
              </a:spcAft>
            </a:pPr>
            <a:r>
              <a:rPr sz="1400">
                <a:solidFill>
                  <a:srgbClr val="333333"/>
                </a:solidFill>
                <a:latin typeface="Arial"/>
              </a:rPr>
              <a:t>• 13 detectors (zips) × 27–30 series → ~120 GB raw cache; every later cut stays explicit and reversible</a:t>
            </a:r>
          </a:p>
        </p:txBody>
      </p:sp>
      <p:pic>
        <p:nvPicPr>
          <p:cNvPr id="5" name="Picture 4" descr="kline_all_zips.png"/>
          <p:cNvPicPr>
            <a:picLocks noChangeAspect="1"/>
          </p:cNvPicPr>
          <p:nvPr/>
        </p:nvPicPr>
        <p:blipFill>
          <a:blip r:embed="rId2"/>
          <a:stretch>
            <a:fillRect/>
          </a:stretch>
        </p:blipFill>
        <p:spPr>
          <a:xfrm>
            <a:off x="1059892" y="2487168"/>
            <a:ext cx="10078312" cy="3977639"/>
          </a:xfrm>
          <a:prstGeom prst="rect">
            <a:avLst/>
          </a:prstGeom>
        </p:spPr>
      </p:pic>
      <p:sp>
        <p:nvSpPr>
          <p:cNvPr id="6" name="TextBox 5"/>
          <p:cNvSpPr txBox="1"/>
          <p:nvPr/>
        </p:nvSpPr>
        <p:spPr>
          <a:xfrm>
            <a:off x="384048" y="6494807"/>
            <a:ext cx="11430000" cy="274320"/>
          </a:xfrm>
          <a:prstGeom prst="rect">
            <a:avLst/>
          </a:prstGeom>
          <a:noFill/>
        </p:spPr>
        <p:txBody>
          <a:bodyPr wrap="square">
            <a:spAutoFit/>
          </a:bodyPr>
          <a:lstStyle/>
          <a:p>
            <a:pPr algn="ctr"/>
            <a:r>
              <a:rPr sz="1100" i="1">
                <a:solidFill>
                  <a:srgbClr val="666666"/>
                </a:solidFill>
                <a:latin typeface="Arial"/>
              </a:rPr>
              <a:t>All 13 detectors, PTOFamps spectra (ops-shift study): red line = fitted mean of the 10.37 keV K-line. Selection window per detector = red-line position ×/÷ 1.35.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Per-trace algorithm: low-pass → free-pretrigger fit → align</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143000"/>
            <a:ext cx="11247120" cy="2834640"/>
          </a:xfrm>
          <a:prstGeom prst="rect">
            <a:avLst/>
          </a:prstGeom>
          <a:noFill/>
        </p:spPr>
        <p:txBody>
          <a:bodyPr wrap="square">
            <a:spAutoFit/>
          </a:bodyPr>
          <a:lstStyle/>
          <a:p>
            <a:pPr>
              <a:spcAft>
                <a:spcPts val="500"/>
              </a:spcAft>
            </a:pPr>
            <a:r>
              <a:rPr sz="1500">
                <a:solidFill>
                  <a:srgbClr val="333333"/>
                </a:solidFill>
                <a:latin typeface="Arial"/>
              </a:rPr>
              <a:t>• 1.  100 kHz 4th-order Butterworth low-pass (steady-state init — no filter start-up transient)</a:t>
            </a:r>
          </a:p>
          <a:p>
            <a:pPr>
              <a:spcAft>
                <a:spcPts val="500"/>
              </a:spcAft>
            </a:pPr>
            <a:r>
              <a:rPr sz="1500">
                <a:solidFill>
                  <a:srgbClr val="333333"/>
                </a:solidFill>
                <a:latin typeface="Arial"/>
              </a:rPr>
              <a:t>• 2.  Baseline = median of samples 2000–12000, subtracted; normalize by the global trace peak</a:t>
            </a:r>
          </a:p>
          <a:p>
            <a:pPr>
              <a:spcAft>
                <a:spcPts val="500"/>
              </a:spcAft>
            </a:pPr>
            <a:r>
              <a:rPr sz="1500">
                <a:solidFill>
                  <a:srgbClr val="333333"/>
                </a:solidFill>
                <a:latin typeface="Arial"/>
              </a:rPr>
              <a:t>• 3.  Two-exponential fit — all 5 parameters free, including the onset:</a:t>
            </a:r>
          </a:p>
          <a:p>
            <a:pPr lvl="1">
              <a:spcAft>
                <a:spcPts val="500"/>
              </a:spcAft>
            </a:pPr>
            <a:r>
              <a:rPr sz="1300">
                <a:solidFill>
                  <a:srgbClr val="666666"/>
                </a:solidFill>
                <a:latin typeface="Arial"/>
              </a:rPr>
              <a:t>– y(t) = A·[exp(−(t−t₀)/τ_fall) − exp(−(t−t₀)/τ_rise)] + b,   t₀ ∈ 16050 ± 3000 samples</a:t>
            </a:r>
          </a:p>
          <a:p>
            <a:pPr lvl="1">
              <a:spcAft>
                <a:spcPts val="500"/>
              </a:spcAft>
            </a:pPr>
            <a:r>
              <a:rPr sz="1300">
                <a:solidFill>
                  <a:srgbClr val="666666"/>
                </a:solidFill>
                <a:latin typeface="Arial"/>
              </a:rPr>
              <a:t>– fit window 12550–24050 (stride 4);  τ_rise ∈ [1 µs, 5 ms],  τ_fall ∈ [10 µs, 20 ms]</a:t>
            </a:r>
          </a:p>
          <a:p>
            <a:pPr>
              <a:spcAft>
                <a:spcPts val="500"/>
              </a:spcAft>
            </a:pPr>
            <a:r>
              <a:rPr sz="1500">
                <a:solidFill>
                  <a:srgbClr val="333333"/>
                </a:solidFill>
                <a:latin typeface="Arial"/>
              </a:rPr>
              <a:t>• 4.  Quality numbers — fit_ok := A&gt;0 and 0&lt;τ_rise&lt;τ_fall;  NRMSE := RMS(residual)/fit peak (recorded, no cut yet)</a:t>
            </a:r>
          </a:p>
          <a:p>
            <a:pPr>
              <a:spcAft>
                <a:spcPts val="500"/>
              </a:spcAft>
            </a:pPr>
            <a:r>
              <a:rPr sz="1500">
                <a:solidFill>
                  <a:srgbClr val="333333"/>
                </a:solidFill>
                <a:latin typeface="Arial"/>
              </a:rPr>
              <a:t>• 5.  Align — shift the measured trace by (fitted onset − 16050), sub-sample interpolation: a pure translation</a:t>
            </a:r>
          </a:p>
        </p:txBody>
      </p:sp>
      <p:sp>
        <p:nvSpPr>
          <p:cNvPr id="5" name="TextBox 4"/>
          <p:cNvSpPr txBox="1"/>
          <p:nvPr/>
        </p:nvSpPr>
        <p:spPr>
          <a:xfrm>
            <a:off x="502920" y="4005072"/>
            <a:ext cx="11247120" cy="685800"/>
          </a:xfrm>
          <a:prstGeom prst="rect">
            <a:avLst/>
          </a:prstGeom>
          <a:noFill/>
        </p:spPr>
        <p:txBody>
          <a:bodyPr wrap="square">
            <a:spAutoFit/>
          </a:bodyPr>
          <a:lstStyle/>
          <a:p>
            <a:pPr>
              <a:spcAft>
                <a:spcPts val="500"/>
              </a:spcAft>
            </a:pPr>
            <a:r>
              <a:rPr sz="1400">
                <a:solidFill>
                  <a:srgbClr val="C0504D"/>
                </a:solidFill>
                <a:latin typeface="Arial"/>
              </a:rPr>
              <a:t>• Why a free onset?  Real trigger times vary event-by-event — fitted onsets cluster ≈230 samples after the nominal 16050. Pinning the onset distorts every other parameter.</a:t>
            </a:r>
          </a:p>
        </p:txBody>
      </p:sp>
      <p:pic>
        <p:nvPicPr>
          <p:cNvPr id="6" name="Picture 5" descr="fan_zip7_PBS1_before.png"/>
          <p:cNvPicPr>
            <a:picLocks noChangeAspect="1"/>
          </p:cNvPicPr>
          <p:nvPr/>
        </p:nvPicPr>
        <p:blipFill>
          <a:blip r:embed="rId2"/>
          <a:stretch>
            <a:fillRect/>
          </a:stretch>
        </p:blipFill>
        <p:spPr>
          <a:xfrm>
            <a:off x="594677" y="4800600"/>
            <a:ext cx="5302885" cy="1600200"/>
          </a:xfrm>
          <a:prstGeom prst="rect">
            <a:avLst/>
          </a:prstGeom>
        </p:spPr>
      </p:pic>
      <p:sp>
        <p:nvSpPr>
          <p:cNvPr id="7" name="TextBox 6"/>
          <p:cNvSpPr txBox="1"/>
          <p:nvPr/>
        </p:nvSpPr>
        <p:spPr>
          <a:xfrm>
            <a:off x="502920" y="6430800"/>
            <a:ext cx="5486400" cy="274320"/>
          </a:xfrm>
          <a:prstGeom prst="rect">
            <a:avLst/>
          </a:prstGeom>
          <a:noFill/>
        </p:spPr>
        <p:txBody>
          <a:bodyPr wrap="square">
            <a:spAutoFit/>
          </a:bodyPr>
          <a:lstStyle/>
          <a:p>
            <a:pPr algn="ctr"/>
            <a:r>
              <a:rPr sz="1100" i="1">
                <a:solidFill>
                  <a:srgbClr val="666666"/>
                </a:solidFill>
                <a:latin typeface="Arial"/>
              </a:rPr>
              <a:t>Fitted curves at common onset, peak-normalized — ALL fit_ok events (no cut)</a:t>
            </a:r>
          </a:p>
        </p:txBody>
      </p:sp>
      <p:pic>
        <p:nvPicPr>
          <p:cNvPr id="8" name="Picture 7" descr="fan_zip7_PBS1_nrmse.png"/>
          <p:cNvPicPr>
            <a:picLocks noChangeAspect="1"/>
          </p:cNvPicPr>
          <p:nvPr/>
        </p:nvPicPr>
        <p:blipFill>
          <a:blip r:embed="rId3"/>
          <a:stretch>
            <a:fillRect/>
          </a:stretch>
        </p:blipFill>
        <p:spPr>
          <a:xfrm>
            <a:off x="6355397" y="4800600"/>
            <a:ext cx="5302885" cy="1600200"/>
          </a:xfrm>
          <a:prstGeom prst="rect">
            <a:avLst/>
          </a:prstGeom>
        </p:spPr>
      </p:pic>
      <p:sp>
        <p:nvSpPr>
          <p:cNvPr id="9" name="TextBox 8"/>
          <p:cNvSpPr txBox="1"/>
          <p:nvPr/>
        </p:nvSpPr>
        <p:spPr>
          <a:xfrm>
            <a:off x="6263640" y="6430800"/>
            <a:ext cx="5486400" cy="274320"/>
          </a:xfrm>
          <a:prstGeom prst="rect">
            <a:avLst/>
          </a:prstGeom>
          <a:noFill/>
        </p:spPr>
        <p:txBody>
          <a:bodyPr wrap="square">
            <a:spAutoFit/>
          </a:bodyPr>
          <a:lstStyle/>
          <a:p>
            <a:pPr algn="ctr"/>
            <a:r>
              <a:rPr sz="1100" i="1">
                <a:solidFill>
                  <a:srgbClr val="666666"/>
                </a:solidFill>
                <a:latin typeface="Arial"/>
              </a:rPr>
              <a:t>Same, after NRMSE ≤ 0.4 — a single tight shape family remains (Z7 PBS1)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Fit quality at a glance — event × channel grids</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1188720"/>
          </a:xfrm>
          <a:prstGeom prst="rect">
            <a:avLst/>
          </a:prstGeom>
          <a:noFill/>
        </p:spPr>
        <p:txBody>
          <a:bodyPr wrap="square">
            <a:spAutoFit/>
          </a:bodyPr>
          <a:lstStyle/>
          <a:p>
            <a:pPr>
              <a:spcAft>
                <a:spcPts val="500"/>
              </a:spcAft>
            </a:pPr>
            <a:r>
              <a:rPr sz="1400">
                <a:solidFill>
                  <a:srgbClr val="333333"/>
                </a:solidFill>
                <a:latin typeface="Arial"/>
              </a:rPr>
              <a:t>• One row per event, one column per channel: low-passed trace (blue) vs 2-exp fit (red), NRMSE stamped per panel</a:t>
            </a:r>
          </a:p>
          <a:p>
            <a:pPr>
              <a:spcAft>
                <a:spcPts val="500"/>
              </a:spcAft>
            </a:pPr>
            <a:r>
              <a:rPr sz="1400">
                <a:solidFill>
                  <a:srgbClr val="333333"/>
                </a:solidFill>
                <a:latin typeface="Arial"/>
              </a:rPr>
              <a:t>• The same event fits consistently across channels; a noise trigger fails in all channels at once</a:t>
            </a:r>
          </a:p>
          <a:p>
            <a:pPr>
              <a:spcAft>
                <a:spcPts val="500"/>
              </a:spcAft>
            </a:pPr>
            <a:r>
              <a:rPr sz="1400">
                <a:solidFill>
                  <a:srgbClr val="333333"/>
                </a:solidFill>
                <a:latin typeface="Arial"/>
              </a:rPr>
              <a:t>• Every figure carries its full processing chain in the header → self-documenting</a:t>
            </a:r>
          </a:p>
        </p:txBody>
      </p:sp>
      <p:pic>
        <p:nvPicPr>
          <p:cNvPr id="5" name="Picture 4" descr="fit_examples_zip7_noise.png"/>
          <p:cNvPicPr>
            <a:picLocks noChangeAspect="1"/>
          </p:cNvPicPr>
          <p:nvPr/>
        </p:nvPicPr>
        <p:blipFill>
          <a:blip r:embed="rId2"/>
          <a:stretch>
            <a:fillRect/>
          </a:stretch>
        </p:blipFill>
        <p:spPr>
          <a:xfrm>
            <a:off x="502920" y="2377440"/>
            <a:ext cx="5486400" cy="2547707"/>
          </a:xfrm>
          <a:prstGeom prst="rect">
            <a:avLst/>
          </a:prstGeom>
        </p:spPr>
      </p:pic>
      <p:sp>
        <p:nvSpPr>
          <p:cNvPr id="6" name="TextBox 5"/>
          <p:cNvSpPr txBox="1"/>
          <p:nvPr/>
        </p:nvSpPr>
        <p:spPr>
          <a:xfrm>
            <a:off x="502920" y="4955147"/>
            <a:ext cx="5486400" cy="274320"/>
          </a:xfrm>
          <a:prstGeom prst="rect">
            <a:avLst/>
          </a:prstGeom>
          <a:noFill/>
        </p:spPr>
        <p:txBody>
          <a:bodyPr wrap="square">
            <a:spAutoFit/>
          </a:bodyPr>
          <a:lstStyle/>
          <a:p>
            <a:pPr algn="ctr"/>
            <a:r>
              <a:rPr sz="1100" i="1">
                <a:solidFill>
                  <a:srgbClr val="666666"/>
                </a:solidFill>
                <a:latin typeface="Arial"/>
              </a:rPr>
              <a:t>Noise triggers: the fit fails in every channel at once</a:t>
            </a:r>
          </a:p>
        </p:txBody>
      </p:sp>
      <p:pic>
        <p:nvPicPr>
          <p:cNvPr id="7" name="Picture 6" descr="fit_examples_zip7_good.png"/>
          <p:cNvPicPr>
            <a:picLocks noChangeAspect="1"/>
          </p:cNvPicPr>
          <p:nvPr/>
        </p:nvPicPr>
        <p:blipFill>
          <a:blip r:embed="rId3"/>
          <a:stretch>
            <a:fillRect/>
          </a:stretch>
        </p:blipFill>
        <p:spPr>
          <a:xfrm>
            <a:off x="6263640" y="2377440"/>
            <a:ext cx="5486400" cy="2453114"/>
          </a:xfrm>
          <a:prstGeom prst="rect">
            <a:avLst/>
          </a:prstGeom>
        </p:spPr>
      </p:pic>
      <p:sp>
        <p:nvSpPr>
          <p:cNvPr id="8" name="TextBox 7"/>
          <p:cNvSpPr txBox="1"/>
          <p:nvPr/>
        </p:nvSpPr>
        <p:spPr>
          <a:xfrm>
            <a:off x="6263640" y="4860554"/>
            <a:ext cx="5486400" cy="274320"/>
          </a:xfrm>
          <a:prstGeom prst="rect">
            <a:avLst/>
          </a:prstGeom>
          <a:noFill/>
        </p:spPr>
        <p:txBody>
          <a:bodyPr wrap="square">
            <a:spAutoFit/>
          </a:bodyPr>
          <a:lstStyle/>
          <a:p>
            <a:pPr algn="ctr"/>
            <a:r>
              <a:rPr sz="1100" i="1">
                <a:solidFill>
                  <a:srgbClr val="666666"/>
                </a:solidFill>
                <a:latin typeface="Arial"/>
              </a:rPr>
              <a:t>K-line events: consistent good fits across channels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Alignment result — overlaid measured traces</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1371600"/>
          </a:xfrm>
          <a:prstGeom prst="rect">
            <a:avLst/>
          </a:prstGeom>
          <a:noFill/>
        </p:spPr>
        <p:txBody>
          <a:bodyPr wrap="square">
            <a:spAutoFit/>
          </a:bodyPr>
          <a:lstStyle/>
          <a:p>
            <a:pPr>
              <a:spcAft>
                <a:spcPts val="500"/>
              </a:spcAft>
            </a:pPr>
            <a:r>
              <a:rPr sz="1400">
                <a:solidFill>
                  <a:srgbClr val="333333"/>
                </a:solidFill>
                <a:latin typeface="Arial"/>
              </a:rPr>
              <a:t>• All fit_ok traces shifted to the common onset (blue) + point-by-point mean (red) + NRMSE-weighted mean of the fitted curves (orange, w = 1/max(NRMSE, 0.01)²)</a:t>
            </a:r>
          </a:p>
          <a:p>
            <a:pPr>
              <a:spcAft>
                <a:spcPts val="500"/>
              </a:spcAft>
            </a:pPr>
            <a:r>
              <a:rPr sz="1400">
                <a:solidFill>
                  <a:srgbClr val="333333"/>
                </a:solidFill>
                <a:latin typeface="Arial"/>
              </a:rPr>
              <a:t>• Peak zoom on a quiet detector: a tight bundle — the template input is well defined. Note the faint displaced bundle beside the main one, visible on both crystal faces (S1 and S2) — more on it later</a:t>
            </a:r>
          </a:p>
        </p:txBody>
      </p:sp>
      <p:pic>
        <p:nvPicPr>
          <p:cNvPr id="5" name="Picture 4" descr="aligned_zoom_zip7_PCS1.png"/>
          <p:cNvPicPr>
            <a:picLocks noChangeAspect="1"/>
          </p:cNvPicPr>
          <p:nvPr/>
        </p:nvPicPr>
        <p:blipFill>
          <a:blip r:embed="rId2"/>
          <a:stretch>
            <a:fillRect/>
          </a:stretch>
        </p:blipFill>
        <p:spPr>
          <a:xfrm>
            <a:off x="320040" y="2834640"/>
            <a:ext cx="5623560" cy="2705090"/>
          </a:xfrm>
          <a:prstGeom prst="rect">
            <a:avLst/>
          </a:prstGeom>
        </p:spPr>
      </p:pic>
      <p:sp>
        <p:nvSpPr>
          <p:cNvPr id="6" name="TextBox 5"/>
          <p:cNvSpPr txBox="1"/>
          <p:nvPr/>
        </p:nvSpPr>
        <p:spPr>
          <a:xfrm>
            <a:off x="320040" y="5569730"/>
            <a:ext cx="5623560" cy="274320"/>
          </a:xfrm>
          <a:prstGeom prst="rect">
            <a:avLst/>
          </a:prstGeom>
          <a:noFill/>
        </p:spPr>
        <p:txBody>
          <a:bodyPr wrap="square">
            <a:spAutoFit/>
          </a:bodyPr>
          <a:lstStyle/>
          <a:p>
            <a:pPr algn="ctr"/>
            <a:r>
              <a:rPr sz="1100" i="1">
                <a:solidFill>
                  <a:srgbClr val="666666"/>
                </a:solidFill>
                <a:latin typeface="Arial"/>
              </a:rPr>
              <a:t>Z7 PCS1 (S1 face) — peak zoom; the faint displaced bundle is clearly visible</a:t>
            </a:r>
          </a:p>
        </p:txBody>
      </p:sp>
      <p:pic>
        <p:nvPicPr>
          <p:cNvPr id="7" name="Picture 6" descr="aligned_zoom_zip7_PBS2.png"/>
          <p:cNvPicPr>
            <a:picLocks noChangeAspect="1"/>
          </p:cNvPicPr>
          <p:nvPr/>
        </p:nvPicPr>
        <p:blipFill>
          <a:blip r:embed="rId3"/>
          <a:stretch>
            <a:fillRect/>
          </a:stretch>
        </p:blipFill>
        <p:spPr>
          <a:xfrm>
            <a:off x="6263640" y="2834640"/>
            <a:ext cx="5623560" cy="2705090"/>
          </a:xfrm>
          <a:prstGeom prst="rect">
            <a:avLst/>
          </a:prstGeom>
        </p:spPr>
      </p:pic>
      <p:sp>
        <p:nvSpPr>
          <p:cNvPr id="8" name="TextBox 7"/>
          <p:cNvSpPr txBox="1"/>
          <p:nvPr/>
        </p:nvSpPr>
        <p:spPr>
          <a:xfrm>
            <a:off x="6263640" y="5569730"/>
            <a:ext cx="5623560" cy="274320"/>
          </a:xfrm>
          <a:prstGeom prst="rect">
            <a:avLst/>
          </a:prstGeom>
          <a:noFill/>
        </p:spPr>
        <p:txBody>
          <a:bodyPr wrap="square">
            <a:spAutoFit/>
          </a:bodyPr>
          <a:lstStyle/>
          <a:p>
            <a:pPr algn="ctr"/>
            <a:r>
              <a:rPr sz="1100" i="1">
                <a:solidFill>
                  <a:srgbClr val="666666"/>
                </a:solidFill>
                <a:latin typeface="Arial"/>
              </a:rPr>
              <a:t>Z7 PBS2 (S2 face) — same faint displaced bundle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Quality cut 1: NRMSE ≤ 0.4 — where the number comes from</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1417320"/>
          </a:xfrm>
          <a:prstGeom prst="rect">
            <a:avLst/>
          </a:prstGeom>
          <a:noFill/>
        </p:spPr>
        <p:txBody>
          <a:bodyPr wrap="square">
            <a:spAutoFit/>
          </a:bodyPr>
          <a:lstStyle/>
          <a:p>
            <a:pPr>
              <a:spcAft>
                <a:spcPts val="500"/>
              </a:spcAft>
            </a:pPr>
            <a:r>
              <a:rPr sz="1400">
                <a:solidFill>
                  <a:srgbClr val="333333"/>
                </a:solidFill>
                <a:latin typeface="Arial"/>
              </a:rPr>
              <a:t>• NRMSE of fit_ok events is bimodal: good fits (median ≈ 0.05–0.1) vs noise triggers (≈ 1–2), valley at ≈ 0.4–0.5</a:t>
            </a:r>
          </a:p>
          <a:p>
            <a:pPr>
              <a:spcAft>
                <a:spcPts val="500"/>
              </a:spcAft>
            </a:pPr>
            <a:r>
              <a:rPr sz="1400">
                <a:solidFill>
                  <a:srgbClr val="333333"/>
                </a:solidFill>
                <a:latin typeface="Arial"/>
              </a:rPr>
              <a:t>• The cut sits in the valley — it is read off the distribution, not tuned on the templates</a:t>
            </a:r>
          </a:p>
          <a:p>
            <a:pPr>
              <a:spcAft>
                <a:spcPts val="500"/>
              </a:spcAft>
            </a:pPr>
            <a:r>
              <a:rPr sz="1400">
                <a:solidFill>
                  <a:srgbClr val="333333"/>
                </a:solidFill>
                <a:latin typeface="Arial"/>
              </a:rPr>
              <a:t>• Weak detectors (Z1, Z4, Z6, Z18, Z19, Z22, Z24): the PTOF window admits a noise-dominated mixture — this cut is what extracts the real-pulse population</a:t>
            </a:r>
          </a:p>
        </p:txBody>
      </p:sp>
      <p:pic>
        <p:nvPicPr>
          <p:cNvPr id="5" name="Picture 4" descr="nrmse_zip7_PBS1.png"/>
          <p:cNvPicPr>
            <a:picLocks noChangeAspect="1"/>
          </p:cNvPicPr>
          <p:nvPr/>
        </p:nvPicPr>
        <p:blipFill>
          <a:blip r:embed="rId2"/>
          <a:stretch>
            <a:fillRect/>
          </a:stretch>
        </p:blipFill>
        <p:spPr>
          <a:xfrm>
            <a:off x="1970576" y="2651760"/>
            <a:ext cx="8220367" cy="1874519"/>
          </a:xfrm>
          <a:prstGeom prst="rect">
            <a:avLst/>
          </a:prstGeom>
        </p:spPr>
      </p:pic>
      <p:sp>
        <p:nvSpPr>
          <p:cNvPr id="6" name="TextBox 5"/>
          <p:cNvSpPr txBox="1"/>
          <p:nvPr/>
        </p:nvSpPr>
        <p:spPr>
          <a:xfrm>
            <a:off x="1737360" y="4556279"/>
            <a:ext cx="8686800" cy="274320"/>
          </a:xfrm>
          <a:prstGeom prst="rect">
            <a:avLst/>
          </a:prstGeom>
          <a:noFill/>
        </p:spPr>
        <p:txBody>
          <a:bodyPr wrap="square">
            <a:spAutoFit/>
          </a:bodyPr>
          <a:lstStyle/>
          <a:p>
            <a:pPr algn="ctr"/>
            <a:r>
              <a:rPr sz="1100" i="1">
                <a:solidFill>
                  <a:srgbClr val="666666"/>
                </a:solidFill>
                <a:latin typeface="Arial"/>
              </a:rPr>
              <a:t>Z7 PBS1 (quiet): two clean populations, log-log axes</a:t>
            </a:r>
          </a:p>
        </p:txBody>
      </p:sp>
      <p:pic>
        <p:nvPicPr>
          <p:cNvPr id="7" name="Picture 6" descr="nrmse_zip22_PAS1.png"/>
          <p:cNvPicPr>
            <a:picLocks noChangeAspect="1"/>
          </p:cNvPicPr>
          <p:nvPr/>
        </p:nvPicPr>
        <p:blipFill>
          <a:blip r:embed="rId3"/>
          <a:stretch>
            <a:fillRect/>
          </a:stretch>
        </p:blipFill>
        <p:spPr>
          <a:xfrm>
            <a:off x="1989344" y="4754880"/>
            <a:ext cx="8182831" cy="1874519"/>
          </a:xfrm>
          <a:prstGeom prst="rect">
            <a:avLst/>
          </a:prstGeom>
        </p:spPr>
      </p:pic>
      <p:sp>
        <p:nvSpPr>
          <p:cNvPr id="8" name="TextBox 7"/>
          <p:cNvSpPr txBox="1"/>
          <p:nvPr/>
        </p:nvSpPr>
        <p:spPr>
          <a:xfrm>
            <a:off x="1737360" y="6659399"/>
            <a:ext cx="8686800" cy="274320"/>
          </a:xfrm>
          <a:prstGeom prst="rect">
            <a:avLst/>
          </a:prstGeom>
          <a:noFill/>
        </p:spPr>
        <p:txBody>
          <a:bodyPr wrap="square">
            <a:spAutoFit/>
          </a:bodyPr>
          <a:lstStyle/>
          <a:p>
            <a:pPr algn="ctr"/>
            <a:r>
              <a:rPr sz="1100" i="1">
                <a:solidFill>
                  <a:srgbClr val="666666"/>
                </a:solidFill>
                <a:latin typeface="Arial"/>
              </a:rPr>
              <a:t>Z22 PAS1 (weak): noise population dominates — the window alone is not enough</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The rejected population is noise — verified in the raw traces</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1234440"/>
          </a:xfrm>
          <a:prstGeom prst="rect">
            <a:avLst/>
          </a:prstGeom>
          <a:noFill/>
        </p:spPr>
        <p:txBody>
          <a:bodyPr wrap="square">
            <a:spAutoFit/>
          </a:bodyPr>
          <a:lstStyle/>
          <a:p>
            <a:pPr>
              <a:spcAft>
                <a:spcPts val="500"/>
              </a:spcAft>
            </a:pPr>
            <a:r>
              <a:rPr sz="1400">
                <a:solidFill>
                  <a:srgbClr val="333333"/>
                </a:solidFill>
                <a:latin typeface="Arial"/>
              </a:rPr>
              <a:t>• Event grids of NRMSE-rejected events (median NRMSE &gt; 0.4 across channels): the raw traces show no pulse — the cut removes noise triggers, not physics</a:t>
            </a:r>
          </a:p>
          <a:p>
            <a:pPr>
              <a:spcAft>
                <a:spcPts val="500"/>
              </a:spcAft>
            </a:pPr>
            <a:r>
              <a:rPr sz="1400">
                <a:solidFill>
                  <a:srgbClr val="333333"/>
                </a:solidFill>
                <a:latin typeface="Arial"/>
              </a:rPr>
              <a:t>• Fan-cut view: fitted curves that pass (green) vs cut away (red) on top of the aligned data, median NRMSE of each population stamped per channel</a:t>
            </a:r>
          </a:p>
        </p:txBody>
      </p:sp>
      <p:pic>
        <p:nvPicPr>
          <p:cNvPr id="5" name="Picture 4" descr="slow_rise_zip22_crop.png"/>
          <p:cNvPicPr>
            <a:picLocks noChangeAspect="1"/>
          </p:cNvPicPr>
          <p:nvPr/>
        </p:nvPicPr>
        <p:blipFill>
          <a:blip r:embed="rId2"/>
          <a:stretch>
            <a:fillRect/>
          </a:stretch>
        </p:blipFill>
        <p:spPr>
          <a:xfrm>
            <a:off x="502920" y="2468880"/>
            <a:ext cx="5394960" cy="3699401"/>
          </a:xfrm>
          <a:prstGeom prst="rect">
            <a:avLst/>
          </a:prstGeom>
        </p:spPr>
      </p:pic>
      <p:sp>
        <p:nvSpPr>
          <p:cNvPr id="6" name="TextBox 5"/>
          <p:cNvSpPr txBox="1"/>
          <p:nvPr/>
        </p:nvSpPr>
        <p:spPr>
          <a:xfrm>
            <a:off x="502920" y="6198281"/>
            <a:ext cx="5394960" cy="274320"/>
          </a:xfrm>
          <a:prstGeom prst="rect">
            <a:avLst/>
          </a:prstGeom>
          <a:noFill/>
        </p:spPr>
        <p:txBody>
          <a:bodyPr wrap="square">
            <a:spAutoFit/>
          </a:bodyPr>
          <a:lstStyle/>
          <a:p>
            <a:pPr algn="ctr"/>
            <a:r>
              <a:rPr sz="1100" i="1">
                <a:solidFill>
                  <a:srgbClr val="666666"/>
                </a:solidFill>
                <a:latin typeface="Arial"/>
              </a:rPr>
              <a:t>Z22: NRMSE-rejected events — raw traces are noise</a:t>
            </a:r>
          </a:p>
        </p:txBody>
      </p:sp>
      <p:pic>
        <p:nvPicPr>
          <p:cNvPr id="7" name="Picture 6" descr="fan_cut_zip22_PCS1.png"/>
          <p:cNvPicPr>
            <a:picLocks noChangeAspect="1"/>
          </p:cNvPicPr>
          <p:nvPr/>
        </p:nvPicPr>
        <p:blipFill>
          <a:blip r:embed="rId3"/>
          <a:stretch>
            <a:fillRect/>
          </a:stretch>
        </p:blipFill>
        <p:spPr>
          <a:xfrm>
            <a:off x="6126480" y="3108960"/>
            <a:ext cx="5760720" cy="1479697"/>
          </a:xfrm>
          <a:prstGeom prst="rect">
            <a:avLst/>
          </a:prstGeom>
        </p:spPr>
      </p:pic>
      <p:sp>
        <p:nvSpPr>
          <p:cNvPr id="8" name="TextBox 7"/>
          <p:cNvSpPr txBox="1"/>
          <p:nvPr/>
        </p:nvSpPr>
        <p:spPr>
          <a:xfrm>
            <a:off x="6126480" y="4618657"/>
            <a:ext cx="5760720" cy="274320"/>
          </a:xfrm>
          <a:prstGeom prst="rect">
            <a:avLst/>
          </a:prstGeom>
          <a:noFill/>
        </p:spPr>
        <p:txBody>
          <a:bodyPr wrap="square">
            <a:spAutoFit/>
          </a:bodyPr>
          <a:lstStyle/>
          <a:p>
            <a:pPr algn="ctr"/>
            <a:r>
              <a:rPr sz="1100" i="1">
                <a:solidFill>
                  <a:srgbClr val="666666"/>
                </a:solidFill>
                <a:latin typeface="Arial"/>
              </a:rPr>
              <a:t>Z22 PCS1: pass (green) vs rejected (red)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Follow-up 1 — the slow-fall tail is a one-channel artifact</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1417320"/>
          </a:xfrm>
          <a:prstGeom prst="rect">
            <a:avLst/>
          </a:prstGeom>
          <a:noFill/>
        </p:spPr>
        <p:txBody>
          <a:bodyPr wrap="square">
            <a:spAutoFit/>
          </a:bodyPr>
          <a:lstStyle/>
          <a:p>
            <a:pPr>
              <a:spcAft>
                <a:spcPts val="500"/>
              </a:spcAft>
            </a:pPr>
            <a:r>
              <a:rPr sz="1400">
                <a:solidFill>
                  <a:srgbClr val="333333"/>
                </a:solidFill>
                <a:latin typeface="Arial"/>
              </a:rPr>
              <a:t>• The post-cut fan still shows slow-fall tails → sample them: NRMSE ≤ 0.4 AND τ_fall &gt; 1.5 ms (reference channel PDS2), 10 random events, raw vs fit drawn in all 12 channels</a:t>
            </a:r>
          </a:p>
          <a:p>
            <a:pPr>
              <a:spcAft>
                <a:spcPts val="500"/>
              </a:spcAft>
            </a:pPr>
            <a:r>
              <a:rPr sz="1400">
                <a:solidFill>
                  <a:srgbClr val="333333"/>
                </a:solidFill>
                <a:latin typeface="Arial"/>
              </a:rPr>
              <a:t>• The same events are normal fast pulses in the other 11 channels — only PDS2 swings (τ_fall median 0.51 ms vs ≈ 0.25 ms elsewhere): a channel-specific low-frequency disturbance</a:t>
            </a:r>
          </a:p>
          <a:p>
            <a:pPr>
              <a:spcAft>
                <a:spcPts val="500"/>
              </a:spcAft>
            </a:pPr>
            <a:r>
              <a:rPr sz="1400">
                <a:solidFill>
                  <a:srgbClr val="333333"/>
                </a:solidFill>
                <a:latin typeface="Arial"/>
              </a:rPr>
              <a:t>• Conclusion: artifact, not physics → no τ_fall cut</a:t>
            </a:r>
          </a:p>
        </p:txBody>
      </p:sp>
      <p:pic>
        <p:nvPicPr>
          <p:cNvPr id="5" name="Picture 4" descr="slow_fall_zip7_crop.png"/>
          <p:cNvPicPr>
            <a:picLocks noChangeAspect="1"/>
          </p:cNvPicPr>
          <p:nvPr/>
        </p:nvPicPr>
        <p:blipFill>
          <a:blip r:embed="rId2"/>
          <a:stretch>
            <a:fillRect/>
          </a:stretch>
        </p:blipFill>
        <p:spPr>
          <a:xfrm>
            <a:off x="411480" y="2651760"/>
            <a:ext cx="6675120" cy="3432048"/>
          </a:xfrm>
          <a:prstGeom prst="rect">
            <a:avLst/>
          </a:prstGeom>
        </p:spPr>
      </p:pic>
      <p:sp>
        <p:nvSpPr>
          <p:cNvPr id="6" name="TextBox 5"/>
          <p:cNvSpPr txBox="1"/>
          <p:nvPr/>
        </p:nvSpPr>
        <p:spPr>
          <a:xfrm>
            <a:off x="411480" y="6113808"/>
            <a:ext cx="6675120" cy="274320"/>
          </a:xfrm>
          <a:prstGeom prst="rect">
            <a:avLst/>
          </a:prstGeom>
          <a:noFill/>
        </p:spPr>
        <p:txBody>
          <a:bodyPr wrap="square">
            <a:spAutoFit/>
          </a:bodyPr>
          <a:lstStyle/>
          <a:p>
            <a:pPr algn="ctr"/>
            <a:r>
              <a:rPr sz="1100" i="1">
                <a:solidFill>
                  <a:srgbClr val="666666"/>
                </a:solidFill>
                <a:latin typeface="Arial"/>
              </a:rPr>
              <a:t>Z7, 3 of the sampled slow-fall events: normal pulses in PBS2/PCS2/PES2, low-frequency swings only in PDS2</a:t>
            </a:r>
          </a:p>
        </p:txBody>
      </p:sp>
      <p:pic>
        <p:nvPicPr>
          <p:cNvPr id="7" name="Picture 6" descr="time_constants_zip7_PDS2.png"/>
          <p:cNvPicPr>
            <a:picLocks noChangeAspect="1"/>
          </p:cNvPicPr>
          <p:nvPr/>
        </p:nvPicPr>
        <p:blipFill>
          <a:blip r:embed="rId3"/>
          <a:stretch>
            <a:fillRect/>
          </a:stretch>
        </p:blipFill>
        <p:spPr>
          <a:xfrm>
            <a:off x="7315200" y="3291840"/>
            <a:ext cx="4663440" cy="896188"/>
          </a:xfrm>
          <a:prstGeom prst="rect">
            <a:avLst/>
          </a:prstGeom>
        </p:spPr>
      </p:pic>
      <p:sp>
        <p:nvSpPr>
          <p:cNvPr id="8" name="TextBox 7"/>
          <p:cNvSpPr txBox="1"/>
          <p:nvPr/>
        </p:nvSpPr>
        <p:spPr>
          <a:xfrm>
            <a:off x="7315200" y="4218028"/>
            <a:ext cx="4663440" cy="274320"/>
          </a:xfrm>
          <a:prstGeom prst="rect">
            <a:avLst/>
          </a:prstGeom>
          <a:noFill/>
        </p:spPr>
        <p:txBody>
          <a:bodyPr wrap="square">
            <a:spAutoFit/>
          </a:bodyPr>
          <a:lstStyle/>
          <a:p>
            <a:pPr algn="ctr"/>
            <a:r>
              <a:rPr sz="1100" i="1">
                <a:solidFill>
                  <a:srgbClr val="666666"/>
                </a:solidFill>
                <a:latin typeface="Arial"/>
              </a:rPr>
              <a:t>Z7 PDS2: broad τ_fall tail — the artifact in the distributions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Follow-up 2 — genuine slow-rise pulses (“shadow” events)</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1417320"/>
          </a:xfrm>
          <a:prstGeom prst="rect">
            <a:avLst/>
          </a:prstGeom>
          <a:noFill/>
        </p:spPr>
        <p:txBody>
          <a:bodyPr wrap="square">
            <a:spAutoFit/>
          </a:bodyPr>
          <a:lstStyle/>
          <a:p>
            <a:pPr>
              <a:spcAft>
                <a:spcPts val="500"/>
              </a:spcAft>
            </a:pPr>
            <a:r>
              <a:rPr sz="1400">
                <a:solidFill>
                  <a:srgbClr val="333333"/>
                </a:solidFill>
                <a:latin typeface="Arial"/>
              </a:rPr>
              <a:t>• Same sampling recipe on the rise side: median NRMSE ≤ 0.4 AND median τ_rise &gt; 0.2 ms → the raw traces show real pulses — onset aligned, peak late, consistent across channels</a:t>
            </a:r>
          </a:p>
          <a:p>
            <a:pPr>
              <a:spcAft>
                <a:spcPts val="500"/>
              </a:spcAft>
            </a:pPr>
            <a:r>
              <a:rPr sz="1400">
                <a:solidFill>
                  <a:srgbClr val="333333"/>
                </a:solidFill>
                <a:latin typeface="Arial"/>
              </a:rPr>
              <a:t>• They are the faint displaced bundle in the aligned overlays — a genuine second pulse shape (candidate surface/bulk effect, not settled)</a:t>
            </a:r>
          </a:p>
          <a:p>
            <a:pPr>
              <a:spcAft>
                <a:spcPts val="500"/>
              </a:spcAft>
            </a:pPr>
            <a:r>
              <a:rPr sz="1400">
                <a:solidFill>
                  <a:srgbClr val="333333"/>
                </a:solidFill>
                <a:latin typeface="Arial"/>
              </a:rPr>
              <a:t>• Real physics → cannot simply be cut away; exactly the shape variation the multi-template NxM method is built to capture</a:t>
            </a:r>
          </a:p>
        </p:txBody>
      </p:sp>
      <p:pic>
        <p:nvPicPr>
          <p:cNvPr id="5" name="Picture 4" descr="shadow_zip7_crop.png"/>
          <p:cNvPicPr>
            <a:picLocks noChangeAspect="1"/>
          </p:cNvPicPr>
          <p:nvPr/>
        </p:nvPicPr>
        <p:blipFill>
          <a:blip r:embed="rId2"/>
          <a:stretch>
            <a:fillRect/>
          </a:stretch>
        </p:blipFill>
        <p:spPr>
          <a:xfrm>
            <a:off x="1167141" y="2697480"/>
            <a:ext cx="9827237" cy="3794760"/>
          </a:xfrm>
          <a:prstGeom prst="rect">
            <a:avLst/>
          </a:prstGeom>
        </p:spPr>
      </p:pic>
      <p:sp>
        <p:nvSpPr>
          <p:cNvPr id="6" name="TextBox 5"/>
          <p:cNvSpPr txBox="1"/>
          <p:nvPr/>
        </p:nvSpPr>
        <p:spPr>
          <a:xfrm>
            <a:off x="1097280" y="6522240"/>
            <a:ext cx="9966960" cy="274320"/>
          </a:xfrm>
          <a:prstGeom prst="rect">
            <a:avLst/>
          </a:prstGeom>
          <a:noFill/>
        </p:spPr>
        <p:txBody>
          <a:bodyPr wrap="square">
            <a:spAutoFit/>
          </a:bodyPr>
          <a:lstStyle/>
          <a:p>
            <a:pPr algn="ctr"/>
            <a:r>
              <a:rPr sz="1100" i="1">
                <a:solidFill>
                  <a:srgbClr val="666666"/>
                </a:solidFill>
                <a:latin typeface="Arial"/>
              </a:rPr>
              <a:t>Z7 shadow events (first 4 channels): raw (gray) / LP (blue) / fit (red) — genuine slow pulses, onset aligned, peak late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Slow drift also fits “slow”: a τ_rise ≤ 0.3 ms ceiling</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1600200"/>
          </a:xfrm>
          <a:prstGeom prst="rect">
            <a:avLst/>
          </a:prstGeom>
          <a:noFill/>
        </p:spPr>
        <p:txBody>
          <a:bodyPr wrap="square">
            <a:spAutoFit/>
          </a:bodyPr>
          <a:lstStyle/>
          <a:p>
            <a:pPr>
              <a:spcAft>
                <a:spcPts val="500"/>
              </a:spcAft>
            </a:pPr>
            <a:r>
              <a:rPr sz="1400">
                <a:solidFill>
                  <a:srgbClr val="333333"/>
                </a:solidFill>
                <a:latin typeface="Arial"/>
              </a:rPr>
              <a:t>• On noisy-window detectors a smooth baseline drift survives the NRMSE cut — a slow 2-exp hugs it with a tiny residual — and mimics a slow rise</a:t>
            </a:r>
          </a:p>
          <a:p>
            <a:pPr>
              <a:spcAft>
                <a:spcPts val="500"/>
              </a:spcAft>
            </a:pPr>
            <a:r>
              <a:rPr sz="1400">
                <a:solidFill>
                  <a:srgbClr val="333333"/>
                </a:solidFill>
                <a:latin typeface="Arial"/>
              </a:rPr>
              <a:t>• Fast pulses sit at τ_rise ≈ 0.1 ms (p90 ≈ 0.15 ms), far below the drift tail → a ceiling at 0.3 ms blocks the drift at ≈ 2–5% signal cost</a:t>
            </a:r>
          </a:p>
          <a:p>
            <a:pPr>
              <a:spcAft>
                <a:spcPts val="500"/>
              </a:spcAft>
            </a:pPr>
            <a:r>
              <a:rPr sz="1400">
                <a:solidFill>
                  <a:srgbClr val="333333"/>
                </a:solidFill>
                <a:latin typeface="Arial"/>
              </a:rPr>
              <a:t>• Keeps most genuine slow pulses, trims the very slowest — documented trade-off, final decision pending</a:t>
            </a:r>
          </a:p>
        </p:txBody>
      </p:sp>
      <p:pic>
        <p:nvPicPr>
          <p:cNvPr id="5" name="Picture 4" descr="time_constants_zip7_PAS1.png"/>
          <p:cNvPicPr>
            <a:picLocks noChangeAspect="1"/>
          </p:cNvPicPr>
          <p:nvPr/>
        </p:nvPicPr>
        <p:blipFill>
          <a:blip r:embed="rId2"/>
          <a:stretch>
            <a:fillRect/>
          </a:stretch>
        </p:blipFill>
        <p:spPr>
          <a:xfrm>
            <a:off x="1280160" y="2880360"/>
            <a:ext cx="9601200" cy="1851803"/>
          </a:xfrm>
          <a:prstGeom prst="rect">
            <a:avLst/>
          </a:prstGeom>
        </p:spPr>
      </p:pic>
      <p:sp>
        <p:nvSpPr>
          <p:cNvPr id="6" name="TextBox 5"/>
          <p:cNvSpPr txBox="1"/>
          <p:nvPr/>
        </p:nvSpPr>
        <p:spPr>
          <a:xfrm>
            <a:off x="1280160" y="4762163"/>
            <a:ext cx="9601200" cy="274320"/>
          </a:xfrm>
          <a:prstGeom prst="rect">
            <a:avLst/>
          </a:prstGeom>
          <a:noFill/>
        </p:spPr>
        <p:txBody>
          <a:bodyPr wrap="square">
            <a:spAutoFit/>
          </a:bodyPr>
          <a:lstStyle/>
          <a:p>
            <a:pPr algn="ctr"/>
            <a:r>
              <a:rPr sz="1100" i="1">
                <a:solidFill>
                  <a:srgbClr val="666666"/>
                </a:solidFill>
                <a:latin typeface="Arial"/>
              </a:rPr>
              <a:t>Z7 PAS1: fitted τ_rise (median 0.105 ms) and τ_fall distributions</a:t>
            </a:r>
          </a:p>
        </p:txBody>
      </p:sp>
      <p:sp>
        <p:nvSpPr>
          <p:cNvPr id="7" name="TextBox 6"/>
          <p:cNvSpPr txBox="1"/>
          <p:nvPr/>
        </p:nvSpPr>
        <p:spPr>
          <a:xfrm>
            <a:off x="1280160" y="5257800"/>
            <a:ext cx="9601200" cy="914400"/>
          </a:xfrm>
          <a:prstGeom prst="rect">
            <a:avLst/>
          </a:prstGeom>
          <a:noFill/>
        </p:spPr>
        <p:txBody>
          <a:bodyPr wrap="square">
            <a:spAutoFit/>
          </a:bodyPr>
          <a:lstStyle/>
          <a:p>
            <a:pPr>
              <a:spcAft>
                <a:spcPts val="500"/>
              </a:spcAft>
            </a:pPr>
            <a:r>
              <a:rPr sz="1300">
                <a:solidFill>
                  <a:srgbClr val="333333"/>
                </a:solidFill>
                <a:latin typeface="Arial"/>
              </a:rPr>
              <a:t>• On quiet detectors both τ_rise and τ_fall distributions are narrow — the pulse shape is stable across events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Template family 1 — analytic 2-exp, NRMSE-weighted (1x1)</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1417320"/>
          </a:xfrm>
          <a:prstGeom prst="rect">
            <a:avLst/>
          </a:prstGeom>
          <a:noFill/>
        </p:spPr>
        <p:txBody>
          <a:bodyPr wrap="square">
            <a:spAutoFit/>
          </a:bodyPr>
          <a:lstStyle/>
          <a:p>
            <a:pPr>
              <a:spcAft>
                <a:spcPts val="500"/>
              </a:spcAft>
            </a:pPr>
            <a:r>
              <a:rPr sz="1400">
                <a:solidFill>
                  <a:srgbClr val="333333"/>
                </a:solidFill>
                <a:latin typeface="Arial"/>
              </a:rPr>
              <a:t>• Per channel: weighted mean of ALL fit_ok fitted curves at the common onset, weight w = 1/max(NRMSE, 0.01)²</a:t>
            </a:r>
          </a:p>
          <a:p>
            <a:pPr>
              <a:spcAft>
                <a:spcPts val="500"/>
              </a:spcAft>
            </a:pPr>
            <a:r>
              <a:rPr sz="1400">
                <a:solidFill>
                  <a:srgbClr val="333333"/>
                </a:solidFill>
                <a:latin typeface="Arial"/>
              </a:rPr>
              <a:t>• Badly-fit events count less but are never excluded — robust and smooth (noise-free by construction)</a:t>
            </a:r>
          </a:p>
          <a:p>
            <a:pPr>
              <a:spcAft>
                <a:spcPts val="500"/>
              </a:spcAft>
            </a:pPr>
            <a:r>
              <a:rPr sz="1400">
                <a:solidFill>
                  <a:srgbClr val="333333"/>
                </a:solidFill>
                <a:latin typeface="Arial"/>
              </a:rPr>
              <a:t>• Delivered as peak-normalized 32768-bin ROOT TH1D per channel + summed PT/PS1/PS2 templates</a:t>
            </a:r>
          </a:p>
        </p:txBody>
      </p:sp>
      <p:pic>
        <p:nvPicPr>
          <p:cNvPr id="5" name="Picture 4" descr="fan_zip7_PBS1_nrmse.png"/>
          <p:cNvPicPr>
            <a:picLocks noChangeAspect="1"/>
          </p:cNvPicPr>
          <p:nvPr/>
        </p:nvPicPr>
        <p:blipFill>
          <a:blip r:embed="rId2"/>
          <a:stretch>
            <a:fillRect/>
          </a:stretch>
        </p:blipFill>
        <p:spPr>
          <a:xfrm>
            <a:off x="1383919" y="3063240"/>
            <a:ext cx="9393682" cy="2834640"/>
          </a:xfrm>
          <a:prstGeom prst="rect">
            <a:avLst/>
          </a:prstGeom>
        </p:spPr>
      </p:pic>
      <p:sp>
        <p:nvSpPr>
          <p:cNvPr id="6" name="TextBox 5"/>
          <p:cNvSpPr txBox="1"/>
          <p:nvPr/>
        </p:nvSpPr>
        <p:spPr>
          <a:xfrm>
            <a:off x="1280160" y="5927880"/>
            <a:ext cx="9601200" cy="274320"/>
          </a:xfrm>
          <a:prstGeom prst="rect">
            <a:avLst/>
          </a:prstGeom>
          <a:noFill/>
        </p:spPr>
        <p:txBody>
          <a:bodyPr wrap="square">
            <a:spAutoFit/>
          </a:bodyPr>
          <a:lstStyle/>
          <a:p>
            <a:pPr algn="ctr"/>
            <a:r>
              <a:rPr sz="1100" i="1">
                <a:solidFill>
                  <a:srgbClr val="666666"/>
                </a:solidFill>
                <a:latin typeface="Arial"/>
              </a:rPr>
              <a:t>Z7 PBS1, fitted curves after NRMSE ≤ 0.4 and τ_rise ≤ 0.3 ms — the NRMSE-weighted mean of this family is the 1x1 template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Template family 2 — NxM PCA templates</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1417320"/>
          </a:xfrm>
          <a:prstGeom prst="rect">
            <a:avLst/>
          </a:prstGeom>
          <a:noFill/>
        </p:spPr>
        <p:txBody>
          <a:bodyPr wrap="square">
            <a:spAutoFit/>
          </a:bodyPr>
          <a:lstStyle/>
          <a:p>
            <a:pPr>
              <a:spcAft>
                <a:spcPts val="500"/>
              </a:spcAft>
            </a:pPr>
            <a:r>
              <a:rPr sz="1400">
                <a:solidFill>
                  <a:srgbClr val="333333"/>
                </a:solidFill>
                <a:latin typeface="Arial"/>
              </a:rPr>
              <a:t>• Input: fitted curves passing fit_ok + NRMSE ≤ 0.4 + τ_rise ≤ 0.3 ms, at common onset, peak-normalized (PCA window 15550–24050, ≤ 3000 curves/channel)</a:t>
            </a:r>
          </a:p>
          <a:p>
            <a:pPr>
              <a:spcAft>
                <a:spcPts val="500"/>
              </a:spcAft>
            </a:pPr>
            <a:r>
              <a:rPr sz="1400">
                <a:solidFill>
                  <a:srgbClr val="333333"/>
                </a:solidFill>
                <a:latin typeface="Arial"/>
              </a:rPr>
              <a:t>• nxm0 = mean shape;  nxm1…nxm4 = first four principal components — a real pulse is fit as Σᵢ ampᵢ · nxmᵢ</a:t>
            </a:r>
          </a:p>
          <a:p>
            <a:pPr>
              <a:spcAft>
                <a:spcPts val="500"/>
              </a:spcAft>
            </a:pPr>
            <a:r>
              <a:rPr sz="1400">
                <a:solidFill>
                  <a:srgbClr val="333333"/>
                </a:solidFill>
                <a:latin typeface="Arial"/>
              </a:rPr>
              <a:t>• PC1 + PC2 already capture 96–98% of the shape variance; final step before delivery: normalize all five to unit peak — the delivered product</a:t>
            </a:r>
          </a:p>
        </p:txBody>
      </p:sp>
      <p:pic>
        <p:nvPicPr>
          <p:cNvPr id="5" name="Picture 4" descr="pca_zip7_PAS1.png"/>
          <p:cNvPicPr>
            <a:picLocks noChangeAspect="1"/>
          </p:cNvPicPr>
          <p:nvPr/>
        </p:nvPicPr>
        <p:blipFill>
          <a:blip r:embed="rId2"/>
          <a:stretch>
            <a:fillRect/>
          </a:stretch>
        </p:blipFill>
        <p:spPr>
          <a:xfrm>
            <a:off x="2831374" y="2697480"/>
            <a:ext cx="6498771" cy="1828800"/>
          </a:xfrm>
          <a:prstGeom prst="rect">
            <a:avLst/>
          </a:prstGeom>
        </p:spPr>
      </p:pic>
      <p:pic>
        <p:nvPicPr>
          <p:cNvPr id="6" name="Picture 5" descr="pca_zip7_PBS1.png"/>
          <p:cNvPicPr>
            <a:picLocks noChangeAspect="1"/>
          </p:cNvPicPr>
          <p:nvPr/>
        </p:nvPicPr>
        <p:blipFill>
          <a:blip r:embed="rId3"/>
          <a:stretch>
            <a:fillRect/>
          </a:stretch>
        </p:blipFill>
        <p:spPr>
          <a:xfrm>
            <a:off x="2831374" y="4572000"/>
            <a:ext cx="6498771" cy="1828800"/>
          </a:xfrm>
          <a:prstGeom prst="rect">
            <a:avLst/>
          </a:prstGeom>
        </p:spPr>
      </p:pic>
      <p:sp>
        <p:nvSpPr>
          <p:cNvPr id="7" name="TextBox 6"/>
          <p:cNvSpPr txBox="1"/>
          <p:nvPr/>
        </p:nvSpPr>
        <p:spPr>
          <a:xfrm>
            <a:off x="1371600" y="6430800"/>
            <a:ext cx="9418320" cy="274320"/>
          </a:xfrm>
          <a:prstGeom prst="rect">
            <a:avLst/>
          </a:prstGeom>
          <a:noFill/>
        </p:spPr>
        <p:txBody>
          <a:bodyPr wrap="square">
            <a:spAutoFit/>
          </a:bodyPr>
          <a:lstStyle/>
          <a:p>
            <a:pPr algn="ctr"/>
            <a:r>
              <a:rPr sz="1100" i="1">
                <a:solidFill>
                  <a:srgbClr val="666666"/>
                </a:solidFill>
                <a:latin typeface="Arial"/>
              </a:rPr>
              <a:t>Z7 PAS1 / PBS1: nxm0 (mean) + nxm1–4 (PCs) — the oscillating components encode rise/fall-time variation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Delivered — and what remains</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188720"/>
            <a:ext cx="11247120" cy="4206240"/>
          </a:xfrm>
          <a:prstGeom prst="rect">
            <a:avLst/>
          </a:prstGeom>
          <a:noFill/>
        </p:spPr>
        <p:txBody>
          <a:bodyPr wrap="square">
            <a:spAutoFit/>
          </a:bodyPr>
          <a:lstStyle/>
          <a:p>
            <a:pPr>
              <a:spcAft>
                <a:spcPts val="500"/>
              </a:spcAft>
            </a:pPr>
            <a:r>
              <a:rPr sz="1600">
                <a:solidFill>
                  <a:srgbClr val="333333"/>
                </a:solidFill>
                <a:latin typeface="Arial"/>
              </a:rPr>
              <a:t>• Delivered for all 13 zips, official cdmsbats PulseTemplates layout (zip{N}/{chan}, {chan}nxm0–4, summed PT/PS1/PS2):</a:t>
            </a:r>
          </a:p>
          <a:p>
            <a:pPr lvl="1">
              <a:spcAft>
                <a:spcPts val="500"/>
              </a:spcAft>
            </a:pPr>
            <a:r>
              <a:rPr sz="1400">
                <a:solidFill>
                  <a:srgbClr val="666666"/>
                </a:solidFill>
                <a:latin typeface="Arial"/>
              </a:rPr>
              <a:t>– SNOLAB_R4_20260706_ZhihengLi_zip{N}.root — 2-exp NRMSE-weighted (1x1)</a:t>
            </a:r>
          </a:p>
          <a:p>
            <a:pPr lvl="1">
              <a:spcAft>
                <a:spcPts val="500"/>
              </a:spcAft>
            </a:pPr>
            <a:r>
              <a:rPr sz="1400">
                <a:solidFill>
                  <a:srgbClr val="666666"/>
                </a:solidFill>
                <a:latin typeface="Arial"/>
              </a:rPr>
              <a:t>– SNOLAB_R4_20260707_ZhihengLi_pca_zip{N}.root — NxM PCA (normalized)</a:t>
            </a:r>
          </a:p>
          <a:p>
            <a:pPr>
              <a:spcAft>
                <a:spcPts val="500"/>
              </a:spcAft>
            </a:pPr>
            <a:r>
              <a:rPr sz="1600">
                <a:solidFill>
                  <a:srgbClr val="333333"/>
                </a:solidFill>
                <a:latin typeface="Arial"/>
              </a:rPr>
              <a:t>• Every step is traceable: raw cache → per-series fit checkpoints indexed by EventNumber → self-documenting figures (11 types × 13 zips, all versioned)</a:t>
            </a:r>
          </a:p>
          <a:p>
            <a:pPr>
              <a:spcAft>
                <a:spcPts val="500"/>
              </a:spcAft>
            </a:pPr>
            <a:r>
              <a:rPr sz="1600">
                <a:solidFill>
                  <a:srgbClr val="333333"/>
                </a:solidFill>
                <a:latin typeface="Arial"/>
              </a:rPr>
              <a:t>• Cuts derived from the data, validated in raw traces: NRMSE ≤ 0.4 (bimodal valley), τ_rise ≤ 0.3 ms (drift leakage)</a:t>
            </a:r>
          </a:p>
          <a:p>
            <a:pPr>
              <a:spcAft>
                <a:spcPts val="500"/>
              </a:spcAft>
            </a:pPr>
            <a:r>
              <a:rPr sz="1600">
                <a:solidFill>
                  <a:srgbClr val="333333"/>
                </a:solidFill>
                <a:latin typeface="Arial"/>
              </a:rPr>
              <a:t>• Open items:</a:t>
            </a:r>
          </a:p>
          <a:p>
            <a:pPr lvl="1">
              <a:spcAft>
                <a:spcPts val="500"/>
              </a:spcAft>
            </a:pPr>
            <a:r>
              <a:rPr sz="1400">
                <a:solidFill>
                  <a:srgbClr val="666666"/>
                </a:solidFill>
                <a:latin typeface="Arial"/>
              </a:rPr>
              <a:t>– final decision on the τ_rise ceiling vs the genuine slow-pulse population</a:t>
            </a:r>
          </a:p>
          <a:p>
            <a:pPr lvl="1">
              <a:spcAft>
                <a:spcPts val="500"/>
              </a:spcAft>
            </a:pPr>
            <a:r>
              <a:rPr sz="1400">
                <a:solidFill>
                  <a:srgbClr val="666666"/>
                </a:solidFill>
                <a:latin typeface="Arial"/>
              </a:rPr>
              <a:t>– run the group's template-validation method on the new templates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