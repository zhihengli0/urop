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This is Z7 PBS1, the channel used throughout the talk. The weak detectors - Z22, for example - show the same bimodal picture with the noise peak dominating, and there this same cut is what digs the real pulses out of the mixture. (If someone asks what a weak detector looks like, show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Z7: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forty times higher - 1.87 against 0.045 - and on this channel only 77 events are removed, under four percent.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 the weak detectors the K-line overlaps the noise population, so the PTOF window admits a noise-dominated mixture. The NRMSE distribution is still bimodal but the noise peak dominates, and the same 0.4 cut is what extracts the real pulses - on Z22 PCS1 about forty percent of the physical fits are removed. The kept bundle is broader than on a quiet detector, and the steep red curves are fits latching onto sharp noise spikes, not fast pulses being thrown away. The rise-time ceiling then removes fifty-five to seventy-four percent of what survived the NRMSE cut on the weak zips - residual slow drift - versus one point six percent on Z7. The surviving shape family is at the bottom.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(Z7):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(Z7):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(Z7 PBS1)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same bimodal picture, noise peak dominates</a:t>
            </a:r>
          </a:p>
        </p:txBody>
      </p:sp>
      <p:pic>
        <p:nvPicPr>
          <p:cNvPr id="5" name="Picture 4" descr="nrmse_zip7_PBS1.png"/>
          <p:cNvPicPr>
            <a:picLocks noChangeAspect="1"/>
          </p:cNvPicPr>
          <p:nvPr/>
        </p:nvPicPr>
        <p:blipFill>
          <a:blip r:embed="rId2"/>
          <a:stretch>
            <a:fillRect/>
          </a:stretch>
        </p:blipFill>
        <p:spPr>
          <a:xfrm>
            <a:off x="1280160" y="2834640"/>
            <a:ext cx="9601200" cy="2189394"/>
          </a:xfrm>
          <a:prstGeom prst="rect">
            <a:avLst/>
          </a:prstGeom>
        </p:spPr>
      </p:pic>
      <p:sp>
        <p:nvSpPr>
          <p:cNvPr id="6" name="TextBox 5"/>
          <p:cNvSpPr txBox="1"/>
          <p:nvPr/>
        </p:nvSpPr>
        <p:spPr>
          <a:xfrm>
            <a:off x="1280160" y="5054034"/>
            <a:ext cx="9601200" cy="274320"/>
          </a:xfrm>
          <a:prstGeom prst="rect">
            <a:avLst/>
          </a:prstGeom>
          <a:noFill/>
        </p:spPr>
        <p:txBody>
          <a:bodyPr wrap="square">
            <a:spAutoFit/>
          </a:bodyPr>
          <a:lstStyle/>
          <a:p>
            <a:pPr algn="ctr"/>
            <a:r>
              <a:rPr sz="1100" i="1">
                <a:solidFill>
                  <a:srgbClr val="666666"/>
                </a:solidFill>
                <a:latin typeface="Arial"/>
              </a:rPr>
              <a:t>Z7 PBS1: two clean populations, log-log axes</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7_crop.png"/>
          <p:cNvPicPr>
            <a:picLocks noChangeAspect="1"/>
          </p:cNvPicPr>
          <p:nvPr/>
        </p:nvPicPr>
        <p:blipFill>
          <a:blip r:embed="rId2"/>
          <a:stretch>
            <a:fillRect/>
          </a:stretch>
        </p:blipFill>
        <p:spPr>
          <a:xfrm>
            <a:off x="365760" y="2468880"/>
            <a:ext cx="5394960" cy="3720662"/>
          </a:xfrm>
          <a:prstGeom prst="rect">
            <a:avLst/>
          </a:prstGeom>
        </p:spPr>
      </p:pic>
      <p:sp>
        <p:nvSpPr>
          <p:cNvPr id="6" name="TextBox 5"/>
          <p:cNvSpPr txBox="1"/>
          <p:nvPr/>
        </p:nvSpPr>
        <p:spPr>
          <a:xfrm>
            <a:off x="365760" y="6219542"/>
            <a:ext cx="5394960" cy="274320"/>
          </a:xfrm>
          <a:prstGeom prst="rect">
            <a:avLst/>
          </a:prstGeom>
          <a:noFill/>
        </p:spPr>
        <p:txBody>
          <a:bodyPr wrap="square">
            <a:spAutoFit/>
          </a:bodyPr>
          <a:lstStyle/>
          <a:p>
            <a:pPr algn="ctr"/>
            <a:r>
              <a:rPr sz="1100" i="1">
                <a:solidFill>
                  <a:srgbClr val="666666"/>
                </a:solidFill>
                <a:latin typeface="Arial"/>
              </a:rPr>
              <a:t>Z7: NRMSE-rejected events — raw traces are noise</a:t>
            </a:r>
          </a:p>
        </p:txBody>
      </p:sp>
      <p:pic>
        <p:nvPicPr>
          <p:cNvPr id="7" name="Picture 6" descr="fan_cut_zip7_PB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333333"/>
                </a:solidFill>
                <a:latin typeface="Arial"/>
              </a:rPr>
              <a:t>Z7 PBS1   </a:t>
            </a:r>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1931 kept / 77 cut (~3.8%)</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Z7 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Z7 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BS1.png"/>
          <p:cNvPicPr>
            <a:picLocks noChangeAspect="1"/>
          </p:cNvPicPr>
          <p:nvPr/>
        </p:nvPicPr>
        <p:blipFill>
          <a:blip r:embed="rId2"/>
          <a:stretch>
            <a:fillRect/>
          </a:stretch>
        </p:blipFill>
        <p:spPr>
          <a:xfrm>
            <a:off x="1044212" y="3017520"/>
            <a:ext cx="10073095" cy="2834639"/>
          </a:xfrm>
          <a:prstGeom prst="rect">
            <a:avLst/>
          </a:prstGeom>
        </p:spPr>
      </p:pic>
      <p:sp>
        <p:nvSpPr>
          <p:cNvPr id="6" name="TextBox 5"/>
          <p:cNvSpPr txBox="1"/>
          <p:nvPr/>
        </p:nvSpPr>
        <p:spPr>
          <a:xfrm>
            <a:off x="1005840" y="5882159"/>
            <a:ext cx="10149840" cy="274320"/>
          </a:xfrm>
          <a:prstGeom prst="rect">
            <a:avLst/>
          </a:prstGeom>
          <a:noFill/>
        </p:spPr>
        <p:txBody>
          <a:bodyPr wrap="square">
            <a:spAutoFit/>
          </a:bodyPr>
          <a:lstStyle/>
          <a:p>
            <a:pPr algn="ctr"/>
            <a:r>
              <a:rPr sz="1100" i="1">
                <a:solidFill>
                  <a:srgbClr val="666666"/>
                </a:solidFill>
                <a:latin typeface="Arial"/>
              </a:rPr>
              <a:t>Z7 PBS1: nxm0 (mean) + nxm1–4 (PCs) — the oscillating components encode rise/fall-time variation</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Backup — weak detectors (example: Z22)</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05840"/>
            <a:ext cx="11247120" cy="1965960"/>
          </a:xfrm>
          <a:prstGeom prst="rect">
            <a:avLst/>
          </a:prstGeom>
          <a:noFill/>
        </p:spPr>
        <p:txBody>
          <a:bodyPr wrap="square">
            <a:spAutoFit/>
          </a:bodyPr>
          <a:lstStyle/>
          <a:p>
            <a:pPr>
              <a:spcAft>
                <a:spcPts val="500"/>
              </a:spcAft>
            </a:pPr>
            <a:r>
              <a:rPr sz="1300">
                <a:solidFill>
                  <a:srgbClr val="333333"/>
                </a:solidFill>
                <a:latin typeface="Arial"/>
              </a:rPr>
              <a:t>• Z1 / Z4 / Z6 / Z18 / Z19 / Z22 / Z24: K-line sits inside the noise population — the PTOF window admits a noise-dominated mixture</a:t>
            </a:r>
          </a:p>
          <a:p>
            <a:pPr>
              <a:spcAft>
                <a:spcPts val="500"/>
              </a:spcAft>
            </a:pPr>
            <a:r>
              <a:rPr sz="1300">
                <a:solidFill>
                  <a:srgbClr val="333333"/>
                </a:solidFill>
                <a:latin typeface="Arial"/>
              </a:rPr>
              <a:t>• Same bimodal NRMSE picture, noise peak dominates; the same 0.4 cut digs the real pulses out — Z22 PCS1: 7198 kept / 4788 cut (~40%)</a:t>
            </a:r>
          </a:p>
          <a:p>
            <a:pPr>
              <a:spcAft>
                <a:spcPts val="500"/>
              </a:spcAft>
            </a:pPr>
            <a:r>
              <a:rPr sz="1300">
                <a:solidFill>
                  <a:srgbClr val="333333"/>
                </a:solidFill>
                <a:latin typeface="Arial"/>
              </a:rPr>
              <a:t>• Kept bundle broader than on quiet detectors; steep red curves = fits latching onto sharp noise spikes, not fast pulses being cut</a:t>
            </a:r>
          </a:p>
          <a:p>
            <a:pPr>
              <a:spcAft>
                <a:spcPts val="500"/>
              </a:spcAft>
            </a:pPr>
            <a:r>
              <a:rPr sz="1300">
                <a:solidFill>
                  <a:srgbClr val="333333"/>
                </a:solidFill>
                <a:latin typeface="Arial"/>
              </a:rPr>
              <a:t>• τ_rise ≤ 0.3 ms (after NRMSE): removes 55–74% on weak zips (Z22: 71%) vs 1.6% on Z7 — residual slow drift</a:t>
            </a:r>
          </a:p>
        </p:txBody>
      </p:sp>
      <p:pic>
        <p:nvPicPr>
          <p:cNvPr id="5" name="Picture 4" descr="nrmse_zip22_PAS1.png"/>
          <p:cNvPicPr>
            <a:picLocks noChangeAspect="1"/>
          </p:cNvPicPr>
          <p:nvPr/>
        </p:nvPicPr>
        <p:blipFill>
          <a:blip r:embed="rId2"/>
          <a:stretch>
            <a:fillRect/>
          </a:stretch>
        </p:blipFill>
        <p:spPr>
          <a:xfrm>
            <a:off x="365760" y="3063240"/>
            <a:ext cx="5760720" cy="1319662"/>
          </a:xfrm>
          <a:prstGeom prst="rect">
            <a:avLst/>
          </a:prstGeom>
        </p:spPr>
      </p:pic>
      <p:sp>
        <p:nvSpPr>
          <p:cNvPr id="6" name="TextBox 5"/>
          <p:cNvSpPr txBox="1"/>
          <p:nvPr/>
        </p:nvSpPr>
        <p:spPr>
          <a:xfrm>
            <a:off x="365760" y="4412902"/>
            <a:ext cx="5760720" cy="274320"/>
          </a:xfrm>
          <a:prstGeom prst="rect">
            <a:avLst/>
          </a:prstGeom>
          <a:noFill/>
        </p:spPr>
        <p:txBody>
          <a:bodyPr wrap="square">
            <a:spAutoFit/>
          </a:bodyPr>
          <a:lstStyle/>
          <a:p>
            <a:pPr algn="ctr"/>
            <a:r>
              <a:rPr sz="1100" i="1">
                <a:solidFill>
                  <a:srgbClr val="666666"/>
                </a:solidFill>
                <a:latin typeface="Arial"/>
              </a:rPr>
              <a:t>Z22 PAS1: NRMSE histogram — noise dominates</a:t>
            </a:r>
          </a:p>
        </p:txBody>
      </p:sp>
      <p:pic>
        <p:nvPicPr>
          <p:cNvPr id="7" name="Picture 6" descr="fan_cut_zip22_PCS1.png"/>
          <p:cNvPicPr>
            <a:picLocks noChangeAspect="1"/>
          </p:cNvPicPr>
          <p:nvPr/>
        </p:nvPicPr>
        <p:blipFill>
          <a:blip r:embed="rId3"/>
          <a:stretch>
            <a:fillRect/>
          </a:stretch>
        </p:blipFill>
        <p:spPr>
          <a:xfrm>
            <a:off x="6309360" y="3063240"/>
            <a:ext cx="5760720" cy="1479697"/>
          </a:xfrm>
          <a:prstGeom prst="rect">
            <a:avLst/>
          </a:prstGeom>
        </p:spPr>
      </p:pic>
      <p:sp>
        <p:nvSpPr>
          <p:cNvPr id="8" name="TextBox 7"/>
          <p:cNvSpPr txBox="1"/>
          <p:nvPr/>
        </p:nvSpPr>
        <p:spPr>
          <a:xfrm>
            <a:off x="6309360" y="4572937"/>
            <a:ext cx="5760720" cy="274320"/>
          </a:xfrm>
          <a:prstGeom prst="rect">
            <a:avLst/>
          </a:prstGeom>
          <a:noFill/>
        </p:spPr>
        <p:txBody>
          <a:bodyPr wrap="square">
            <a:spAutoFit/>
          </a:bodyPr>
          <a:lstStyle/>
          <a:p>
            <a:pPr algn="ctr"/>
            <a:r>
              <a:rPr sz="1100" i="1">
                <a:solidFill>
                  <a:srgbClr val="666666"/>
                </a:solidFill>
                <a:latin typeface="Arial"/>
              </a:rPr>
              <a:t>Z22 PCS1: kept (green) vs cut (red)</a:t>
            </a:r>
          </a:p>
        </p:txBody>
      </p:sp>
      <p:pic>
        <p:nvPicPr>
          <p:cNvPr id="9" name="Picture 8" descr="fan_final_zip22_PCS1.png"/>
          <p:cNvPicPr>
            <a:picLocks noChangeAspect="1"/>
          </p:cNvPicPr>
          <p:nvPr/>
        </p:nvPicPr>
        <p:blipFill>
          <a:blip r:embed="rId4"/>
          <a:stretch>
            <a:fillRect/>
          </a:stretch>
        </p:blipFill>
        <p:spPr>
          <a:xfrm>
            <a:off x="3745314" y="5074920"/>
            <a:ext cx="4670891" cy="1417320"/>
          </a:xfrm>
          <a:prstGeom prst="rect">
            <a:avLst/>
          </a:prstGeom>
        </p:spPr>
      </p:pic>
      <p:sp>
        <p:nvSpPr>
          <p:cNvPr id="10" name="TextBox 9"/>
          <p:cNvSpPr txBox="1"/>
          <p:nvPr/>
        </p:nvSpPr>
        <p:spPr>
          <a:xfrm>
            <a:off x="2011680" y="6522240"/>
            <a:ext cx="8138160" cy="274320"/>
          </a:xfrm>
          <a:prstGeom prst="rect">
            <a:avLst/>
          </a:prstGeom>
          <a:noFill/>
        </p:spPr>
        <p:txBody>
          <a:bodyPr wrap="square">
            <a:spAutoFit/>
          </a:bodyPr>
          <a:lstStyle/>
          <a:p>
            <a:pPr algn="ctr"/>
            <a:r>
              <a:rPr sz="1100" i="1">
                <a:solidFill>
                  <a:srgbClr val="666666"/>
                </a:solidFill>
                <a:latin typeface="Arial"/>
              </a:rPr>
              <a:t>Z22 PCS1 after NRMSE ≤ 0.4 + τ_rise ≤ 0.3 ms — final shape family (760 fits)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