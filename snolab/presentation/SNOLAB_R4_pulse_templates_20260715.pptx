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The pretrigger is aligned, peak arriving late, consistent across all channels - they are exactly the shadow from the alignment plot.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shadow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697480"/>
          </a:xfrm>
          <a:prstGeom prst="rect">
            <a:avLst/>
          </a:prstGeom>
          <a:noFill/>
        </p:spPr>
        <p:txBody>
          <a:bodyPr wrap="square">
            <a:spAutoFit/>
          </a:bodyPr>
          <a:lstStyle/>
          <a:p>
            <a:pPr>
              <a:spcAft>
                <a:spcPts val="700"/>
              </a:spcAft>
            </a:pPr>
            <a:r>
              <a:rPr sz="1600" b="1">
                <a:solidFill>
                  <a:srgbClr val="1F3864"/>
                </a:solidFill>
                <a:latin typeface="Arial"/>
              </a:rPr>
              <a:t>1.  Low-pass</a:t>
            </a:r>
            <a:r>
              <a:rPr sz="1600">
                <a:solidFill>
                  <a:srgbClr val="333333"/>
                </a:solidFill>
                <a:latin typeface="Arial"/>
              </a:rPr>
              <a:t> — 100 kHz 4th-order Butterworth</a:t>
            </a:r>
          </a:p>
          <a:p>
            <a:pPr>
              <a:spcAft>
                <a:spcPts val="7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700"/>
              </a:spcAft>
            </a:pPr>
            <a:r>
              <a:rPr sz="1600" b="1">
                <a:solidFill>
                  <a:srgbClr val="1F3864"/>
                </a:solidFill>
                <a:latin typeface="Arial"/>
              </a:rPr>
              <a:t>3.  Fit</a:t>
            </a:r>
            <a:r>
              <a:rPr sz="1600">
                <a:solidFill>
                  <a:srgbClr val="333333"/>
                </a:solidFill>
                <a:latin typeface="Arial"/>
              </a:rPr>
              <a:t> — two-exponential, all 5 parameters free, including the pretrigger offset:</a:t>
            </a:r>
          </a:p>
          <a:p>
            <a:pPr lvl="1">
              <a:spcAft>
                <a:spcPts val="700"/>
              </a:spcAft>
            </a:pPr>
            <a:r>
              <a:rPr sz="1400">
                <a:solidFill>
                  <a:srgbClr val="666666"/>
                </a:solidFill>
                <a:latin typeface="Arial"/>
              </a:rPr>
              <a:t>        y(t) = A·[exp(−(t−t₀)/τ_fall) − exp(−(t−t₀)/τ_rise)] + b,    t₀ = pretrigger ∈ 16050 ± 3000 samples</a:t>
            </a:r>
          </a:p>
          <a:p>
            <a:pPr>
              <a:spcAft>
                <a:spcPts val="700"/>
              </a:spcAft>
            </a:pPr>
            <a:r>
              <a:rPr sz="1600" b="1">
                <a:solidFill>
                  <a:srgbClr val="1F3864"/>
                </a:solidFill>
                <a:latin typeface="Arial"/>
              </a:rPr>
              <a:t>4.  Quality numbers</a:t>
            </a:r>
            <a:r>
              <a:rPr sz="1600">
                <a:solidFill>
                  <a:srgbClr val="333333"/>
                </a:solidFill>
                <a:latin typeface="Arial"/>
              </a:rPr>
              <a:t> — fit_ok := A&gt;0 and 0&lt;τ_rise&lt;τ_fall;   NRMSE := RMS(residual)/fit peak</a:t>
            </a:r>
          </a:p>
          <a:p>
            <a:pPr>
              <a:spcAft>
                <a:spcPts val="7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5" name="Picture 4" descr="fan_zip7_PBS1_before_zoom.png"/>
          <p:cNvPicPr>
            <a:picLocks noChangeAspect="1"/>
          </p:cNvPicPr>
          <p:nvPr/>
        </p:nvPicPr>
        <p:blipFill>
          <a:blip r:embed="rId2"/>
          <a:stretch>
            <a:fillRect/>
          </a:stretch>
        </p:blipFill>
        <p:spPr>
          <a:xfrm>
            <a:off x="1313560" y="3977639"/>
            <a:ext cx="4139439" cy="2468880"/>
          </a:xfrm>
          <a:prstGeom prst="rect">
            <a:avLst/>
          </a:prstGeom>
        </p:spPr>
      </p:pic>
      <p:sp>
        <p:nvSpPr>
          <p:cNvPr id="6" name="TextBox 5"/>
          <p:cNvSpPr txBox="1"/>
          <p:nvPr/>
        </p:nvSpPr>
        <p:spPr>
          <a:xfrm>
            <a:off x="822960" y="6476519"/>
            <a:ext cx="5120640" cy="274320"/>
          </a:xfrm>
          <a:prstGeom prst="rect">
            <a:avLst/>
          </a:prstGeom>
          <a:noFill/>
        </p:spPr>
        <p:txBody>
          <a:bodyPr wrap="square">
            <a:spAutoFit/>
          </a:bodyPr>
          <a:lstStyle/>
          <a:p>
            <a:pPr algn="ctr"/>
            <a:r>
              <a:rPr sz="1100" i="1">
                <a:solidFill>
                  <a:srgbClr val="666666"/>
                </a:solidFill>
                <a:latin typeface="Arial"/>
              </a:rPr>
              <a:t>All fit_ok fitted curves at the common pretrigger, peak-normalized — zoom on the pulse (Z7 PBS1, time in ms)</a:t>
            </a:r>
          </a:p>
        </p:txBody>
      </p:sp>
      <p:pic>
        <p:nvPicPr>
          <p:cNvPr id="7" name="Picture 6" descr="fan_zip7_PBS1_nrmse_zoom.png"/>
          <p:cNvPicPr>
            <a:picLocks noChangeAspect="1"/>
          </p:cNvPicPr>
          <p:nvPr/>
        </p:nvPicPr>
        <p:blipFill>
          <a:blip r:embed="rId3"/>
          <a:stretch>
            <a:fillRect/>
          </a:stretch>
        </p:blipFill>
        <p:spPr>
          <a:xfrm>
            <a:off x="6799960" y="3977639"/>
            <a:ext cx="4139439" cy="2468880"/>
          </a:xfrm>
          <a:prstGeom prst="rect">
            <a:avLst/>
          </a:prstGeom>
        </p:spPr>
      </p:pic>
      <p:sp>
        <p:nvSpPr>
          <p:cNvPr id="8" name="TextBox 7"/>
          <p:cNvSpPr txBox="1"/>
          <p:nvPr/>
        </p:nvSpPr>
        <p:spPr>
          <a:xfrm>
            <a:off x="6309360" y="6476519"/>
            <a:ext cx="512064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result — overlaid measured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371600"/>
          </a:xfrm>
          <a:prstGeom prst="rect">
            <a:avLst/>
          </a:prstGeom>
          <a:noFill/>
        </p:spPr>
        <p:txBody>
          <a:bodyPr wrap="square">
            <a:spAutoFit/>
          </a:bodyPr>
          <a:lstStyle/>
          <a:p>
            <a:pPr>
              <a:spcAft>
                <a:spcPts val="500"/>
              </a:spcAft>
            </a:pPr>
            <a:r>
              <a:rPr sz="1400">
                <a:solidFill>
                  <a:srgbClr val="333333"/>
                </a:solidFill>
                <a:latin typeface="Arial"/>
              </a:rPr>
              <a:t>• All fit_ok traces shifted to the common pretrigger (blue) + point-by-point mean (red) + NRMSE-weighted mean of the fitted curves (orange, w = 1/max(NRMSE, 0.01)²)</a:t>
            </a:r>
          </a:p>
          <a:p>
            <a:pPr>
              <a:spcAft>
                <a:spcPts val="5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2"/>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1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3"/>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1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_tfall.png"/>
          <p:cNvPicPr>
            <a:picLocks noChangeAspect="1"/>
          </p:cNvPicPr>
          <p:nvPr/>
        </p:nvPicPr>
        <p:blipFill>
          <a:blip r:embed="rId3"/>
          <a:stretch>
            <a:fillRect/>
          </a:stretch>
        </p:blipFill>
        <p:spPr>
          <a:xfrm>
            <a:off x="7315200" y="2834640"/>
            <a:ext cx="4663440" cy="2926080"/>
          </a:xfrm>
          <a:prstGeom prst="rect">
            <a:avLst/>
          </a:prstGeom>
        </p:spPr>
      </p:pic>
      <p:sp>
        <p:nvSpPr>
          <p:cNvPr id="8" name="TextBox 7"/>
          <p:cNvSpPr txBox="1"/>
          <p:nvPr/>
        </p:nvSpPr>
        <p:spPr>
          <a:xfrm>
            <a:off x="7315200" y="5790720"/>
            <a:ext cx="4663440" cy="274320"/>
          </a:xfrm>
          <a:prstGeom prst="rect">
            <a:avLst/>
          </a:prstGeom>
          <a:noFill/>
        </p:spPr>
        <p:txBody>
          <a:bodyPr wrap="square">
            <a:spAutoFit/>
          </a:bodyPr>
          <a:lstStyle/>
          <a:p>
            <a:pPr algn="ctr"/>
            <a:r>
              <a:rPr sz="1100" i="1">
                <a:solidFill>
                  <a:srgbClr val="666666"/>
                </a:solidFill>
                <a:latin typeface="Arial"/>
              </a:rPr>
              <a:t>Z7 PDS2, fitted τ_fall: broad tail (median 0.51 ms) — the artifact in the distributions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(“shadow”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pretrigger aligned, peak late, consistent across channels</a:t>
            </a:r>
          </a:p>
          <a:p>
            <a:pPr>
              <a:spcAft>
                <a:spcPts val="500"/>
              </a:spcAft>
            </a:pPr>
            <a:r>
              <a:rPr sz="1400">
                <a:solidFill>
                  <a:srgbClr val="333333"/>
                </a:solidFill>
                <a:latin typeface="Arial"/>
              </a:rPr>
              <a:t>• They are the faint displaced bundle in the aligned overlays — a genuine second pulse shape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shadow events (first 4 channels): raw (gray) / LP (blue) / fit (red) — genuine slow pulses, pretrigger aligned, peak 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pretrigger,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pretrigger,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