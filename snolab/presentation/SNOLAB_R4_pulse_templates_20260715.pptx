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a genuinely slow pulse.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rise-time cut. On weak-window detectors a slow baseline drift also fits as a slow rise, with a tiny residual, so NRMSE cannot catch it. Real fast pulses cluster near 0.1 ms while the drift tail stretches much further, so the PCA input gets a ceiling at 0.3 ms. Relative to the NRMSE step it removes almost nothing on quiet detectors - 1.6% on Z7, mostly the bad channel PDS2 - but 55 to 74% on the weak ones, 71% on Z22, pooled 54% over all zips. The price is that the very slowest genuine pulses get trimmed too; that trade-off is documented and not 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showing the cut channel-by-channel on Z7. On the good channel PBS1 the fitted curves are already a tight, clean bundle, and adding the rise-time ceiling changes essentially nothing - it removes about zero percent. On the bad channel PDS2 the fan is broad and messy, which by itself shows the channel is misbehaving; there the ceiling trims the slow-rising curves, 1462 down to 1154, about twenty-one percent. So the cut is nearly free where the data is clean and does real work only where a channel is bad.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what the rise-time cut actually removes. These are exactly the Z22 events that pass the NRMSE cut - median NRMSE below 0.4 - but are removed by the rise-time ceiling, median t_rise above 0.3 ms. In other words, the noise that 0.4 let through and 0.3 catches. Look at PCS1 and PDS1: their NRMSE is low, around 0.15, because a slow two-exp hugs the trace with a tiny residual - but the raw trace is just a slow baseline drift, there is no clean fast pulse. The honest caveat is that the same cut also trims a small number of genuine slow-rise pulses, which is the documented, still-open trade-off.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a slow pulse</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320040" y="2880360"/>
            <a:ext cx="5669279" cy="1710763"/>
          </a:xfrm>
          <a:prstGeom prst="rect">
            <a:avLst/>
          </a:prstGeom>
        </p:spPr>
      </p:pic>
      <p:sp>
        <p:nvSpPr>
          <p:cNvPr id="6" name="TextBox 5"/>
          <p:cNvSpPr txBox="1"/>
          <p:nvPr/>
        </p:nvSpPr>
        <p:spPr>
          <a:xfrm>
            <a:off x="320040" y="4621123"/>
            <a:ext cx="5669280" cy="274320"/>
          </a:xfrm>
          <a:prstGeom prst="rect">
            <a:avLst/>
          </a:prstGeom>
          <a:noFill/>
        </p:spPr>
        <p:txBody>
          <a:bodyPr wrap="square">
            <a:spAutoFit/>
          </a:bodyPr>
          <a:lstStyle/>
          <a:p>
            <a:pPr algn="ctr"/>
            <a:r>
              <a:rPr sz="1100" i="1">
                <a:solidFill>
                  <a:srgbClr val="666666"/>
                </a:solidFill>
                <a:latin typeface="Arial"/>
              </a:rPr>
              <a:t>INPUT — the fitted curves that pass the cuts (Z7 PBS1)</a:t>
            </a:r>
          </a:p>
        </p:txBody>
      </p:sp>
      <p:pic>
        <p:nvPicPr>
          <p:cNvPr id="7" name="Picture 6" descr="template_1x1_zip7_PBS1.png"/>
          <p:cNvPicPr>
            <a:picLocks noChangeAspect="1"/>
          </p:cNvPicPr>
          <p:nvPr/>
        </p:nvPicPr>
        <p:blipFill>
          <a:blip r:embed="rId3"/>
          <a:stretch>
            <a:fillRect/>
          </a:stretch>
        </p:blipFill>
        <p:spPr>
          <a:xfrm>
            <a:off x="6263640" y="2880360"/>
            <a:ext cx="5669280" cy="2640486"/>
          </a:xfrm>
          <a:prstGeom prst="rect">
            <a:avLst/>
          </a:prstGeom>
        </p:spPr>
      </p:pic>
      <p:sp>
        <p:nvSpPr>
          <p:cNvPr id="8" name="TextBox 7"/>
          <p:cNvSpPr txBox="1"/>
          <p:nvPr/>
        </p:nvSpPr>
        <p:spPr>
          <a:xfrm>
            <a:off x="6263640" y="5550846"/>
            <a:ext cx="5669280" cy="274320"/>
          </a:xfrm>
          <a:prstGeom prst="rect">
            <a:avLst/>
          </a:prstGeom>
          <a:noFill/>
        </p:spPr>
        <p:txBody>
          <a:bodyPr wrap="square">
            <a:spAutoFit/>
          </a:bodyPr>
          <a:lstStyle/>
          <a:p>
            <a:pPr algn="ctr"/>
            <a:r>
              <a:rPr sz="1100" i="1">
                <a:solidFill>
                  <a:srgbClr val="666666"/>
                </a:solidFill>
                <a:latin typeface="Arial"/>
              </a:rPr>
              <a:t>OUTPUT — their NRMSE-weighted mean: the delivered 1x1 template</a:t>
            </a:r>
          </a:p>
        </p:txBody>
      </p:sp>
      <p:sp>
        <p:nvSpPr>
          <p:cNvPr id="9" name="Right Arrow 8"/>
          <p:cNvSpPr/>
          <p:nvPr/>
        </p:nvSpPr>
        <p:spPr>
          <a:xfrm>
            <a:off x="5742432" y="4160520"/>
            <a:ext cx="502920" cy="310896"/>
          </a:xfrm>
          <a:prstGeom prst="rightArrow">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the τ_rise ≤ 0.3 ms ceiling (PCA input)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965960"/>
          </a:xfrm>
          <a:prstGeom prst="rect">
            <a:avLst/>
          </a:prstGeom>
          <a:noFill/>
        </p:spPr>
        <p:txBody>
          <a:bodyPr wrap="square">
            <a:spAutoFit/>
          </a:bodyPr>
          <a:lstStyle/>
          <a:p>
            <a:pPr>
              <a:spcAft>
                <a:spcPts val="500"/>
              </a:spcAft>
            </a:pPr>
            <a:r>
              <a:rPr sz="1400">
                <a:solidFill>
                  <a:srgbClr val="333333"/>
                </a:solidFill>
                <a:latin typeface="Arial"/>
              </a:rPr>
              <a:t>• Slow baseline drift survives NRMSE (a slow 2-exp hugs it) → mimics a slow rise</a:t>
            </a:r>
          </a:p>
          <a:p>
            <a:pPr>
              <a:spcAft>
                <a:spcPts val="500"/>
              </a:spcAft>
            </a:pPr>
            <a:r>
              <a:rPr sz="1400">
                <a:solidFill>
                  <a:srgbClr val="333333"/>
                </a:solidFill>
                <a:latin typeface="Arial"/>
              </a:rPr>
              <a:t>• Fast pulses at τ_rise ≈ 0.1 ms (p90 ≈ 0.15 ms) → ceiling at 0.3 ms blocks the drift tail</a:t>
            </a:r>
          </a:p>
          <a:p>
            <a:pPr>
              <a:spcAft>
                <a:spcPts val="500"/>
              </a:spcAft>
            </a:pPr>
            <a:r>
              <a:rPr sz="1400">
                <a:solidFill>
                  <a:srgbClr val="333333"/>
                </a:solidFill>
                <a:latin typeface="Arial"/>
              </a:rPr>
              <a:t>• Removed after the NRMSE cut: Z7 1.6% (quiet 2–6%) — weak 55–74% (Z22 71%) — all zips 54%</a:t>
            </a:r>
          </a:p>
          <a:p>
            <a:pPr>
              <a:spcAft>
                <a:spcPts val="500"/>
              </a:spcAft>
            </a:pPr>
            <a:r>
              <a:rPr sz="1400">
                <a:solidFill>
                  <a:srgbClr val="333333"/>
                </a:solidFill>
                <a:latin typeface="Arial"/>
              </a:rPr>
              <a:t>• Trade-off: trims the very slowest genuine pulses → decision pending</a:t>
            </a:r>
          </a:p>
        </p:txBody>
      </p:sp>
      <p:pic>
        <p:nvPicPr>
          <p:cNvPr id="5" name="Picture 4" descr="time_constants_zip7_PAS1.png"/>
          <p:cNvPicPr>
            <a:picLocks noChangeAspect="1"/>
          </p:cNvPicPr>
          <p:nvPr/>
        </p:nvPicPr>
        <p:blipFill>
          <a:blip r:embed="rId2"/>
          <a:stretch>
            <a:fillRect/>
          </a:stretch>
        </p:blipFill>
        <p:spPr>
          <a:xfrm>
            <a:off x="1280160" y="3291840"/>
            <a:ext cx="9601200" cy="1851803"/>
          </a:xfrm>
          <a:prstGeom prst="rect">
            <a:avLst/>
          </a:prstGeom>
        </p:spPr>
      </p:pic>
      <p:sp>
        <p:nvSpPr>
          <p:cNvPr id="6" name="TextBox 5"/>
          <p:cNvSpPr txBox="1"/>
          <p:nvPr/>
        </p:nvSpPr>
        <p:spPr>
          <a:xfrm>
            <a:off x="1280160" y="517364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τ_rise cut: a good vs a bad channel (Z7)</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234440"/>
          </a:xfrm>
          <a:prstGeom prst="rect">
            <a:avLst/>
          </a:prstGeom>
          <a:noFill/>
        </p:spPr>
        <p:txBody>
          <a:bodyPr wrap="square">
            <a:spAutoFit/>
          </a:bodyPr>
          <a:lstStyle/>
          <a:p>
            <a:pPr>
              <a:spcAft>
                <a:spcPts val="500"/>
              </a:spcAft>
            </a:pPr>
            <a:r>
              <a:rPr sz="1400">
                <a:solidFill>
                  <a:srgbClr val="333333"/>
                </a:solidFill>
                <a:latin typeface="Arial"/>
              </a:rPr>
              <a:t>• Good channel PBS1: tight clean bundle — the τ_rise ≤ 0.3 ms cut removes ~0% (nearly free on quiet channels)</a:t>
            </a:r>
          </a:p>
          <a:p>
            <a:pPr>
              <a:spcAft>
                <a:spcPts val="500"/>
              </a:spcAft>
            </a:pPr>
            <a:r>
              <a:rPr sz="1400">
                <a:solidFill>
                  <a:srgbClr val="333333"/>
                </a:solidFill>
                <a:latin typeface="Arial"/>
              </a:rPr>
              <a:t>• Bad channel PDS2: broad, messy fan — the channel itself is bad; the cut trims the slow-rise curves, 1462 → 1154 (21%)</a:t>
            </a:r>
          </a:p>
        </p:txBody>
      </p:sp>
      <p:pic>
        <p:nvPicPr>
          <p:cNvPr id="5" name="Picture 4" descr="fan_zip7_PBS1_after.png"/>
          <p:cNvPicPr>
            <a:picLocks noChangeAspect="1"/>
          </p:cNvPicPr>
          <p:nvPr/>
        </p:nvPicPr>
        <p:blipFill>
          <a:blip r:embed="rId2"/>
          <a:stretch>
            <a:fillRect/>
          </a:stretch>
        </p:blipFill>
        <p:spPr>
          <a:xfrm>
            <a:off x="526097" y="2468880"/>
            <a:ext cx="5302885" cy="1600200"/>
          </a:xfrm>
          <a:prstGeom prst="rect">
            <a:avLst/>
          </a:prstGeom>
        </p:spPr>
      </p:pic>
      <p:sp>
        <p:nvSpPr>
          <p:cNvPr id="6" name="TextBox 5"/>
          <p:cNvSpPr txBox="1"/>
          <p:nvPr/>
        </p:nvSpPr>
        <p:spPr>
          <a:xfrm>
            <a:off x="320040" y="4099080"/>
            <a:ext cx="5715000" cy="274320"/>
          </a:xfrm>
          <a:prstGeom prst="rect">
            <a:avLst/>
          </a:prstGeom>
          <a:noFill/>
        </p:spPr>
        <p:txBody>
          <a:bodyPr wrap="square">
            <a:spAutoFit/>
          </a:bodyPr>
          <a:lstStyle/>
          <a:p>
            <a:pPr algn="ctr"/>
            <a:r>
              <a:rPr sz="1100" i="1">
                <a:solidFill>
                  <a:srgbClr val="666666"/>
                </a:solidFill>
                <a:latin typeface="Arial"/>
              </a:rPr>
              <a:t>PBS1 (good) — NRMSE ≤ 0.4</a:t>
            </a:r>
          </a:p>
        </p:txBody>
      </p:sp>
      <p:pic>
        <p:nvPicPr>
          <p:cNvPr id="7" name="Picture 6" descr="fan_zip7_PBS1_after.png"/>
          <p:cNvPicPr>
            <a:picLocks noChangeAspect="1"/>
          </p:cNvPicPr>
          <p:nvPr/>
        </p:nvPicPr>
        <p:blipFill>
          <a:blip r:embed="rId2"/>
          <a:stretch>
            <a:fillRect/>
          </a:stretch>
        </p:blipFill>
        <p:spPr>
          <a:xfrm>
            <a:off x="6469697" y="2468880"/>
            <a:ext cx="5302885" cy="1600200"/>
          </a:xfrm>
          <a:prstGeom prst="rect">
            <a:avLst/>
          </a:prstGeom>
        </p:spPr>
      </p:pic>
      <p:sp>
        <p:nvSpPr>
          <p:cNvPr id="8" name="TextBox 7"/>
          <p:cNvSpPr txBox="1"/>
          <p:nvPr/>
        </p:nvSpPr>
        <p:spPr>
          <a:xfrm>
            <a:off x="6263640" y="4099080"/>
            <a:ext cx="5715000" cy="274320"/>
          </a:xfrm>
          <a:prstGeom prst="rect">
            <a:avLst/>
          </a:prstGeom>
          <a:noFill/>
        </p:spPr>
        <p:txBody>
          <a:bodyPr wrap="square">
            <a:spAutoFit/>
          </a:bodyPr>
          <a:lstStyle/>
          <a:p>
            <a:pPr algn="ctr"/>
            <a:r>
              <a:rPr sz="1100" i="1">
                <a:solidFill>
                  <a:srgbClr val="666666"/>
                </a:solidFill>
                <a:latin typeface="Arial"/>
              </a:rPr>
              <a:t>PBS1 (good) — + τ_rise ≤ 0.3 ms  (unchanged)</a:t>
            </a:r>
          </a:p>
        </p:txBody>
      </p:sp>
      <p:pic>
        <p:nvPicPr>
          <p:cNvPr id="9" name="Picture 8" descr="fan_zip7_PDS2_nrmse.png"/>
          <p:cNvPicPr>
            <a:picLocks noChangeAspect="1"/>
          </p:cNvPicPr>
          <p:nvPr/>
        </p:nvPicPr>
        <p:blipFill>
          <a:blip r:embed="rId3"/>
          <a:stretch>
            <a:fillRect/>
          </a:stretch>
        </p:blipFill>
        <p:spPr>
          <a:xfrm>
            <a:off x="533442" y="4617720"/>
            <a:ext cx="5288195" cy="1600200"/>
          </a:xfrm>
          <a:prstGeom prst="rect">
            <a:avLst/>
          </a:prstGeom>
        </p:spPr>
      </p:pic>
      <p:sp>
        <p:nvSpPr>
          <p:cNvPr id="10" name="TextBox 9"/>
          <p:cNvSpPr txBox="1"/>
          <p:nvPr/>
        </p:nvSpPr>
        <p:spPr>
          <a:xfrm>
            <a:off x="320040" y="6247920"/>
            <a:ext cx="5715000" cy="274320"/>
          </a:xfrm>
          <a:prstGeom prst="rect">
            <a:avLst/>
          </a:prstGeom>
          <a:noFill/>
        </p:spPr>
        <p:txBody>
          <a:bodyPr wrap="square">
            <a:spAutoFit/>
          </a:bodyPr>
          <a:lstStyle/>
          <a:p>
            <a:pPr algn="ctr"/>
            <a:r>
              <a:rPr sz="1100" i="1">
                <a:solidFill>
                  <a:srgbClr val="666666"/>
                </a:solidFill>
                <a:latin typeface="Arial"/>
              </a:rPr>
              <a:t>PDS2 (bad) — NRMSE ≤ 0.4</a:t>
            </a:r>
          </a:p>
        </p:txBody>
      </p:sp>
      <p:pic>
        <p:nvPicPr>
          <p:cNvPr id="11" name="Picture 10" descr="fan_zip7_PDS2_after.png"/>
          <p:cNvPicPr>
            <a:picLocks noChangeAspect="1"/>
          </p:cNvPicPr>
          <p:nvPr/>
        </p:nvPicPr>
        <p:blipFill>
          <a:blip r:embed="rId4"/>
          <a:stretch>
            <a:fillRect/>
          </a:stretch>
        </p:blipFill>
        <p:spPr>
          <a:xfrm>
            <a:off x="6477042" y="4617720"/>
            <a:ext cx="5288195" cy="1600200"/>
          </a:xfrm>
          <a:prstGeom prst="rect">
            <a:avLst/>
          </a:prstGeom>
        </p:spPr>
      </p:pic>
      <p:sp>
        <p:nvSpPr>
          <p:cNvPr id="12" name="TextBox 11"/>
          <p:cNvSpPr txBox="1"/>
          <p:nvPr/>
        </p:nvSpPr>
        <p:spPr>
          <a:xfrm>
            <a:off x="6263640" y="6247920"/>
            <a:ext cx="5715000" cy="274320"/>
          </a:xfrm>
          <a:prstGeom prst="rect">
            <a:avLst/>
          </a:prstGeom>
          <a:noFill/>
        </p:spPr>
        <p:txBody>
          <a:bodyPr wrap="square">
            <a:spAutoFit/>
          </a:bodyPr>
          <a:lstStyle/>
          <a:p>
            <a:pPr algn="ctr"/>
            <a:r>
              <a:rPr sz="1100" i="1">
                <a:solidFill>
                  <a:srgbClr val="666666"/>
                </a:solidFill>
                <a:latin typeface="Arial"/>
              </a:rPr>
              <a:t>PDS2 (bad) — + τ_rise ≤ 0.3 ms  (slow risers trimmed)</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what the τ_rise cut removes: noise NRMSE missed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554480"/>
          </a:xfrm>
          <a:prstGeom prst="rect">
            <a:avLst/>
          </a:prstGeom>
          <a:noFill/>
        </p:spPr>
        <p:txBody>
          <a:bodyPr wrap="square">
            <a:spAutoFit/>
          </a:bodyPr>
          <a:lstStyle/>
          <a:p>
            <a:pPr>
              <a:spcAft>
                <a:spcPts val="500"/>
              </a:spcAft>
            </a:pPr>
            <a:r>
              <a:rPr sz="1400">
                <a:solidFill>
                  <a:srgbClr val="333333"/>
                </a:solidFill>
                <a:latin typeface="Arial"/>
              </a:rPr>
              <a:t>• Exactly the events that PASS NRMSE ≤ 0.4 but are REMOVED by τ_rise ≤ 0.3 ms — the noise 0.4 let through, 0.3 catches</a:t>
            </a:r>
          </a:p>
          <a:p>
            <a:pPr>
              <a:spcAft>
                <a:spcPts val="500"/>
              </a:spcAft>
            </a:pPr>
            <a:r>
              <a:rPr sz="1400">
                <a:solidFill>
                  <a:srgbClr val="333333"/>
                </a:solidFill>
                <a:latin typeface="Arial"/>
              </a:rPr>
              <a:t>• PCS1 / PDS1 pass at NRMSE ≈ 0.15 (a slow 2-exp hugs a slow baseline drift) — but the raw trace has no clean fast pulse</a:t>
            </a:r>
          </a:p>
          <a:p>
            <a:pPr>
              <a:spcAft>
                <a:spcPts val="500"/>
              </a:spcAft>
            </a:pPr>
            <a:r>
              <a:rPr sz="1400">
                <a:solidFill>
                  <a:srgbClr val="333333"/>
                </a:solidFill>
                <a:latin typeface="Arial"/>
              </a:rPr>
              <a:t>• Trade-off: the same cut also trims genuine slow-rise pulses — documented, decision pending</a:t>
            </a:r>
          </a:p>
        </p:txBody>
      </p:sp>
      <p:pic>
        <p:nvPicPr>
          <p:cNvPr id="5" name="Picture 4" descr="drift_zip22_crop.png"/>
          <p:cNvPicPr>
            <a:picLocks noChangeAspect="1"/>
          </p:cNvPicPr>
          <p:nvPr/>
        </p:nvPicPr>
        <p:blipFill>
          <a:blip r:embed="rId2"/>
          <a:stretch>
            <a:fillRect/>
          </a:stretch>
        </p:blipFill>
        <p:spPr>
          <a:xfrm>
            <a:off x="2730551" y="2971800"/>
            <a:ext cx="6700418" cy="3474720"/>
          </a:xfrm>
          <a:prstGeom prst="rect">
            <a:avLst/>
          </a:prstGeom>
        </p:spPr>
      </p:pic>
      <p:sp>
        <p:nvSpPr>
          <p:cNvPr id="6" name="TextBox 5"/>
          <p:cNvSpPr txBox="1"/>
          <p:nvPr/>
        </p:nvSpPr>
        <p:spPr>
          <a:xfrm>
            <a:off x="1920240" y="6476520"/>
            <a:ext cx="8321040" cy="274320"/>
          </a:xfrm>
          <a:prstGeom prst="rect">
            <a:avLst/>
          </a:prstGeom>
          <a:noFill/>
        </p:spPr>
        <p:txBody>
          <a:bodyPr wrap="square">
            <a:spAutoFit/>
          </a:bodyPr>
          <a:lstStyle/>
          <a:p>
            <a:pPr algn="ctr"/>
            <a:r>
              <a:rPr sz="1100" i="1">
                <a:solidFill>
                  <a:srgbClr val="666666"/>
                </a:solidFill>
                <a:latin typeface="Arial"/>
              </a:rPr>
              <a:t>Z22: 3 events × PAS1/PBS1/PCS1/PDS1 — pass NRMSE ≤ 0.4, removed by τ_rise ≤ 0.3 ms; PCS1/PDS1 are pure slow drift</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