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The ops-shift study located the K-line position in the PTOFamps spectrum of each detector - that is the red line in every panel here. Our event selection is exactly one condition: a window around the red line, a factor 1.35 both ways,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five steps. Low-pass at 100 kilohertz, baseline subtraction, peak normalization, then a two-exponential fit where all five parameters are free, including the pulse onset. The onset is never pinned: real trigger times vary, and the fitted onsets cluster about 230 samples after the nominal pretrigger - pinning it would bias the time constants. Each fit records a physicality flag and an NRMSE; no cut yet. Finally the measured trace is aligned by shifting it by the fitted onset - a pure translation. The two fan plots show the output of the fit step: every fitted curve drawn at the common onset, peak-normalized. On the left, all physical fits - you can see slow components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things look like after alignment - zoomed right on the peak. The blue band is thousands of measured traces stacked on top of each other; red is their average; orange is the weighted average of the fitted curves. On a quiet detector the bundle is very tight - the pulse shape really is highly consistent, so the raw material for a template is good. Now please notice one detail: in both channels there is a faint, displaced little bundle next to the main one - very clear in the left panel. And these two channels sit on opposite faces of the crystal, so this is not a quirk of one channel. Keep it in mind - we'll come back to what it 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weak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lead is the slow rise. Same recipe: take events that fit well - NRMSE fine - but whose median rise time is above zero point two milliseconds, sample them, look at the raw traces. This time the conclusion is the opposite: these are real pulses. Onset aligned, peak arriving late, consistent across all channels - they are exactly the shadow from the alignment plot. So the slow rise cannot simply be cut away: there is real physics in it, possibly related to where in the crystal the event happens; that is not settled yet.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on the slow-rise side there is also a troublemaker: on detectors with a noisy window, a slow baseline drift also fits as a slow rise, with a tiny residual - NRMSE cannot catch it. The real pulses cluster near zero point one milliseconds while the drift tail stretches much further, so for the template input we set a ceiling at zero point three milliseconds. That blocks the drift and keeps the vast majority of real pulses - including part of the shadow population; the price is that the very slowest genuine pulses get trimmed too. That trade-off is documented and not final - I would like your input on it later.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onset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shape variation we just saw.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Phonon Pulse Templates for SuperCDMS SNOLAB Run 4</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15,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the ops-shift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(position ×/÷ 1.35) —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 every later cut stays explicit and reversible</a:t>
            </a:r>
          </a:p>
        </p:txBody>
      </p:sp>
      <p:pic>
        <p:nvPicPr>
          <p:cNvPr id="5" name="Picture 4" descr="kline_all_zips.png"/>
          <p:cNvPicPr>
            <a:picLocks noChangeAspect="1"/>
          </p:cNvPicPr>
          <p:nvPr/>
        </p:nvPicPr>
        <p:blipFill>
          <a:blip r:embed="rId2"/>
          <a:stretch>
            <a:fillRect/>
          </a:stretch>
        </p:blipFill>
        <p:spPr>
          <a:xfrm>
            <a:off x="1059892" y="2487168"/>
            <a:ext cx="10078312" cy="3977639"/>
          </a:xfrm>
          <a:prstGeom prst="rect">
            <a:avLst/>
          </a:prstGeom>
        </p:spPr>
      </p:pic>
      <p:sp>
        <p:nvSpPr>
          <p:cNvPr id="6" name="TextBox 5"/>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(ops-shift study): red line = fitted mean of the 10.37 keV K-line. Selection window per detector = red-line position ×/÷ 1.35.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free-pretrigger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2834640"/>
          </a:xfrm>
          <a:prstGeom prst="rect">
            <a:avLst/>
          </a:prstGeom>
          <a:noFill/>
        </p:spPr>
        <p:txBody>
          <a:bodyPr wrap="square">
            <a:spAutoFit/>
          </a:bodyPr>
          <a:lstStyle/>
          <a:p>
            <a:pPr>
              <a:spcAft>
                <a:spcPts val="500"/>
              </a:spcAft>
            </a:pPr>
            <a:r>
              <a:rPr sz="1500">
                <a:solidFill>
                  <a:srgbClr val="333333"/>
                </a:solidFill>
                <a:latin typeface="Arial"/>
              </a:rPr>
              <a:t>• 1.  100 kHz 4th-order Butterworth low-pass (steady-state init — no filter start-up transient)</a:t>
            </a:r>
          </a:p>
          <a:p>
            <a:pPr>
              <a:spcAft>
                <a:spcPts val="500"/>
              </a:spcAft>
            </a:pPr>
            <a:r>
              <a:rPr sz="1500">
                <a:solidFill>
                  <a:srgbClr val="333333"/>
                </a:solidFill>
                <a:latin typeface="Arial"/>
              </a:rPr>
              <a:t>• 2.  Baseline = median of samples 2000–12000, subtracted; normalize by the global trace peak</a:t>
            </a:r>
          </a:p>
          <a:p>
            <a:pPr>
              <a:spcAft>
                <a:spcPts val="500"/>
              </a:spcAft>
            </a:pPr>
            <a:r>
              <a:rPr sz="1500">
                <a:solidFill>
                  <a:srgbClr val="333333"/>
                </a:solidFill>
                <a:latin typeface="Arial"/>
              </a:rPr>
              <a:t>• 3.  Two-exponential fit — all 5 parameters free, including the onset:</a:t>
            </a:r>
          </a:p>
          <a:p>
            <a:pPr lvl="1">
              <a:spcAft>
                <a:spcPts val="500"/>
              </a:spcAft>
            </a:pPr>
            <a:r>
              <a:rPr sz="1300">
                <a:solidFill>
                  <a:srgbClr val="666666"/>
                </a:solidFill>
                <a:latin typeface="Arial"/>
              </a:rPr>
              <a:t>– y(t) = A·[exp(−(t−t₀)/τ_fall) − exp(−(t−t₀)/τ_rise)] + b,   t₀ ∈ 16050 ± 3000 samples</a:t>
            </a:r>
          </a:p>
          <a:p>
            <a:pPr lvl="1">
              <a:spcAft>
                <a:spcPts val="500"/>
              </a:spcAft>
            </a:pPr>
            <a:r>
              <a:rPr sz="1300">
                <a:solidFill>
                  <a:srgbClr val="666666"/>
                </a:solidFill>
                <a:latin typeface="Arial"/>
              </a:rPr>
              <a:t>– fit window 12550–24050 (stride 4);  τ_rise ∈ [1 µs, 5 ms],  τ_fall ∈ [10 µs, 20 ms]</a:t>
            </a:r>
          </a:p>
          <a:p>
            <a:pPr>
              <a:spcAft>
                <a:spcPts val="500"/>
              </a:spcAft>
            </a:pPr>
            <a:r>
              <a:rPr sz="1500">
                <a:solidFill>
                  <a:srgbClr val="333333"/>
                </a:solidFill>
                <a:latin typeface="Arial"/>
              </a:rPr>
              <a:t>• 4.  Quality numbers — fit_ok := A&gt;0 and 0&lt;τ_rise&lt;τ_fall;  NRMSE := RMS(residual)/fit peak (recorded, no cut yet)</a:t>
            </a:r>
          </a:p>
          <a:p>
            <a:pPr>
              <a:spcAft>
                <a:spcPts val="500"/>
              </a:spcAft>
            </a:pPr>
            <a:r>
              <a:rPr sz="1500">
                <a:solidFill>
                  <a:srgbClr val="333333"/>
                </a:solidFill>
                <a:latin typeface="Arial"/>
              </a:rPr>
              <a:t>• 5.  Align — shift the measured trace by (fitted onset − 16050), sub-sample interpolation: a pure translation</a:t>
            </a:r>
          </a:p>
        </p:txBody>
      </p:sp>
      <p:sp>
        <p:nvSpPr>
          <p:cNvPr id="5" name="TextBox 4"/>
          <p:cNvSpPr txBox="1"/>
          <p:nvPr/>
        </p:nvSpPr>
        <p:spPr>
          <a:xfrm>
            <a:off x="502920" y="4005072"/>
            <a:ext cx="11247120" cy="685800"/>
          </a:xfrm>
          <a:prstGeom prst="rect">
            <a:avLst/>
          </a:prstGeom>
          <a:noFill/>
        </p:spPr>
        <p:txBody>
          <a:bodyPr wrap="square">
            <a:spAutoFit/>
          </a:bodyPr>
          <a:lstStyle/>
          <a:p>
            <a:pPr>
              <a:spcAft>
                <a:spcPts val="500"/>
              </a:spcAft>
            </a:pPr>
            <a:r>
              <a:rPr sz="1400">
                <a:solidFill>
                  <a:srgbClr val="C0504D"/>
                </a:solidFill>
                <a:latin typeface="Arial"/>
              </a:rPr>
              <a:t>• Why a free onset?  Real trigger times vary event-by-event — fitted onsets cluster ≈230 samples after the nominal 16050. Pinning the onset distorts every other parameter.</a:t>
            </a:r>
          </a:p>
        </p:txBody>
      </p:sp>
      <p:pic>
        <p:nvPicPr>
          <p:cNvPr id="6" name="Picture 5" descr="fan_zip7_PBS1_before.png"/>
          <p:cNvPicPr>
            <a:picLocks noChangeAspect="1"/>
          </p:cNvPicPr>
          <p:nvPr/>
        </p:nvPicPr>
        <p:blipFill>
          <a:blip r:embed="rId2"/>
          <a:stretch>
            <a:fillRect/>
          </a:stretch>
        </p:blipFill>
        <p:spPr>
          <a:xfrm>
            <a:off x="594677" y="4800600"/>
            <a:ext cx="5302885" cy="1600200"/>
          </a:xfrm>
          <a:prstGeom prst="rect">
            <a:avLst/>
          </a:prstGeom>
        </p:spPr>
      </p:pic>
      <p:sp>
        <p:nvSpPr>
          <p:cNvPr id="7" name="TextBox 6"/>
          <p:cNvSpPr txBox="1"/>
          <p:nvPr/>
        </p:nvSpPr>
        <p:spPr>
          <a:xfrm>
            <a:off x="502920" y="6430800"/>
            <a:ext cx="5486400" cy="274320"/>
          </a:xfrm>
          <a:prstGeom prst="rect">
            <a:avLst/>
          </a:prstGeom>
          <a:noFill/>
        </p:spPr>
        <p:txBody>
          <a:bodyPr wrap="square">
            <a:spAutoFit/>
          </a:bodyPr>
          <a:lstStyle/>
          <a:p>
            <a:pPr algn="ctr"/>
            <a:r>
              <a:rPr sz="1100" i="1">
                <a:solidFill>
                  <a:srgbClr val="666666"/>
                </a:solidFill>
                <a:latin typeface="Arial"/>
              </a:rPr>
              <a:t>Fitted curves at common onset, peak-normalized — ALL fit_ok events (no cut)</a:t>
            </a:r>
          </a:p>
        </p:txBody>
      </p:sp>
      <p:pic>
        <p:nvPicPr>
          <p:cNvPr id="8" name="Picture 7" descr="fan_zip7_PBS1_nrmse.png"/>
          <p:cNvPicPr>
            <a:picLocks noChangeAspect="1"/>
          </p:cNvPicPr>
          <p:nvPr/>
        </p:nvPicPr>
        <p:blipFill>
          <a:blip r:embed="rId3"/>
          <a:stretch>
            <a:fillRect/>
          </a:stretch>
        </p:blipFill>
        <p:spPr>
          <a:xfrm>
            <a:off x="6355397" y="4800600"/>
            <a:ext cx="5302885" cy="1600200"/>
          </a:xfrm>
          <a:prstGeom prst="rect">
            <a:avLst/>
          </a:prstGeom>
        </p:spPr>
      </p:pic>
      <p:sp>
        <p:nvSpPr>
          <p:cNvPr id="9" name="TextBox 8"/>
          <p:cNvSpPr txBox="1"/>
          <p:nvPr/>
        </p:nvSpPr>
        <p:spPr>
          <a:xfrm>
            <a:off x="6263640" y="6430800"/>
            <a:ext cx="5486400" cy="274320"/>
          </a:xfrm>
          <a:prstGeom prst="rect">
            <a:avLst/>
          </a:prstGeom>
          <a:noFill/>
        </p:spPr>
        <p:txBody>
          <a:bodyPr wrap="square">
            <a:spAutoFit/>
          </a:bodyPr>
          <a:lstStyle/>
          <a:p>
            <a:pPr algn="ctr"/>
            <a:r>
              <a:rPr sz="1100" i="1">
                <a:solidFill>
                  <a:srgbClr val="666666"/>
                </a:solidFill>
                <a:latin typeface="Arial"/>
              </a:rPr>
              <a:t>Same, after NRMSE ≤ 0.4 — a single tight shape family remains (Z7 PBS1)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low-passed trace (blue) vs 2-exp fit (red), NRMSE stamped per panel</a:t>
            </a:r>
          </a:p>
          <a:p>
            <a:pPr>
              <a:spcAft>
                <a:spcPts val="500"/>
              </a:spcAft>
            </a:pPr>
            <a:r>
              <a:rPr sz="1400">
                <a:solidFill>
                  <a:srgbClr val="333333"/>
                </a:solidFill>
                <a:latin typeface="Arial"/>
              </a:rPr>
              <a:t>• The same event fits consistently across channels; a noise trigger fails in all channels at once</a:t>
            </a:r>
          </a:p>
          <a:p>
            <a:pPr>
              <a:spcAft>
                <a:spcPts val="500"/>
              </a:spcAft>
            </a:pPr>
            <a:r>
              <a:rPr sz="1400">
                <a:solidFill>
                  <a:srgbClr val="333333"/>
                </a:solidFill>
                <a:latin typeface="Arial"/>
              </a:rPr>
              <a:t>• Every figure carries its full processing chain in the header → self-documenting</a:t>
            </a:r>
          </a:p>
        </p:txBody>
      </p:sp>
      <p:pic>
        <p:nvPicPr>
          <p:cNvPr id="5" name="Picture 4" descr="fit_examples_zip7_noise.png"/>
          <p:cNvPicPr>
            <a:picLocks noChangeAspect="1"/>
          </p:cNvPicPr>
          <p:nvPr/>
        </p:nvPicPr>
        <p:blipFill>
          <a:blip r:embed="rId2"/>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Alignment result — overlaid measured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371600"/>
          </a:xfrm>
          <a:prstGeom prst="rect">
            <a:avLst/>
          </a:prstGeom>
          <a:noFill/>
        </p:spPr>
        <p:txBody>
          <a:bodyPr wrap="square">
            <a:spAutoFit/>
          </a:bodyPr>
          <a:lstStyle/>
          <a:p>
            <a:pPr>
              <a:spcAft>
                <a:spcPts val="500"/>
              </a:spcAft>
            </a:pPr>
            <a:r>
              <a:rPr sz="1400">
                <a:solidFill>
                  <a:srgbClr val="333333"/>
                </a:solidFill>
                <a:latin typeface="Arial"/>
              </a:rPr>
              <a:t>• All fit_ok traces shifted to the common onset (blue) + point-by-point mean (red) + NRMSE-weighted mean of the fitted curves (orange, w = 1/max(NRMSE, 0.01)²)</a:t>
            </a:r>
          </a:p>
          <a:p>
            <a:pPr>
              <a:spcAft>
                <a:spcPts val="500"/>
              </a:spcAft>
            </a:pPr>
            <a:r>
              <a:rPr sz="1400">
                <a:solidFill>
                  <a:srgbClr val="333333"/>
                </a:solidFill>
                <a:latin typeface="Arial"/>
              </a:rPr>
              <a:t>• Peak zoom on a quiet detector: a tight bundle — the template input is well defined. Note the faint displaced bundle beside the main one, visible on both crystal faces (S1 and S2) — more on it later</a:t>
            </a:r>
          </a:p>
        </p:txBody>
      </p:sp>
      <p:pic>
        <p:nvPicPr>
          <p:cNvPr id="5" name="Picture 4" descr="aligned_zoom_zip7_PCS1.png"/>
          <p:cNvPicPr>
            <a:picLocks noChangeAspect="1"/>
          </p:cNvPicPr>
          <p:nvPr/>
        </p:nvPicPr>
        <p:blipFill>
          <a:blip r:embed="rId2"/>
          <a:stretch>
            <a:fillRect/>
          </a:stretch>
        </p:blipFill>
        <p:spPr>
          <a:xfrm>
            <a:off x="320040" y="2834640"/>
            <a:ext cx="5623560" cy="2705090"/>
          </a:xfrm>
          <a:prstGeom prst="rect">
            <a:avLst/>
          </a:prstGeom>
        </p:spPr>
      </p:pic>
      <p:sp>
        <p:nvSpPr>
          <p:cNvPr id="6" name="TextBox 5"/>
          <p:cNvSpPr txBox="1"/>
          <p:nvPr/>
        </p:nvSpPr>
        <p:spPr>
          <a:xfrm>
            <a:off x="320040" y="5569730"/>
            <a:ext cx="5623560" cy="274320"/>
          </a:xfrm>
          <a:prstGeom prst="rect">
            <a:avLst/>
          </a:prstGeom>
          <a:noFill/>
        </p:spPr>
        <p:txBody>
          <a:bodyPr wrap="square">
            <a:spAutoFit/>
          </a:bodyPr>
          <a:lstStyle/>
          <a:p>
            <a:pPr algn="ctr"/>
            <a:r>
              <a:rPr sz="1100" i="1">
                <a:solidFill>
                  <a:srgbClr val="666666"/>
                </a:solidFill>
                <a:latin typeface="Arial"/>
              </a:rPr>
              <a:t>Z7 PCS1 (S1 face) — peak zoom; the faint displaced bundle is clearly visible</a:t>
            </a:r>
          </a:p>
        </p:txBody>
      </p:sp>
      <p:pic>
        <p:nvPicPr>
          <p:cNvPr id="7" name="Picture 6" descr="aligned_zoom_zip7_PBS2.png"/>
          <p:cNvPicPr>
            <a:picLocks noChangeAspect="1"/>
          </p:cNvPicPr>
          <p:nvPr/>
        </p:nvPicPr>
        <p:blipFill>
          <a:blip r:embed="rId3"/>
          <a:stretch>
            <a:fillRect/>
          </a:stretch>
        </p:blipFill>
        <p:spPr>
          <a:xfrm>
            <a:off x="6263640" y="2834640"/>
            <a:ext cx="5623560" cy="2705090"/>
          </a:xfrm>
          <a:prstGeom prst="rect">
            <a:avLst/>
          </a:prstGeom>
        </p:spPr>
      </p:pic>
      <p:sp>
        <p:nvSpPr>
          <p:cNvPr id="8" name="TextBox 7"/>
          <p:cNvSpPr txBox="1"/>
          <p:nvPr/>
        </p:nvSpPr>
        <p:spPr>
          <a:xfrm>
            <a:off x="6263640" y="5569730"/>
            <a:ext cx="5623560" cy="274320"/>
          </a:xfrm>
          <a:prstGeom prst="rect">
            <a:avLst/>
          </a:prstGeom>
          <a:noFill/>
        </p:spPr>
        <p:txBody>
          <a:bodyPr wrap="square">
            <a:spAutoFit/>
          </a:bodyPr>
          <a:lstStyle/>
          <a:p>
            <a:pPr algn="ctr"/>
            <a:r>
              <a:rPr sz="1100" i="1">
                <a:solidFill>
                  <a:srgbClr val="666666"/>
                </a:solidFill>
                <a:latin typeface="Arial"/>
              </a:rPr>
              <a:t>Z7 PBS2 (S2 face) — same faint displaced bundle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(weak): noise population dominates — the window alone is not enough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a:p>
            <a:pPr>
              <a:spcAft>
                <a:spcPts val="500"/>
              </a:spcAft>
            </a:pPr>
            <a:r>
              <a:rPr sz="1400">
                <a:solidFill>
                  <a:srgbClr val="333333"/>
                </a:solidFill>
                <a:latin typeface="Arial"/>
              </a:rPr>
              <a:t>• Fan-cut view: fitted curves that pass (green) vs cut away (red) on top of the aligned data, median NRMSE of each population stamped per channel</a:t>
            </a:r>
          </a:p>
        </p:txBody>
      </p:sp>
      <p:pic>
        <p:nvPicPr>
          <p:cNvPr id="5" name="Picture 4" descr="slow_rise_zip22_crop.png"/>
          <p:cNvPicPr>
            <a:picLocks noChangeAspect="1"/>
          </p:cNvPicPr>
          <p:nvPr/>
        </p:nvPicPr>
        <p:blipFill>
          <a:blip r:embed="rId2"/>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6126480" y="2651760"/>
            <a:ext cx="5760720" cy="3383280"/>
          </a:xfrm>
          <a:prstGeom prst="rect">
            <a:avLst/>
          </a:prstGeom>
        </p:spPr>
      </p:pic>
      <p:sp>
        <p:nvSpPr>
          <p:cNvPr id="8" name="TextBox 7"/>
          <p:cNvSpPr txBox="1"/>
          <p:nvPr/>
        </p:nvSpPr>
        <p:spPr>
          <a:xfrm>
            <a:off x="6126480" y="6065040"/>
            <a:ext cx="5760720" cy="274320"/>
          </a:xfrm>
          <a:prstGeom prst="rect">
            <a:avLst/>
          </a:prstGeom>
          <a:noFill/>
        </p:spPr>
        <p:txBody>
          <a:bodyPr wrap="square">
            <a:spAutoFit/>
          </a:bodyPr>
          <a:lstStyle/>
          <a:p>
            <a:pPr algn="ctr"/>
            <a:r>
              <a:rPr sz="1100" i="1">
                <a:solidFill>
                  <a:srgbClr val="666666"/>
                </a:solidFill>
                <a:latin typeface="Arial"/>
              </a:rPr>
              <a:t>Z22 PCS1: pass (green) vs rejected (red) — vertically stretched for visibility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411480" y="2651760"/>
            <a:ext cx="6675120" cy="3432048"/>
          </a:xfrm>
          <a:prstGeom prst="rect">
            <a:avLst/>
          </a:prstGeom>
        </p:spPr>
      </p:pic>
      <p:sp>
        <p:nvSpPr>
          <p:cNvPr id="6" name="TextBox 5"/>
          <p:cNvSpPr txBox="1"/>
          <p:nvPr/>
        </p:nvSpPr>
        <p:spPr>
          <a:xfrm>
            <a:off x="411480" y="6113808"/>
            <a:ext cx="6675120" cy="274320"/>
          </a:xfrm>
          <a:prstGeom prst="rect">
            <a:avLst/>
          </a:prstGeom>
          <a:noFill/>
        </p:spPr>
        <p:txBody>
          <a:bodyPr wrap="square">
            <a:spAutoFit/>
          </a:bodyPr>
          <a:lstStyle/>
          <a:p>
            <a:pPr algn="ctr"/>
            <a:r>
              <a:rPr sz="1100" i="1">
                <a:solidFill>
                  <a:srgbClr val="666666"/>
                </a:solidFill>
                <a:latin typeface="Arial"/>
              </a:rPr>
              <a:t>Z7, 3 of the sampled slow-fall events: normal pulses in PBS2/PCS2/PES2, low-frequency swings only in PDS2</a:t>
            </a:r>
          </a:p>
        </p:txBody>
      </p:sp>
      <p:pic>
        <p:nvPicPr>
          <p:cNvPr id="7" name="Picture 6" descr="time_constants_zip7_PDS2_tfall.png"/>
          <p:cNvPicPr>
            <a:picLocks noChangeAspect="1"/>
          </p:cNvPicPr>
          <p:nvPr/>
        </p:nvPicPr>
        <p:blipFill>
          <a:blip r:embed="rId3"/>
          <a:stretch>
            <a:fillRect/>
          </a:stretch>
        </p:blipFill>
        <p:spPr>
          <a:xfrm>
            <a:off x="7315200" y="2834640"/>
            <a:ext cx="4663440" cy="2926080"/>
          </a:xfrm>
          <a:prstGeom prst="rect">
            <a:avLst/>
          </a:prstGeom>
        </p:spPr>
      </p:pic>
      <p:sp>
        <p:nvSpPr>
          <p:cNvPr id="8" name="TextBox 7"/>
          <p:cNvSpPr txBox="1"/>
          <p:nvPr/>
        </p:nvSpPr>
        <p:spPr>
          <a:xfrm>
            <a:off x="7315200" y="5790720"/>
            <a:ext cx="4663440" cy="274320"/>
          </a:xfrm>
          <a:prstGeom prst="rect">
            <a:avLst/>
          </a:prstGeom>
          <a:noFill/>
        </p:spPr>
        <p:txBody>
          <a:bodyPr wrap="square">
            <a:spAutoFit/>
          </a:bodyPr>
          <a:lstStyle/>
          <a:p>
            <a:pPr algn="ctr"/>
            <a:r>
              <a:rPr sz="1100" i="1">
                <a:solidFill>
                  <a:srgbClr val="666666"/>
                </a:solidFill>
                <a:latin typeface="Arial"/>
              </a:rPr>
              <a:t>Z7 PDS2, fitted τ_fall: broad tail (median 0.51 ms) — the artifact in the distributions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2 — genuine slow-rise pulses (“shadow” events)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Same sampling recipe on the rise side: median NRMSE ≤ 0.4 AND median τ_rise &gt; 0.2 ms → the raw traces show real pulses — onset aligned, peak late, consistent across channels</a:t>
            </a:r>
          </a:p>
          <a:p>
            <a:pPr>
              <a:spcAft>
                <a:spcPts val="500"/>
              </a:spcAft>
            </a:pPr>
            <a:r>
              <a:rPr sz="1400">
                <a:solidFill>
                  <a:srgbClr val="333333"/>
                </a:solidFill>
                <a:latin typeface="Arial"/>
              </a:rPr>
              <a:t>• They are the faint displaced bundle in the aligned overlays — a genuine second pulse shape (candidate surface/bulk effect, not settled)</a:t>
            </a:r>
          </a:p>
          <a:p>
            <a:pPr>
              <a:spcAft>
                <a:spcPts val="500"/>
              </a:spcAft>
            </a:pPr>
            <a:r>
              <a:rPr sz="1400">
                <a:solidFill>
                  <a:srgbClr val="333333"/>
                </a:solidFill>
                <a:latin typeface="Arial"/>
              </a:rPr>
              <a:t>• Real physics → cannot simply be cut away; exactly the shape variation the multi-template NxM method is built to capture</a:t>
            </a:r>
          </a:p>
        </p:txBody>
      </p:sp>
      <p:pic>
        <p:nvPicPr>
          <p:cNvPr id="5" name="Picture 4" descr="shadow_zip7_crop.png"/>
          <p:cNvPicPr>
            <a:picLocks noChangeAspect="1"/>
          </p:cNvPicPr>
          <p:nvPr/>
        </p:nvPicPr>
        <p:blipFill>
          <a:blip r:embed="rId2"/>
          <a:stretch>
            <a:fillRect/>
          </a:stretch>
        </p:blipFill>
        <p:spPr>
          <a:xfrm>
            <a:off x="1167141" y="2697480"/>
            <a:ext cx="9827237" cy="3794760"/>
          </a:xfrm>
          <a:prstGeom prst="rect">
            <a:avLst/>
          </a:prstGeom>
        </p:spPr>
      </p:pic>
      <p:sp>
        <p:nvSpPr>
          <p:cNvPr id="6" name="TextBox 5"/>
          <p:cNvSpPr txBox="1"/>
          <p:nvPr/>
        </p:nvSpPr>
        <p:spPr>
          <a:xfrm>
            <a:off x="1097280" y="6522240"/>
            <a:ext cx="9966960" cy="274320"/>
          </a:xfrm>
          <a:prstGeom prst="rect">
            <a:avLst/>
          </a:prstGeom>
          <a:noFill/>
        </p:spPr>
        <p:txBody>
          <a:bodyPr wrap="square">
            <a:spAutoFit/>
          </a:bodyPr>
          <a:lstStyle/>
          <a:p>
            <a:pPr algn="ctr"/>
            <a:r>
              <a:rPr sz="1100" i="1">
                <a:solidFill>
                  <a:srgbClr val="666666"/>
                </a:solidFill>
                <a:latin typeface="Arial"/>
              </a:rPr>
              <a:t>Z7 shadow events (first 4 channels): raw (gray) / LP (blue) / fit (red) — genuine slow pulses, onset aligned, peak late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Slow drift also fits “slow”: a τ_rise ≤ 0.3 ms ceiling</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600200"/>
          </a:xfrm>
          <a:prstGeom prst="rect">
            <a:avLst/>
          </a:prstGeom>
          <a:noFill/>
        </p:spPr>
        <p:txBody>
          <a:bodyPr wrap="square">
            <a:spAutoFit/>
          </a:bodyPr>
          <a:lstStyle/>
          <a:p>
            <a:pPr>
              <a:spcAft>
                <a:spcPts val="500"/>
              </a:spcAft>
            </a:pPr>
            <a:r>
              <a:rPr sz="1400">
                <a:solidFill>
                  <a:srgbClr val="333333"/>
                </a:solidFill>
                <a:latin typeface="Arial"/>
              </a:rPr>
              <a:t>• On noisy-window detectors a smooth baseline drift survives the NRMSE cut — a slow 2-exp hugs it with a tiny residual — and mimics a slow rise</a:t>
            </a:r>
          </a:p>
          <a:p>
            <a:pPr>
              <a:spcAft>
                <a:spcPts val="500"/>
              </a:spcAft>
            </a:pPr>
            <a:r>
              <a:rPr sz="1400">
                <a:solidFill>
                  <a:srgbClr val="333333"/>
                </a:solidFill>
                <a:latin typeface="Arial"/>
              </a:rPr>
              <a:t>• Fast pulses sit at τ_rise ≈ 0.1 ms (p90 ≈ 0.15 ms), far below the drift tail → a ceiling at 0.3 ms blocks the drift at ≈ 2–5% signal cost</a:t>
            </a:r>
          </a:p>
          <a:p>
            <a:pPr>
              <a:spcAft>
                <a:spcPts val="500"/>
              </a:spcAft>
            </a:pPr>
            <a:r>
              <a:rPr sz="1400">
                <a:solidFill>
                  <a:srgbClr val="333333"/>
                </a:solidFill>
                <a:latin typeface="Arial"/>
              </a:rPr>
              <a:t>• Keeps most genuine slow pulses, trims the very slowest — documented trade-off, final decision pending</a:t>
            </a:r>
          </a:p>
        </p:txBody>
      </p:sp>
      <p:pic>
        <p:nvPicPr>
          <p:cNvPr id="5" name="Picture 4" descr="time_constants_zip7_PAS1.png"/>
          <p:cNvPicPr>
            <a:picLocks noChangeAspect="1"/>
          </p:cNvPicPr>
          <p:nvPr/>
        </p:nvPicPr>
        <p:blipFill>
          <a:blip r:embed="rId2"/>
          <a:stretch>
            <a:fillRect/>
          </a:stretch>
        </p:blipFill>
        <p:spPr>
          <a:xfrm>
            <a:off x="1280160" y="2880360"/>
            <a:ext cx="9601200" cy="1851803"/>
          </a:xfrm>
          <a:prstGeom prst="rect">
            <a:avLst/>
          </a:prstGeom>
        </p:spPr>
      </p:pic>
      <p:sp>
        <p:nvSpPr>
          <p:cNvPr id="6" name="TextBox 5"/>
          <p:cNvSpPr txBox="1"/>
          <p:nvPr/>
        </p:nvSpPr>
        <p:spPr>
          <a:xfrm>
            <a:off x="1280160" y="476216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280160" y="5257800"/>
            <a:ext cx="9601200" cy="914400"/>
          </a:xfrm>
          <a:prstGeom prst="rect">
            <a:avLst/>
          </a:prstGeom>
          <a:noFill/>
        </p:spPr>
        <p:txBody>
          <a:bodyPr wrap="square">
            <a:spAutoFit/>
          </a:bodyPr>
          <a:lstStyle/>
          <a:p>
            <a:pPr>
              <a:spcAft>
                <a:spcPts val="500"/>
              </a:spcAft>
            </a:pPr>
            <a:r>
              <a:rPr sz="1300">
                <a:solidFill>
                  <a:srgbClr val="333333"/>
                </a:solidFill>
                <a:latin typeface="Arial"/>
              </a:rPr>
              <a:t>• On quiet detectors both τ_rise and τ_fall distributions are narrow — the pulse shape is stable across events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Per channel: weighted mean of ALL fit_ok fitted curves at the common onset, weight w = 1/max(NRMSE, 0.01)²</a:t>
            </a:r>
          </a:p>
          <a:p>
            <a:pPr>
              <a:spcAft>
                <a:spcPts val="500"/>
              </a:spcAft>
            </a:pPr>
            <a:r>
              <a:rPr sz="1400">
                <a:solidFill>
                  <a:srgbClr val="333333"/>
                </a:solidFill>
                <a:latin typeface="Arial"/>
              </a:rPr>
              <a:t>• Badly-fit events count less but are never excluded — robust and smooth (noise-free by construction)</a:t>
            </a:r>
          </a:p>
          <a:p>
            <a:pPr>
              <a:spcAft>
                <a:spcPts val="500"/>
              </a:spcAft>
            </a:pPr>
            <a:r>
              <a:rPr sz="1400">
                <a:solidFill>
                  <a:srgbClr val="333333"/>
                </a:solidFill>
                <a:latin typeface="Arial"/>
              </a:rPr>
              <a:t>• Delivered as peak-normalized 32768-bin ROOT TH1D per channel + summed PT/PS1/PS2 templates</a:t>
            </a:r>
          </a:p>
        </p:txBody>
      </p:sp>
      <p:pic>
        <p:nvPicPr>
          <p:cNvPr id="5" name="Picture 4" descr="fan_zip7_PBS1_nrmse.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Input: fitted curves passing fit_ok + NRMSE ≤ 0.4 + τ_rise ≤ 0.3 ms, at common onset, peak-normalized (PCA window 15550–24050, ≤ 3000 curves/channel)</a:t>
            </a:r>
          </a:p>
          <a:p>
            <a:pPr>
              <a:spcAft>
                <a:spcPts val="500"/>
              </a:spcAft>
            </a:pPr>
            <a:r>
              <a:rPr sz="1400">
                <a:solidFill>
                  <a:srgbClr val="333333"/>
                </a:solidFill>
                <a:latin typeface="Arial"/>
              </a:rPr>
              <a:t>• nxm0 = mean shape;  nxm1…nxm4 = first four principal components — a real pulse is fit as Σᵢ ampᵢ · nxmᵢ</a:t>
            </a:r>
          </a:p>
          <a:p>
            <a:pPr>
              <a:spcAft>
                <a:spcPts val="500"/>
              </a:spcAft>
            </a:pPr>
            <a:r>
              <a:rPr sz="1400">
                <a:solidFill>
                  <a:srgbClr val="333333"/>
                </a:solidFill>
                <a:latin typeface="Arial"/>
              </a:rPr>
              <a:t>• PC1 + PC2 already capture 96–98% of the shape variance; final step before delivery: normalize all five to unit peak — the delivered product</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11247120" cy="4206240"/>
          </a:xfrm>
          <a:prstGeom prst="rect">
            <a:avLst/>
          </a:prstGeom>
          <a:noFill/>
        </p:spPr>
        <p:txBody>
          <a:bodyPr wrap="square">
            <a:spAutoFit/>
          </a:bodyPr>
          <a:lstStyle/>
          <a:p>
            <a:pPr>
              <a:spcAft>
                <a:spcPts val="500"/>
              </a:spcAft>
            </a:pPr>
            <a:r>
              <a:rPr sz="1600">
                <a:solidFill>
                  <a:srgbClr val="333333"/>
                </a:solidFill>
                <a:latin typeface="Arial"/>
              </a:rPr>
              <a:t>• Delivered for all 13 zips, official cdmsbats PulseTemplates layout (zip{N}/{chan}, {chan}nxm0–4, summed PT/PS1/PS2):</a:t>
            </a:r>
          </a:p>
          <a:p>
            <a:pPr lvl="1">
              <a:spcAft>
                <a:spcPts val="500"/>
              </a:spcAft>
            </a:pPr>
            <a:r>
              <a:rPr sz="1400">
                <a:solidFill>
                  <a:srgbClr val="666666"/>
                </a:solidFill>
                <a:latin typeface="Arial"/>
              </a:rPr>
              <a:t>– SNOLAB_R4_20260706_ZhihengLi_zip{N}.root — 2-exp NRMSE-weighted (1x1)</a:t>
            </a:r>
          </a:p>
          <a:p>
            <a:pPr lvl="1">
              <a:spcAft>
                <a:spcPts val="500"/>
              </a:spcAft>
            </a:pPr>
            <a:r>
              <a:rPr sz="1400">
                <a:solidFill>
                  <a:srgbClr val="666666"/>
                </a:solidFill>
                <a:latin typeface="Arial"/>
              </a:rPr>
              <a:t>– SNOLAB_R4_20260707_ZhihengLi_pca_zip{N}.root — NxM PCA (normalized)</a:t>
            </a:r>
          </a:p>
          <a:p>
            <a:pPr>
              <a:spcAft>
                <a:spcPts val="500"/>
              </a:spcAft>
            </a:pPr>
            <a:r>
              <a:rPr sz="1600">
                <a:solidFill>
                  <a:srgbClr val="333333"/>
                </a:solidFill>
                <a:latin typeface="Arial"/>
              </a:rPr>
              <a:t>• Every step is traceable: raw cache → per-series fit checkpoints indexed by EventNumber → self-documenting figures (11 types × 13 zips, all versioned)</a:t>
            </a:r>
          </a:p>
          <a:p>
            <a:pPr>
              <a:spcAft>
                <a:spcPts val="500"/>
              </a:spcAft>
            </a:pPr>
            <a:r>
              <a:rPr sz="1600">
                <a:solidFill>
                  <a:srgbClr val="333333"/>
                </a:solidFill>
                <a:latin typeface="Arial"/>
              </a:rPr>
              <a:t>• Cuts derived from the data, validated in raw traces: NRMSE ≤ 0.4 (bimodal valley), τ_rise ≤ 0.3 ms (drift leakage)</a:t>
            </a:r>
          </a:p>
          <a:p>
            <a:pPr>
              <a:spcAft>
                <a:spcPts val="500"/>
              </a:spcAft>
            </a:pPr>
            <a:r>
              <a:rPr sz="1600">
                <a:solidFill>
                  <a:srgbClr val="333333"/>
                </a:solidFill>
                <a:latin typeface="Arial"/>
              </a:rPr>
              <a:t>• Open items:</a:t>
            </a:r>
          </a:p>
          <a:p>
            <a:pPr lvl="1">
              <a:spcAft>
                <a:spcPts val="500"/>
              </a:spcAft>
            </a:pPr>
            <a:r>
              <a:rPr sz="1400">
                <a:solidFill>
                  <a:srgbClr val="666666"/>
                </a:solidFill>
                <a:latin typeface="Arial"/>
              </a:rPr>
              <a:t>– final decision on the τ_rise ceiling vs the genuine slow-pulse population</a:t>
            </a:r>
          </a:p>
          <a:p>
            <a:pPr lvl="1">
              <a:spcAft>
                <a:spcPts val="500"/>
              </a:spcAft>
            </a:pPr>
            <a:r>
              <a:rPr sz="1400">
                <a:solidFill>
                  <a:srgbClr val="666666"/>
                </a:solidFill>
                <a:latin typeface="Arial"/>
              </a:rPr>
              <a:t>– run the group's template-validation method on the new templates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