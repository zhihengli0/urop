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I will present the phonon pulse-template work for SNOLAB Run 4: how we selected events on the Ge-activation K-line, the fit-and-align pipeline, the quality cuts and how each was derived, and the two template families we delivered for all 13 detectors.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starts from the Ge activation data. After Cf activation every detector shows the 10.37 keV K-line. Professor Saab's study located the K-line position in the PTOFamps spectrum of each detector - that is the red line in every panel here. Our event selection is exactly one condition: a window around the red line, a factor 1.35 both ways - a rough, eyeballed choice - and nothing else. For each selected event we cache the fully unprocessed raw MIDAS traces of all channels. You can already see on the weak detectors that the window will admit part of the noise-trigger population next to the K-line - that is intentional: the cache is raw, so every later cut stays explicit and reversible.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algorithm, a quick look at the data itself. We use event-by-channel grids: each row is one event, each column one channel, with the low-passed trace in blue and a fitted pulse model in red on top. The pattern is already clear: a real K-line event fits well in every channel at once, while a noise trigger fails in every channel at once. So the events split cleanly into two kinds. How we actually fit and align each trace is the next slide, and how we turn that split into a quantitative cut comes shortly after.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per-trace algorithm. First a low-pass filter to smooth away the high-frequency noise, then the baseline is subtracted and the trace is scaled to unit peak - without that normalization the traces could not be overlaid or compared. The core is the fit: a two-exponential function, one exponential for the rise and one for the fall, with all five parameters free, including the pretrigger - the pulse start time. The pretrigger is never pinned: real trigger times vary, and the fitted pretriggers cluster about 230 samples after the nominal value - pinning it would bias the time constants. Each fit records two quality numbers: fit_ok, a physicality check - positive amplitude, rise faster than fall - and the NRMSE, the normalized root-mean-square error, the fit residual divided by the pulse height. At this stage we only record them. Step five, alignment, and its output get their own slide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five: alignment. Each measured trace is shifted by its fitted pretrigger minus the nominal 16050 - a pure translation, nothing about the waveform is regenerated. Once everything is at the common pretrigger, the fitted curves stack up. On the left, all physical fits: you can see the slow stragglers spreading off the main bundle. On the right, after the NRMSE cut, a single tight, consistent shape family remains. That tight family is what makes a well-defined template possible - and where the cut comes from is what I show next.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quality cut. The NRMSE distribution of physical fits is bimodal on every detector: a good-fit population around 0.05 to 0.1, and a noise-trigger population around 1 to 2, separated by a valley at about 0.4. We place the cut in the valley - it is read off the distribution itself. This is Z7 PBS1, the channel used throughout the talk. The weak detectors - Z22, for example - show the same bimodal picture with the noise peak dominating, and there this same cut is what digs the real pulses out of the mixture. (If someone asks what a weak detector looks like, show the backup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trusting the cut we looked at what it throws away. These are event grids of the rejected population on Z7: the raw traces show no pulse at all - they are noise triggers whose slow two-exp fit happened to converge. The fan-cut view on the right overlays the passing fitted curves in green and the rejected ones in red on the aligned data: the green population is the fast physical pulse shape, the red one is spread out with a median NRMSE forty times higher - 1.87 against 0.045 - and on this channel only three point eight percent of the events get cut. So the cut removes noise triggers, and no real pulses are lost.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lead comes from the fan plot after the cut: some curves still fall very slowly. We chased it by sampling: among events passing the cut, take fall times above one point five milliseconds, randomly sample ten, and draw raw versus fit in every channel. Two findings. First, the sampled events are real pulses - so they stay in, and we apply no fall cut. Second, their extreme fall times all trace back to one channel: only PDS2 is swinging wildly, while the same events are normal fast pulses in the other eleven channels - so the extreme tail is a one-channel low-frequency artifact, not a genuinely slow pulse.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template family: the analytic one. For each channel we take every physical fitted curve at the common pretrigger and average them with a weight of one over NRMSE squared - badly fit events count less but nothing is excluded by hand. After the cuts, shown here, a single tight shape family remains, and its weighted mean is the 1x1 template - smooth and noise-free by construction because it is built from analytic curves, delivered as peak-normalized ROOT histograms.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family: the NxM PCA templates, built to capture the pulse-shape variation across events. We run a PCA over the fitted curves that pass all cuts, in a window around the pulse. The mean shape becomes template zero, and the first four principal components become templates one to four - they oscillate and can be negative, and the optimal filter fits a real pulse as a linear combination of them. The first two components already capture 96 to 98 percent of the shape variance on every detector.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both template families are delivered for all 13 detectors in the official PulseTemplates format - the analytic 1x1 templates and the PCA NxM set. The whole chain is traceable from raw traces to every figure, and both quality cuts were read off the data and verified in the raw traces. Two things remain: the final call on the rise-time ceiling versus the genuine slow pulses, and running the group's template-validation method on the new templates. Thank you -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On the weak detectors the K-line overlaps the noise population, so the PTOF window admits a noise-dominated mixture. The NRMSE distribution is still bimodal but the noise peak dominates, and the same 0.4 cut is what extracts the real pulses - on Z22 PCS1 about forty percent of the physical fits are removed. The kept bundle is broader than on a quiet detector, and the steep red curves are fits latching onto sharp noise spikes, not fast pulses being thrown away. The rise-time ceiling then removes fifty-five to seventy-four percent of what survived the NRMSE cut on the weak zips - residual slow drift - versus one point six percent on Z7. The surviving shape family is at the bottom.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the rise-time cut. On weak-window detectors a slow baseline drift also fits as a slow rise, with a tiny residual, so NRMSE cannot catch it. Real fast pulses cluster near 0.1 ms while the drift tail stretches much further, so the PCA input gets a ceiling at 0.3 ms. Relative to the NRMSE step it removes almost nothing on quiet detectors - 1.6% on Z7, mostly the bad channel PDS2 - but 55 to 74% on the weak ones, 71% on Z22, pooled 54% over all zips. The price is that the very slowest genuine pulses get trimmed too; that trade-off is documented and not final.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showing the cut channel-by-channel on Z7. On the good channel PBS1 the fitted curves are already a tight, clean bundle, and adding the rise-time ceiling changes essentially nothing - it removes about zero percent. On the bad channel PDS2 the fan is broad and messy, which by itself shows the channel is misbehaving; there the ceiling trims the slow-rising curves, 1462 down to 1154, about twenty-one percent. So the cut is nearly free where the data is clean and does real work only where a channel is bad.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what the rise-time cut actually removes. These are exactly the Z22 events that pass the NRMSE cut - median NRMSE below 0.4 - but are removed by the rise-time ceiling, median t_rise above 0.3 ms. In other words, the noise that 0.4 let through and 0.3 catches. Look at PCS1 and PDS1: their NRMSE is low, around 0.15, because a slow two-exp hugs the trace with a tiny residual - but the raw trace is just a slow baseline drift, there is no clean fast pulse. The honest caveat is that the same cut also trims a small number of genuine slow-rise pulses, which is the documented, still-open trade-off.</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nfluence.slac.stanford.edu/spaces/CDMS/pages/716899864/Ge+Activation+Data+-+Ops+Shift+260612" TargetMode="External"/><Relationship Id="rId3" Type="http://schemas.openxmlformats.org/officeDocument/2006/relationships/image" Target="../media/image1.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103120"/>
            <a:ext cx="10515600" cy="1463040"/>
          </a:xfrm>
          <a:prstGeom prst="rect">
            <a:avLst/>
          </a:prstGeom>
          <a:noFill/>
        </p:spPr>
        <p:txBody>
          <a:bodyPr wrap="square">
            <a:spAutoFit/>
          </a:bodyPr>
          <a:lstStyle/>
          <a:p>
            <a:r>
              <a:rPr sz="3600" b="1">
                <a:solidFill>
                  <a:srgbClr val="1F3864"/>
                </a:solidFill>
                <a:latin typeface="Arial"/>
              </a:rPr>
              <a:t>NxM Templates for SuperCDMS SNOLAB Run 4 — Ge Activation Data</a:t>
            </a:r>
          </a:p>
        </p:txBody>
      </p:sp>
      <p:sp>
        <p:nvSpPr>
          <p:cNvPr id="3" name="TextBox 2"/>
          <p:cNvSpPr txBox="1"/>
          <p:nvPr/>
        </p:nvSpPr>
        <p:spPr>
          <a:xfrm>
            <a:off x="822960" y="3383280"/>
            <a:ext cx="10515600" cy="822960"/>
          </a:xfrm>
          <a:prstGeom prst="rect">
            <a:avLst/>
          </a:prstGeom>
          <a:noFill/>
        </p:spPr>
        <p:txBody>
          <a:bodyPr wrap="square">
            <a:spAutoFit/>
          </a:bodyPr>
          <a:lstStyle/>
          <a:p>
            <a:r>
              <a:rPr sz="1800">
                <a:solidFill>
                  <a:srgbClr val="666666"/>
                </a:solidFill>
                <a:latin typeface="Arial"/>
              </a:rPr>
              <a:t>K-line event selection  ·  free-pretrigger two-exponential fits  ·  1x1 and NxM (PCA) templates</a:t>
            </a:r>
          </a:p>
        </p:txBody>
      </p:sp>
      <p:sp>
        <p:nvSpPr>
          <p:cNvPr id="4" name="TextBox 3"/>
          <p:cNvSpPr txBox="1"/>
          <p:nvPr/>
        </p:nvSpPr>
        <p:spPr>
          <a:xfrm>
            <a:off x="822960" y="5120640"/>
            <a:ext cx="10515600" cy="731520"/>
          </a:xfrm>
          <a:prstGeom prst="rect">
            <a:avLst/>
          </a:prstGeom>
          <a:noFill/>
        </p:spPr>
        <p:txBody>
          <a:bodyPr wrap="square">
            <a:spAutoFit/>
          </a:bodyPr>
          <a:lstStyle/>
          <a:p>
            <a:r>
              <a:rPr sz="1600">
                <a:solidFill>
                  <a:srgbClr val="333333"/>
                </a:solidFill>
                <a:latin typeface="Arial"/>
              </a:rPr>
              <a:t>Zhiheng Li  —  July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From the Ge-activation K-line to an event sample</a:t>
            </a:r>
          </a:p>
          <a:p>
            <a:r>
              <a:rPr sz="1400">
                <a:solidFill>
                  <a:srgbClr val="666666"/>
                </a:solidFill>
                <a:latin typeface="Arial"/>
              </a:rPr>
              <a:t>Goal: one clean, minimally-biased pulse population per detector × channel</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1078992"/>
            <a:ext cx="11247120" cy="1325880"/>
          </a:xfrm>
          <a:prstGeom prst="rect">
            <a:avLst/>
          </a:prstGeom>
          <a:noFill/>
        </p:spPr>
        <p:txBody>
          <a:bodyPr wrap="square">
            <a:spAutoFit/>
          </a:bodyPr>
          <a:lstStyle/>
          <a:p>
            <a:pPr>
              <a:spcAft>
                <a:spcPts val="500"/>
              </a:spcAft>
            </a:pPr>
            <a:r>
              <a:rPr sz="1400">
                <a:solidFill>
                  <a:srgbClr val="333333"/>
                </a:solidFill>
                <a:latin typeface="Arial"/>
              </a:rPr>
              <a:t>• Per detector, Prof. Saab's study marked the 10.37 keV K-line position in PTOFamps — the red line in each panel below</a:t>
            </a:r>
          </a:p>
          <a:p>
            <a:pPr>
              <a:spcAft>
                <a:spcPts val="500"/>
              </a:spcAft>
            </a:pPr>
            <a:r>
              <a:rPr sz="1400">
                <a:solidFill>
                  <a:srgbClr val="333333"/>
                </a:solidFill>
                <a:latin typeface="Arial"/>
              </a:rPr>
              <a:t>• Our event selection: a PTOFamps window bracketing the red line — position ×/÷ 1.35, a rough, somewhat arbitrary eyeballed choice; deliberately minimal, no other cuts</a:t>
            </a:r>
          </a:p>
          <a:p>
            <a:pPr>
              <a:spcAft>
                <a:spcPts val="500"/>
              </a:spcAft>
            </a:pPr>
            <a:r>
              <a:rPr sz="1400">
                <a:solidFill>
                  <a:srgbClr val="333333"/>
                </a:solidFill>
                <a:latin typeface="Arial"/>
              </a:rPr>
              <a:t>• For every selected event: cache the fully unprocessed raw MIDAS traces of all channels + event metadata</a:t>
            </a:r>
          </a:p>
          <a:p>
            <a:pPr>
              <a:spcAft>
                <a:spcPts val="500"/>
              </a:spcAft>
            </a:pPr>
            <a:r>
              <a:rPr sz="1400">
                <a:solidFill>
                  <a:srgbClr val="333333"/>
                </a:solidFill>
                <a:latin typeface="Arial"/>
              </a:rPr>
              <a:t>• 13 detectors (zips) × 27–30 series → ~120 GB raw cache</a:t>
            </a:r>
          </a:p>
        </p:txBody>
      </p:sp>
      <p:sp>
        <p:nvSpPr>
          <p:cNvPr id="5" name="TextBox 4"/>
          <p:cNvSpPr txBox="1"/>
          <p:nvPr/>
        </p:nvSpPr>
        <p:spPr>
          <a:xfrm>
            <a:off x="8549640" y="274320"/>
            <a:ext cx="3200400" cy="658368"/>
          </a:xfrm>
          <a:prstGeom prst="rect">
            <a:avLst/>
          </a:prstGeom>
          <a:noFill/>
        </p:spPr>
        <p:txBody>
          <a:bodyPr wrap="square">
            <a:spAutoFit/>
          </a:bodyPr>
          <a:lstStyle/>
          <a:p>
            <a:pPr algn="r"/>
            <a:r>
              <a:rPr sz="1000">
                <a:solidFill>
                  <a:srgbClr val="666666"/>
                </a:solidFill>
                <a:latin typeface="Arial"/>
              </a:rPr>
              <a:t>Data: Ge Activation Data — Ops Shift 260612</a:t>
            </a:r>
          </a:p>
          <a:p>
            <a:pPr algn="r"/>
            <a:r>
              <a:rPr sz="1000">
                <a:solidFill>
                  <a:srgbClr val="666666"/>
                </a:solidFill>
                <a:latin typeface="Arial"/>
                <a:hlinkClick r:id="rId2"/>
              </a:rPr>
              <a:t>Credit: Prof. Tarek Saab  ·  SuperCDMS Confluence</a:t>
            </a:r>
          </a:p>
        </p:txBody>
      </p:sp>
      <p:pic>
        <p:nvPicPr>
          <p:cNvPr id="6" name="Picture 5" descr="kline_all_zips.png"/>
          <p:cNvPicPr>
            <a:picLocks noChangeAspect="1"/>
          </p:cNvPicPr>
          <p:nvPr/>
        </p:nvPicPr>
        <p:blipFill>
          <a:blip r:embed="rId3"/>
          <a:stretch>
            <a:fillRect/>
          </a:stretch>
        </p:blipFill>
        <p:spPr>
          <a:xfrm>
            <a:off x="1059892" y="2487168"/>
            <a:ext cx="10078312" cy="3977639"/>
          </a:xfrm>
          <a:prstGeom prst="rect">
            <a:avLst/>
          </a:prstGeom>
        </p:spPr>
      </p:pic>
      <p:sp>
        <p:nvSpPr>
          <p:cNvPr id="7" name="TextBox 6"/>
          <p:cNvSpPr txBox="1"/>
          <p:nvPr/>
        </p:nvSpPr>
        <p:spPr>
          <a:xfrm>
            <a:off x="384048" y="6494807"/>
            <a:ext cx="11430000" cy="274320"/>
          </a:xfrm>
          <a:prstGeom prst="rect">
            <a:avLst/>
          </a:prstGeom>
          <a:noFill/>
        </p:spPr>
        <p:txBody>
          <a:bodyPr wrap="square">
            <a:spAutoFit/>
          </a:bodyPr>
          <a:lstStyle/>
          <a:p>
            <a:pPr algn="ctr"/>
            <a:r>
              <a:rPr sz="1100" i="1">
                <a:solidFill>
                  <a:srgbClr val="666666"/>
                </a:solidFill>
                <a:latin typeface="Arial"/>
              </a:rPr>
              <a:t>All 13 detectors, PTOFamps spectra (Prof. Saab's study)</a:t>
            </a:r>
          </a:p>
        </p:txBody>
      </p:sp>
      <p:sp>
        <p:nvSpPr>
          <p:cNvPr id="8" name="TextBox 7"/>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2 / 15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Fit quality at a glance — event × channel grids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188720"/>
          </a:xfrm>
          <a:prstGeom prst="rect">
            <a:avLst/>
          </a:prstGeom>
          <a:noFill/>
        </p:spPr>
        <p:txBody>
          <a:bodyPr wrap="square">
            <a:spAutoFit/>
          </a:bodyPr>
          <a:lstStyle/>
          <a:p>
            <a:pPr>
              <a:spcAft>
                <a:spcPts val="500"/>
              </a:spcAft>
            </a:pPr>
            <a:r>
              <a:rPr sz="1400">
                <a:solidFill>
                  <a:srgbClr val="333333"/>
                </a:solidFill>
                <a:latin typeface="Arial"/>
              </a:rPr>
              <a:t>• One row per event, one column per channel: the low-passed trace (blue) with the fitted pulse model (red) overlaid</a:t>
            </a:r>
          </a:p>
          <a:p>
            <a:pPr>
              <a:spcAft>
                <a:spcPts val="500"/>
              </a:spcAft>
            </a:pPr>
            <a:r>
              <a:rPr sz="1400">
                <a:solidFill>
                  <a:srgbClr val="333333"/>
                </a:solidFill>
                <a:latin typeface="Arial"/>
              </a:rPr>
              <a:t>• A real event fits well in every channel at once; a noise trigger fails in every channel — a clean handle on which events are real</a:t>
            </a:r>
          </a:p>
        </p:txBody>
      </p:sp>
      <p:pic>
        <p:nvPicPr>
          <p:cNvPr id="5" name="Picture 4" descr="fit_examples_zip7_noise.png"/>
          <p:cNvPicPr>
            <a:picLocks noChangeAspect="1"/>
          </p:cNvPicPr>
          <p:nvPr/>
        </p:nvPicPr>
        <p:blipFill>
          <a:blip r:embed="rId2"/>
          <a:stretch>
            <a:fillRect/>
          </a:stretch>
        </p:blipFill>
        <p:spPr>
          <a:xfrm>
            <a:off x="182880" y="2514600"/>
            <a:ext cx="5989320" cy="2781247"/>
          </a:xfrm>
          <a:prstGeom prst="rect">
            <a:avLst/>
          </a:prstGeom>
        </p:spPr>
      </p:pic>
      <p:sp>
        <p:nvSpPr>
          <p:cNvPr id="6" name="TextBox 5"/>
          <p:cNvSpPr txBox="1"/>
          <p:nvPr/>
        </p:nvSpPr>
        <p:spPr>
          <a:xfrm>
            <a:off x="182880" y="5325847"/>
            <a:ext cx="5989320" cy="274320"/>
          </a:xfrm>
          <a:prstGeom prst="rect">
            <a:avLst/>
          </a:prstGeom>
          <a:noFill/>
        </p:spPr>
        <p:txBody>
          <a:bodyPr wrap="square">
            <a:spAutoFit/>
          </a:bodyPr>
          <a:lstStyle/>
          <a:p>
            <a:pPr algn="ctr"/>
            <a:r>
              <a:rPr sz="1100" i="1">
                <a:solidFill>
                  <a:srgbClr val="666666"/>
                </a:solidFill>
                <a:latin typeface="Arial"/>
              </a:rPr>
              <a:t>Noise triggers (Z7): the fit fails in every channel at once</a:t>
            </a:r>
          </a:p>
        </p:txBody>
      </p:sp>
      <p:pic>
        <p:nvPicPr>
          <p:cNvPr id="7" name="Picture 6" descr="fit_examples_zip7_good.png"/>
          <p:cNvPicPr>
            <a:picLocks noChangeAspect="1"/>
          </p:cNvPicPr>
          <p:nvPr/>
        </p:nvPicPr>
        <p:blipFill>
          <a:blip r:embed="rId3"/>
          <a:stretch>
            <a:fillRect/>
          </a:stretch>
        </p:blipFill>
        <p:spPr>
          <a:xfrm>
            <a:off x="6035040" y="2514600"/>
            <a:ext cx="5989320" cy="2677983"/>
          </a:xfrm>
          <a:prstGeom prst="rect">
            <a:avLst/>
          </a:prstGeom>
        </p:spPr>
      </p:pic>
      <p:sp>
        <p:nvSpPr>
          <p:cNvPr id="8" name="TextBox 7"/>
          <p:cNvSpPr txBox="1"/>
          <p:nvPr/>
        </p:nvSpPr>
        <p:spPr>
          <a:xfrm>
            <a:off x="6035040" y="5222583"/>
            <a:ext cx="5989320" cy="274320"/>
          </a:xfrm>
          <a:prstGeom prst="rect">
            <a:avLst/>
          </a:prstGeom>
          <a:noFill/>
        </p:spPr>
        <p:txBody>
          <a:bodyPr wrap="square">
            <a:spAutoFit/>
          </a:bodyPr>
          <a:lstStyle/>
          <a:p>
            <a:pPr algn="ctr"/>
            <a:r>
              <a:rPr sz="1100" i="1">
                <a:solidFill>
                  <a:srgbClr val="666666"/>
                </a:solidFill>
                <a:latin typeface="Arial"/>
              </a:rPr>
              <a:t>K-line events (Z7): consistent good fits across channels</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3 / 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Per-trace algorithm: low-pass → fit → align</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234440"/>
          </a:xfrm>
          <a:prstGeom prst="rect">
            <a:avLst/>
          </a:prstGeom>
          <a:noFill/>
        </p:spPr>
        <p:txBody>
          <a:bodyPr wrap="square">
            <a:spAutoFit/>
          </a:bodyPr>
          <a:lstStyle/>
          <a:p>
            <a:pPr>
              <a:spcAft>
                <a:spcPts val="600"/>
              </a:spcAft>
            </a:pPr>
            <a:r>
              <a:rPr sz="1600" b="1">
                <a:solidFill>
                  <a:srgbClr val="1F3864"/>
                </a:solidFill>
                <a:latin typeface="Arial"/>
              </a:rPr>
              <a:t>1.  Low-pass</a:t>
            </a:r>
            <a:r>
              <a:rPr sz="1600">
                <a:solidFill>
                  <a:srgbClr val="333333"/>
                </a:solidFill>
                <a:latin typeface="Arial"/>
              </a:rPr>
              <a:t> — 100 kHz 4th-order Butterworth</a:t>
            </a:r>
          </a:p>
          <a:p>
            <a:pPr>
              <a:spcAft>
                <a:spcPts val="600"/>
              </a:spcAft>
            </a:pPr>
            <a:r>
              <a:rPr sz="1600" b="1">
                <a:solidFill>
                  <a:srgbClr val="1F3864"/>
                </a:solidFill>
                <a:latin typeface="Arial"/>
              </a:rPr>
              <a:t>2.  Normalize</a:t>
            </a:r>
            <a:r>
              <a:rPr sz="1600">
                <a:solidFill>
                  <a:srgbClr val="333333"/>
                </a:solidFill>
                <a:latin typeface="Arial"/>
              </a:rPr>
              <a:t> — subtract the baseline, scale the trace to unit peak</a:t>
            </a:r>
          </a:p>
          <a:p>
            <a:pPr>
              <a:spcAft>
                <a:spcPts val="600"/>
              </a:spcAft>
            </a:pPr>
            <a:r>
              <a:rPr sz="1600" b="1">
                <a:solidFill>
                  <a:srgbClr val="1F3864"/>
                </a:solidFill>
                <a:latin typeface="Arial"/>
              </a:rPr>
              <a:t>3.  Fit</a:t>
            </a:r>
            <a:r>
              <a:rPr sz="1600">
                <a:solidFill>
                  <a:srgbClr val="333333"/>
                </a:solidFill>
                <a:latin typeface="Arial"/>
              </a:rPr>
              <a:t> — two-exponential model, all 5 parameters free (including the pretrigger t₀):</a:t>
            </a:r>
          </a:p>
        </p:txBody>
      </p:sp>
      <p:pic>
        <p:nvPicPr>
          <p:cNvPr id="5" name="Picture 4" descr="formula_2exp.png"/>
          <p:cNvPicPr>
            <a:picLocks noChangeAspect="1"/>
          </p:cNvPicPr>
          <p:nvPr/>
        </p:nvPicPr>
        <p:blipFill>
          <a:blip r:embed="rId2"/>
          <a:stretch>
            <a:fillRect/>
          </a:stretch>
        </p:blipFill>
        <p:spPr>
          <a:xfrm>
            <a:off x="3114415" y="2395728"/>
            <a:ext cx="5932689" cy="868680"/>
          </a:xfrm>
          <a:prstGeom prst="rect">
            <a:avLst/>
          </a:prstGeom>
        </p:spPr>
      </p:pic>
      <p:sp>
        <p:nvSpPr>
          <p:cNvPr id="6" name="TextBox 5"/>
          <p:cNvSpPr txBox="1"/>
          <p:nvPr/>
        </p:nvSpPr>
        <p:spPr>
          <a:xfrm>
            <a:off x="502920" y="3337560"/>
            <a:ext cx="11247120" cy="1371600"/>
          </a:xfrm>
          <a:prstGeom prst="rect">
            <a:avLst/>
          </a:prstGeom>
          <a:noFill/>
        </p:spPr>
        <p:txBody>
          <a:bodyPr wrap="square">
            <a:spAutoFit/>
          </a:bodyPr>
          <a:lstStyle/>
          <a:p>
            <a:pPr>
              <a:spcAft>
                <a:spcPts val="600"/>
              </a:spcAft>
            </a:pPr>
            <a:r>
              <a:rPr sz="1600" b="1">
                <a:solidFill>
                  <a:srgbClr val="1F3864"/>
                </a:solidFill>
                <a:latin typeface="Arial"/>
              </a:rPr>
              <a:t>4.  Two quality numbers per trace</a:t>
            </a:r>
            <a:r>
              <a:rPr sz="1600">
                <a:solidFill>
                  <a:srgbClr val="333333"/>
                </a:solidFill>
                <a:latin typeface="Arial"/>
              </a:rPr>
              <a:t> (recorded here, not cut yet):</a:t>
            </a:r>
          </a:p>
        </p:txBody>
      </p:sp>
      <p:sp>
        <p:nvSpPr>
          <p:cNvPr id="7" name="TextBox 6"/>
          <p:cNvSpPr txBox="1"/>
          <p:nvPr/>
        </p:nvSpPr>
        <p:spPr>
          <a:xfrm>
            <a:off x="1051560" y="3675887"/>
            <a:ext cx="10607040" cy="822960"/>
          </a:xfrm>
          <a:prstGeom prst="rect">
            <a:avLst/>
          </a:prstGeom>
          <a:noFill/>
        </p:spPr>
        <p:txBody>
          <a:bodyPr wrap="square">
            <a:spAutoFit/>
          </a:bodyPr>
          <a:lstStyle/>
          <a:p>
            <a:pPr>
              <a:spcAft>
                <a:spcPts val="400"/>
              </a:spcAft>
            </a:pPr>
            <a:r>
              <a:rPr sz="1500" b="1">
                <a:solidFill>
                  <a:srgbClr val="333333"/>
                </a:solidFill>
                <a:latin typeface="Arial"/>
              </a:rPr>
              <a:t>•  fit_ok</a:t>
            </a:r>
            <a:r>
              <a:rPr sz="1500">
                <a:solidFill>
                  <a:srgbClr val="333333"/>
                </a:solidFill>
                <a:latin typeface="Arial"/>
              </a:rPr>
              <a:t> — amplitude is positive, and the pulse rises faster than it falls</a:t>
            </a:r>
          </a:p>
          <a:p>
            <a:pPr>
              <a:spcAft>
                <a:spcPts val="400"/>
              </a:spcAft>
            </a:pPr>
            <a:r>
              <a:rPr sz="1500" b="1">
                <a:solidFill>
                  <a:srgbClr val="333333"/>
                </a:solidFill>
                <a:latin typeface="Arial"/>
              </a:rPr>
              <a:t>•  NRMSE</a:t>
            </a:r>
            <a:r>
              <a:rPr sz="1500">
                <a:solidFill>
                  <a:srgbClr val="333333"/>
                </a:solidFill>
                <a:latin typeface="Arial"/>
              </a:rPr>
              <a:t> — RMS of the fit residual ÷ pulse peak  (smaller = better fit)</a:t>
            </a:r>
          </a:p>
        </p:txBody>
      </p:sp>
      <p:sp>
        <p:nvSpPr>
          <p:cNvPr id="8" name="TextBox 7"/>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4 / 15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5. Align — shift each trace to a common pretrigger</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868680"/>
          </a:xfrm>
          <a:prstGeom prst="rect">
            <a:avLst/>
          </a:prstGeom>
          <a:noFill/>
        </p:spPr>
        <p:txBody>
          <a:bodyPr wrap="square">
            <a:spAutoFit/>
          </a:bodyPr>
          <a:lstStyle/>
          <a:p>
            <a:pPr>
              <a:spcAft>
                <a:spcPts val="500"/>
              </a:spcAft>
            </a:pPr>
            <a:r>
              <a:rPr sz="1600">
                <a:solidFill>
                  <a:srgbClr val="333333"/>
                </a:solidFill>
                <a:latin typeface="Arial"/>
              </a:rPr>
              <a:t>• Shift the measured trace by (fitted pretrigger − 16050) — a pure translation. Drawn at the common pretrigger, the fitted curves stack into one shape family:</a:t>
            </a:r>
          </a:p>
        </p:txBody>
      </p:sp>
      <p:pic>
        <p:nvPicPr>
          <p:cNvPr id="5" name="Picture 4" descr="fan_zip7_PBS1_before_zoom.png"/>
          <p:cNvPicPr>
            <a:picLocks noChangeAspect="1"/>
          </p:cNvPicPr>
          <p:nvPr/>
        </p:nvPicPr>
        <p:blipFill>
          <a:blip r:embed="rId2"/>
          <a:stretch>
            <a:fillRect/>
          </a:stretch>
        </p:blipFill>
        <p:spPr>
          <a:xfrm>
            <a:off x="502920" y="2331720"/>
            <a:ext cx="5806440" cy="3463126"/>
          </a:xfrm>
          <a:prstGeom prst="rect">
            <a:avLst/>
          </a:prstGeom>
        </p:spPr>
      </p:pic>
      <p:sp>
        <p:nvSpPr>
          <p:cNvPr id="6" name="TextBox 5"/>
          <p:cNvSpPr txBox="1"/>
          <p:nvPr/>
        </p:nvSpPr>
        <p:spPr>
          <a:xfrm>
            <a:off x="502920" y="5824846"/>
            <a:ext cx="5806440" cy="274320"/>
          </a:xfrm>
          <a:prstGeom prst="rect">
            <a:avLst/>
          </a:prstGeom>
          <a:noFill/>
        </p:spPr>
        <p:txBody>
          <a:bodyPr wrap="square">
            <a:spAutoFit/>
          </a:bodyPr>
          <a:lstStyle/>
          <a:p>
            <a:pPr algn="ctr"/>
            <a:r>
              <a:rPr sz="1100" i="1">
                <a:solidFill>
                  <a:srgbClr val="666666"/>
                </a:solidFill>
                <a:latin typeface="Arial"/>
              </a:rPr>
              <a:t>All fit_ok fitted curves (Z7 PBS1) — no cut</a:t>
            </a:r>
          </a:p>
        </p:txBody>
      </p:sp>
      <p:pic>
        <p:nvPicPr>
          <p:cNvPr id="7" name="Picture 6" descr="fan_zip7_PBS1_nrmse_zoom.png"/>
          <p:cNvPicPr>
            <a:picLocks noChangeAspect="1"/>
          </p:cNvPicPr>
          <p:nvPr/>
        </p:nvPicPr>
        <p:blipFill>
          <a:blip r:embed="rId3"/>
          <a:stretch>
            <a:fillRect/>
          </a:stretch>
        </p:blipFill>
        <p:spPr>
          <a:xfrm>
            <a:off x="6309360" y="2331720"/>
            <a:ext cx="5806440" cy="3463126"/>
          </a:xfrm>
          <a:prstGeom prst="rect">
            <a:avLst/>
          </a:prstGeom>
        </p:spPr>
      </p:pic>
      <p:sp>
        <p:nvSpPr>
          <p:cNvPr id="8" name="TextBox 7"/>
          <p:cNvSpPr txBox="1"/>
          <p:nvPr/>
        </p:nvSpPr>
        <p:spPr>
          <a:xfrm>
            <a:off x="6309360" y="5824846"/>
            <a:ext cx="5806440" cy="274320"/>
          </a:xfrm>
          <a:prstGeom prst="rect">
            <a:avLst/>
          </a:prstGeom>
          <a:noFill/>
        </p:spPr>
        <p:txBody>
          <a:bodyPr wrap="square">
            <a:spAutoFit/>
          </a:bodyPr>
          <a:lstStyle/>
          <a:p>
            <a:pPr algn="ctr"/>
            <a:r>
              <a:rPr sz="1100" i="1">
                <a:solidFill>
                  <a:srgbClr val="666666"/>
                </a:solidFill>
                <a:latin typeface="Arial"/>
              </a:rPr>
              <a:t>After NRMSE ≤ 0.4 (Z7 PBS1) — one tight shape family</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5 /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Quality cut 1: NRMSE ≤ 0.4 — where the number comes from</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NRMSE of fit_ok events is bimodal: good fits (median ≈ 0.05–0.1) vs noise triggers (≈ 1–2), valley at ≈ 0.4–0.5</a:t>
            </a:r>
          </a:p>
          <a:p>
            <a:pPr>
              <a:spcAft>
                <a:spcPts val="500"/>
              </a:spcAft>
            </a:pPr>
            <a:r>
              <a:rPr sz="1400">
                <a:solidFill>
                  <a:srgbClr val="333333"/>
                </a:solidFill>
                <a:latin typeface="Arial"/>
              </a:rPr>
              <a:t>• The cut sits in the valley — it is read off the distribution, not tuned on the templates</a:t>
            </a:r>
          </a:p>
          <a:p>
            <a:pPr>
              <a:spcAft>
                <a:spcPts val="500"/>
              </a:spcAft>
            </a:pPr>
            <a:r>
              <a:rPr sz="1400">
                <a:solidFill>
                  <a:srgbClr val="333333"/>
                </a:solidFill>
                <a:latin typeface="Arial"/>
              </a:rPr>
              <a:t>• Weak detectors (Z1, Z4, Z6, Z18, Z19, Z22, Z24): same bimodal picture, noise peak dominates</a:t>
            </a:r>
          </a:p>
        </p:txBody>
      </p:sp>
      <p:pic>
        <p:nvPicPr>
          <p:cNvPr id="5" name="Picture 4" descr="nrmse_zip7_PBS1.png"/>
          <p:cNvPicPr>
            <a:picLocks noChangeAspect="1"/>
          </p:cNvPicPr>
          <p:nvPr/>
        </p:nvPicPr>
        <p:blipFill>
          <a:blip r:embed="rId2"/>
          <a:stretch>
            <a:fillRect/>
          </a:stretch>
        </p:blipFill>
        <p:spPr>
          <a:xfrm>
            <a:off x="1280160" y="2834640"/>
            <a:ext cx="9601200" cy="2189394"/>
          </a:xfrm>
          <a:prstGeom prst="rect">
            <a:avLst/>
          </a:prstGeom>
        </p:spPr>
      </p:pic>
      <p:sp>
        <p:nvSpPr>
          <p:cNvPr id="6" name="TextBox 5"/>
          <p:cNvSpPr txBox="1"/>
          <p:nvPr/>
        </p:nvSpPr>
        <p:spPr>
          <a:xfrm>
            <a:off x="1280160" y="5054034"/>
            <a:ext cx="9601200" cy="274320"/>
          </a:xfrm>
          <a:prstGeom prst="rect">
            <a:avLst/>
          </a:prstGeom>
          <a:noFill/>
        </p:spPr>
        <p:txBody>
          <a:bodyPr wrap="square">
            <a:spAutoFit/>
          </a:bodyPr>
          <a:lstStyle/>
          <a:p>
            <a:pPr algn="ctr"/>
            <a:r>
              <a:rPr sz="1100" i="1">
                <a:solidFill>
                  <a:srgbClr val="666666"/>
                </a:solidFill>
                <a:latin typeface="Arial"/>
              </a:rPr>
              <a:t>Z7 PBS1: two clean populations, log-log axes</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6 /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The rejected population is noise — verified in the raw traces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914400"/>
          </a:xfrm>
          <a:prstGeom prst="rect">
            <a:avLst/>
          </a:prstGeom>
          <a:noFill/>
        </p:spPr>
        <p:txBody>
          <a:bodyPr wrap="square">
            <a:spAutoFit/>
          </a:bodyPr>
          <a:lstStyle/>
          <a:p>
            <a:pPr>
              <a:spcAft>
                <a:spcPts val="500"/>
              </a:spcAft>
            </a:pPr>
            <a:r>
              <a:rPr sz="1400">
                <a:solidFill>
                  <a:srgbClr val="333333"/>
                </a:solidFill>
                <a:latin typeface="Arial"/>
              </a:rPr>
              <a:t>• Event grids of NRMSE-rejected events (median NRMSE &gt; 0.4 across channels): the raw traces show no pulse — the cut removes noise triggers, not physics</a:t>
            </a:r>
          </a:p>
        </p:txBody>
      </p:sp>
      <p:pic>
        <p:nvPicPr>
          <p:cNvPr id="5" name="Picture 4" descr="slow_rise_zip7_crop.png"/>
          <p:cNvPicPr>
            <a:picLocks noChangeAspect="1"/>
          </p:cNvPicPr>
          <p:nvPr/>
        </p:nvPicPr>
        <p:blipFill>
          <a:blip r:embed="rId2"/>
          <a:stretch>
            <a:fillRect/>
          </a:stretch>
        </p:blipFill>
        <p:spPr>
          <a:xfrm>
            <a:off x="365760" y="2468880"/>
            <a:ext cx="5394960" cy="3720662"/>
          </a:xfrm>
          <a:prstGeom prst="rect">
            <a:avLst/>
          </a:prstGeom>
        </p:spPr>
      </p:pic>
      <p:sp>
        <p:nvSpPr>
          <p:cNvPr id="6" name="TextBox 5"/>
          <p:cNvSpPr txBox="1"/>
          <p:nvPr/>
        </p:nvSpPr>
        <p:spPr>
          <a:xfrm>
            <a:off x="365760" y="6219542"/>
            <a:ext cx="5394960" cy="274320"/>
          </a:xfrm>
          <a:prstGeom prst="rect">
            <a:avLst/>
          </a:prstGeom>
          <a:noFill/>
        </p:spPr>
        <p:txBody>
          <a:bodyPr wrap="square">
            <a:spAutoFit/>
          </a:bodyPr>
          <a:lstStyle/>
          <a:p>
            <a:pPr algn="ctr"/>
            <a:r>
              <a:rPr sz="1100" i="1">
                <a:solidFill>
                  <a:srgbClr val="666666"/>
                </a:solidFill>
                <a:latin typeface="Arial"/>
              </a:rPr>
              <a:t>Z7: NRMSE-rejected events — raw traces are noise</a:t>
            </a:r>
          </a:p>
        </p:txBody>
      </p:sp>
      <p:pic>
        <p:nvPicPr>
          <p:cNvPr id="7" name="Picture 6" descr="fan_cut_zip7_PBS1.png"/>
          <p:cNvPicPr>
            <a:picLocks noChangeAspect="1"/>
          </p:cNvPicPr>
          <p:nvPr/>
        </p:nvPicPr>
        <p:blipFill>
          <a:blip r:embed="rId3"/>
          <a:stretch>
            <a:fillRect/>
          </a:stretch>
        </p:blipFill>
        <p:spPr>
          <a:xfrm>
            <a:off x="5943600" y="2240280"/>
            <a:ext cx="6263640" cy="3429000"/>
          </a:xfrm>
          <a:prstGeom prst="rect">
            <a:avLst/>
          </a:prstGeom>
        </p:spPr>
      </p:pic>
      <p:sp>
        <p:nvSpPr>
          <p:cNvPr id="8" name="TextBox 7"/>
          <p:cNvSpPr txBox="1"/>
          <p:nvPr/>
        </p:nvSpPr>
        <p:spPr>
          <a:xfrm>
            <a:off x="6035040" y="5806440"/>
            <a:ext cx="6126480" cy="960120"/>
          </a:xfrm>
          <a:prstGeom prst="rect">
            <a:avLst/>
          </a:prstGeom>
          <a:noFill/>
        </p:spPr>
        <p:txBody>
          <a:bodyPr wrap="square">
            <a:spAutoFit/>
          </a:bodyPr>
          <a:lstStyle/>
          <a:p>
            <a:r>
              <a:rPr sz="1400" b="1">
                <a:solidFill>
                  <a:srgbClr val="333333"/>
                </a:solidFill>
                <a:latin typeface="Arial"/>
              </a:rPr>
              <a:t>Z7 PBS1   </a:t>
            </a:r>
            <a:r>
              <a:rPr sz="1400" b="1">
                <a:solidFill>
                  <a:srgbClr val="2E7D32"/>
                </a:solidFill>
                <a:latin typeface="Arial"/>
              </a:rPr>
              <a:t>── passes the cut (kept)</a:t>
            </a:r>
            <a:r>
              <a:rPr sz="1400" b="1">
                <a:solidFill>
                  <a:srgbClr val="C0392B"/>
                </a:solidFill>
                <a:latin typeface="Arial"/>
              </a:rPr>
              <a:t>      ── cut away = rejected</a:t>
            </a:r>
          </a:p>
          <a:p>
            <a:r>
              <a:rPr sz="1400" b="0">
                <a:solidFill>
                  <a:srgbClr val="4A70B0"/>
                </a:solidFill>
                <a:latin typeface="Arial"/>
              </a:rPr>
              <a:t>faint blue = measured traces</a:t>
            </a:r>
            <a:r>
              <a:rPr sz="1400" b="0">
                <a:solidFill>
                  <a:srgbClr val="333333"/>
                </a:solidFill>
                <a:latin typeface="Arial"/>
              </a:rPr>
              <a:t>      1931 kept / 77 cut (~3.8%)</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7 /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Follow-up 1 — the slow-fall tail is a one-channel artifact</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The post-cut fan still shows slow-fall tails → sample them: NRMSE ≤ 0.4 AND τ_fall &gt; 1.5 ms, 10 random events, raw vs fit drawn in all 12 channels</a:t>
            </a:r>
          </a:p>
          <a:p>
            <a:pPr>
              <a:spcAft>
                <a:spcPts val="500"/>
              </a:spcAft>
            </a:pPr>
            <a:r>
              <a:rPr sz="1400">
                <a:solidFill>
                  <a:srgbClr val="333333"/>
                </a:solidFill>
                <a:latin typeface="Arial"/>
              </a:rPr>
              <a:t>• The sampled events are real pulses → kept. Their extreme fall times trace to one channel: only PDS2 swings (τ_fall median 0.51 ms vs ≈ 0.25 ms elsewhere) — a low-frequency disturbance</a:t>
            </a:r>
          </a:p>
          <a:p>
            <a:pPr>
              <a:spcAft>
                <a:spcPts val="500"/>
              </a:spcAft>
            </a:pPr>
            <a:r>
              <a:rPr sz="1400">
                <a:solidFill>
                  <a:srgbClr val="333333"/>
                </a:solidFill>
                <a:latin typeface="Arial"/>
              </a:rPr>
              <a:t>• Conclusion: no τ_fall cut — slow-fall events passing NRMSE stay in; the extreme tail is a one-channel artifact, not a slow pulse</a:t>
            </a:r>
          </a:p>
        </p:txBody>
      </p:sp>
      <p:pic>
        <p:nvPicPr>
          <p:cNvPr id="5" name="Picture 4" descr="slow_fall_zip7_crop.png"/>
          <p:cNvPicPr>
            <a:picLocks noChangeAspect="1"/>
          </p:cNvPicPr>
          <p:nvPr/>
        </p:nvPicPr>
        <p:blipFill>
          <a:blip r:embed="rId2"/>
          <a:stretch>
            <a:fillRect/>
          </a:stretch>
        </p:blipFill>
        <p:spPr>
          <a:xfrm>
            <a:off x="274320" y="2697480"/>
            <a:ext cx="6126480" cy="3149961"/>
          </a:xfrm>
          <a:prstGeom prst="rect">
            <a:avLst/>
          </a:prstGeom>
        </p:spPr>
      </p:pic>
      <p:sp>
        <p:nvSpPr>
          <p:cNvPr id="6" name="TextBox 5"/>
          <p:cNvSpPr txBox="1"/>
          <p:nvPr/>
        </p:nvSpPr>
        <p:spPr>
          <a:xfrm>
            <a:off x="274320" y="5877441"/>
            <a:ext cx="6126480" cy="274320"/>
          </a:xfrm>
          <a:prstGeom prst="rect">
            <a:avLst/>
          </a:prstGeom>
          <a:noFill/>
        </p:spPr>
        <p:txBody>
          <a:bodyPr wrap="square">
            <a:spAutoFit/>
          </a:bodyPr>
          <a:lstStyle/>
          <a:p>
            <a:pPr algn="ctr"/>
            <a:r>
              <a:rPr sz="1100" i="1">
                <a:solidFill>
                  <a:srgbClr val="666666"/>
                </a:solidFill>
                <a:latin typeface="Arial"/>
              </a:rPr>
              <a:t>Z7, 3 sampled slow-fall events: normal in PBS2/PCS2/PES2, swings only in PDS2</a:t>
            </a:r>
          </a:p>
        </p:txBody>
      </p:sp>
      <p:pic>
        <p:nvPicPr>
          <p:cNvPr id="7" name="Picture 6" descr="time_constants_zip7_PAS1_tfall.png"/>
          <p:cNvPicPr>
            <a:picLocks noChangeAspect="1"/>
          </p:cNvPicPr>
          <p:nvPr/>
        </p:nvPicPr>
        <p:blipFill>
          <a:blip r:embed="rId3"/>
          <a:stretch>
            <a:fillRect/>
          </a:stretch>
        </p:blipFill>
        <p:spPr>
          <a:xfrm>
            <a:off x="6446520" y="3063240"/>
            <a:ext cx="2788920" cy="2085332"/>
          </a:xfrm>
          <a:prstGeom prst="rect">
            <a:avLst/>
          </a:prstGeom>
        </p:spPr>
      </p:pic>
      <p:sp>
        <p:nvSpPr>
          <p:cNvPr id="8" name="TextBox 7"/>
          <p:cNvSpPr txBox="1"/>
          <p:nvPr/>
        </p:nvSpPr>
        <p:spPr>
          <a:xfrm>
            <a:off x="6446520" y="5178572"/>
            <a:ext cx="2788920" cy="274320"/>
          </a:xfrm>
          <a:prstGeom prst="rect">
            <a:avLst/>
          </a:prstGeom>
          <a:noFill/>
        </p:spPr>
        <p:txBody>
          <a:bodyPr wrap="square">
            <a:spAutoFit/>
          </a:bodyPr>
          <a:lstStyle/>
          <a:p>
            <a:pPr algn="ctr"/>
            <a:r>
              <a:rPr sz="1100" i="1">
                <a:solidFill>
                  <a:srgbClr val="666666"/>
                </a:solidFill>
                <a:latin typeface="Arial"/>
              </a:rPr>
              <a:t>Z7 PAS1 — normal channel: narrow (median 0.25 ms)</a:t>
            </a:r>
          </a:p>
        </p:txBody>
      </p:sp>
      <p:pic>
        <p:nvPicPr>
          <p:cNvPr id="9" name="Picture 8" descr="time_constants_zip7_PDS2_tfall.png"/>
          <p:cNvPicPr>
            <a:picLocks noChangeAspect="1"/>
          </p:cNvPicPr>
          <p:nvPr/>
        </p:nvPicPr>
        <p:blipFill>
          <a:blip r:embed="rId4"/>
          <a:stretch>
            <a:fillRect/>
          </a:stretch>
        </p:blipFill>
        <p:spPr>
          <a:xfrm>
            <a:off x="9326880" y="3063240"/>
            <a:ext cx="2788920" cy="2076855"/>
          </a:xfrm>
          <a:prstGeom prst="rect">
            <a:avLst/>
          </a:prstGeom>
        </p:spPr>
      </p:pic>
      <p:sp>
        <p:nvSpPr>
          <p:cNvPr id="10" name="TextBox 9"/>
          <p:cNvSpPr txBox="1"/>
          <p:nvPr/>
        </p:nvSpPr>
        <p:spPr>
          <a:xfrm>
            <a:off x="9326880" y="5170095"/>
            <a:ext cx="2788920" cy="274320"/>
          </a:xfrm>
          <a:prstGeom prst="rect">
            <a:avLst/>
          </a:prstGeom>
          <a:noFill/>
        </p:spPr>
        <p:txBody>
          <a:bodyPr wrap="square">
            <a:spAutoFit/>
          </a:bodyPr>
          <a:lstStyle/>
          <a:p>
            <a:pPr algn="ctr"/>
            <a:r>
              <a:rPr sz="1100" i="1">
                <a:solidFill>
                  <a:srgbClr val="666666"/>
                </a:solidFill>
                <a:latin typeface="Arial"/>
              </a:rPr>
              <a:t>Z7 PDS2 — bad channel: broad tail (median 0.51 ms)</a:t>
            </a:r>
          </a:p>
        </p:txBody>
      </p:sp>
      <p:sp>
        <p:nvSpPr>
          <p:cNvPr id="11" name="TextBox 10"/>
          <p:cNvSpPr txBox="1"/>
          <p:nvPr/>
        </p:nvSpPr>
        <p:spPr>
          <a:xfrm>
            <a:off x="6446520" y="2395728"/>
            <a:ext cx="5669280" cy="502920"/>
          </a:xfrm>
          <a:prstGeom prst="rect">
            <a:avLst/>
          </a:prstGeom>
          <a:noFill/>
        </p:spPr>
        <p:txBody>
          <a:bodyPr wrap="square">
            <a:spAutoFit/>
          </a:bodyPr>
          <a:lstStyle/>
          <a:p>
            <a:r>
              <a:rPr sz="1500" b="1">
                <a:solidFill>
                  <a:srgbClr val="1F3864"/>
                </a:solidFill>
                <a:latin typeface="Arial"/>
              </a:rPr>
              <a:t>Fitted τ_fall distribution, same 0–7 ms axis:</a:t>
            </a:r>
          </a:p>
        </p:txBody>
      </p:sp>
      <p:sp>
        <p:nvSpPr>
          <p:cNvPr id="12" name="TextBox 11"/>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8 / 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1 — analytic 2-exp, NRMSE-weighted (1x1)</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11247120" cy="1371600"/>
          </a:xfrm>
          <a:prstGeom prst="rect">
            <a:avLst/>
          </a:prstGeom>
          <a:noFill/>
        </p:spPr>
        <p:txBody>
          <a:bodyPr wrap="square">
            <a:spAutoFit/>
          </a:bodyPr>
          <a:lstStyle/>
          <a:p>
            <a:pPr>
              <a:spcAft>
                <a:spcPts val="500"/>
              </a:spcAft>
            </a:pPr>
            <a:r>
              <a:rPr sz="1800">
                <a:solidFill>
                  <a:srgbClr val="333333"/>
                </a:solidFill>
                <a:latin typeface="Arial"/>
              </a:rPr>
              <a:t>• NRMSE-weighted mean of the fit_ok 2-exp curves</a:t>
            </a:r>
          </a:p>
          <a:p>
            <a:pPr>
              <a:spcAft>
                <a:spcPts val="500"/>
              </a:spcAft>
            </a:pPr>
            <a:r>
              <a:rPr sz="1800">
                <a:solidFill>
                  <a:srgbClr val="333333"/>
                </a:solidFill>
                <a:latin typeface="Arial"/>
              </a:rPr>
              <a:t>• Smooth &amp; noise-free by construction</a:t>
            </a:r>
          </a:p>
          <a:p>
            <a:pPr>
              <a:spcAft>
                <a:spcPts val="500"/>
              </a:spcAft>
            </a:pPr>
            <a:r>
              <a:rPr sz="1800">
                <a:solidFill>
                  <a:srgbClr val="333333"/>
                </a:solidFill>
                <a:latin typeface="Arial"/>
              </a:rPr>
              <a:t>• ROOT histograms, peak-normalized (+ summed PT / PS1 / PS2)</a:t>
            </a:r>
          </a:p>
        </p:txBody>
      </p:sp>
      <p:pic>
        <p:nvPicPr>
          <p:cNvPr id="5" name="Picture 4" descr="template_overlay_zip7_PBS1.png"/>
          <p:cNvPicPr>
            <a:picLocks noChangeAspect="1"/>
          </p:cNvPicPr>
          <p:nvPr/>
        </p:nvPicPr>
        <p:blipFill>
          <a:blip r:embed="rId2"/>
          <a:stretch>
            <a:fillRect/>
          </a:stretch>
        </p:blipFill>
        <p:spPr>
          <a:xfrm>
            <a:off x="619163" y="2834640"/>
            <a:ext cx="10923194" cy="3291840"/>
          </a:xfrm>
          <a:prstGeom prst="rect">
            <a:avLst/>
          </a:prstGeom>
        </p:spPr>
      </p:pic>
      <p:sp>
        <p:nvSpPr>
          <p:cNvPr id="6" name="TextBox 5"/>
          <p:cNvSpPr txBox="1"/>
          <p:nvPr/>
        </p:nvSpPr>
        <p:spPr>
          <a:xfrm>
            <a:off x="457200" y="6156480"/>
            <a:ext cx="11247120" cy="274320"/>
          </a:xfrm>
          <a:prstGeom prst="rect">
            <a:avLst/>
          </a:prstGeom>
          <a:noFill/>
        </p:spPr>
        <p:txBody>
          <a:bodyPr wrap="square">
            <a:spAutoFit/>
          </a:bodyPr>
          <a:lstStyle/>
          <a:p>
            <a:pPr algn="ctr"/>
            <a:r>
              <a:rPr sz="1100" i="1">
                <a:solidFill>
                  <a:srgbClr val="666666"/>
                </a:solidFill>
                <a:latin typeface="Arial"/>
              </a:rPr>
              <a:t>Z7 PBS1 — blue: the fitted curves (200 of 1931 drawn);  red: the delivered 1x1 template, the NRMSE-weighted mean of all fit_ok curves, read back from the ROOT file</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9 / 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2 — NxM PCA templates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15568"/>
            <a:ext cx="11247120" cy="1371600"/>
          </a:xfrm>
          <a:prstGeom prst="rect">
            <a:avLst/>
          </a:prstGeom>
          <a:noFill/>
        </p:spPr>
        <p:txBody>
          <a:bodyPr wrap="square">
            <a:spAutoFit/>
          </a:bodyPr>
          <a:lstStyle/>
          <a:p>
            <a:pPr>
              <a:spcAft>
                <a:spcPts val="500"/>
              </a:spcAft>
            </a:pPr>
            <a:r>
              <a:rPr sz="1600">
                <a:solidFill>
                  <a:srgbClr val="333333"/>
                </a:solidFill>
                <a:latin typeface="Arial"/>
              </a:rPr>
              <a:t>• Per-channel PCA over the clean fitted curves (fit_ok + NRMSE ≤ 0.4 + τ_rise ≤ 0.3 ms)</a:t>
            </a:r>
          </a:p>
          <a:p>
            <a:pPr>
              <a:spcAft>
                <a:spcPts val="500"/>
              </a:spcAft>
            </a:pPr>
            <a:r>
              <a:rPr sz="1600">
                <a:solidFill>
                  <a:srgbClr val="333333"/>
                </a:solidFill>
                <a:latin typeface="Arial"/>
              </a:rPr>
              <a:t>• nxm0 = mean shape;  nxm1–4 = principal components;  real pulse = Σᵢ ampᵢ · nxmᵢ</a:t>
            </a:r>
          </a:p>
          <a:p>
            <a:pPr>
              <a:spcAft>
                <a:spcPts val="500"/>
              </a:spcAft>
            </a:pPr>
            <a:r>
              <a:rPr sz="1600">
                <a:solidFill>
                  <a:srgbClr val="333333"/>
                </a:solidFill>
                <a:latin typeface="Arial"/>
              </a:rPr>
              <a:t>• PC1 + PC2 ≈ 96–98% of the shape variance;  delivered peak-normalized</a:t>
            </a:r>
          </a:p>
        </p:txBody>
      </p:sp>
      <p:pic>
        <p:nvPicPr>
          <p:cNvPr id="5" name="Picture 4" descr="pca_zip7_PBS1.png"/>
          <p:cNvPicPr>
            <a:picLocks noChangeAspect="1"/>
          </p:cNvPicPr>
          <p:nvPr/>
        </p:nvPicPr>
        <p:blipFill>
          <a:blip r:embed="rId2"/>
          <a:stretch>
            <a:fillRect/>
          </a:stretch>
        </p:blipFill>
        <p:spPr>
          <a:xfrm>
            <a:off x="1044212" y="3017520"/>
            <a:ext cx="10073095" cy="2834639"/>
          </a:xfrm>
          <a:prstGeom prst="rect">
            <a:avLst/>
          </a:prstGeom>
        </p:spPr>
      </p:pic>
      <p:sp>
        <p:nvSpPr>
          <p:cNvPr id="6" name="TextBox 5"/>
          <p:cNvSpPr txBox="1"/>
          <p:nvPr/>
        </p:nvSpPr>
        <p:spPr>
          <a:xfrm>
            <a:off x="1005840" y="5882159"/>
            <a:ext cx="10149840" cy="274320"/>
          </a:xfrm>
          <a:prstGeom prst="rect">
            <a:avLst/>
          </a:prstGeom>
          <a:noFill/>
        </p:spPr>
        <p:txBody>
          <a:bodyPr wrap="square">
            <a:spAutoFit/>
          </a:bodyPr>
          <a:lstStyle/>
          <a:p>
            <a:pPr algn="ctr"/>
            <a:r>
              <a:rPr sz="1100" i="1">
                <a:solidFill>
                  <a:srgbClr val="666666"/>
                </a:solidFill>
                <a:latin typeface="Arial"/>
              </a:rPr>
              <a:t>Z7 PBS1: nxm0 (mean) + nxm1–4 (PCs) — the oscillating components encode rise/fall-time variation</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10 /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Delivered — and what remains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0"/>
            <a:ext cx="11247120" cy="3200400"/>
          </a:xfrm>
          <a:prstGeom prst="rect">
            <a:avLst/>
          </a:prstGeom>
          <a:noFill/>
        </p:spPr>
        <p:txBody>
          <a:bodyPr wrap="square">
            <a:spAutoFit/>
          </a:bodyPr>
          <a:lstStyle/>
          <a:p>
            <a:pPr>
              <a:spcAft>
                <a:spcPts val="500"/>
              </a:spcAft>
            </a:pPr>
            <a:r>
              <a:rPr sz="2200">
                <a:solidFill>
                  <a:srgbClr val="333333"/>
                </a:solidFill>
                <a:latin typeface="Arial"/>
              </a:rPr>
              <a:t>• Two template families built for all 13 detectors:  1x1 (2-exp weighted)  +  NxM PCA</a:t>
            </a:r>
          </a:p>
          <a:p>
            <a:pPr>
              <a:spcAft>
                <a:spcPts val="500"/>
              </a:spcAft>
            </a:pPr>
            <a:r>
              <a:rPr sz="2200">
                <a:solidFill>
                  <a:srgbClr val="333333"/>
                </a:solidFill>
                <a:latin typeface="Arial"/>
              </a:rPr>
              <a:t>• Delivered in the official cdmsbats PulseTemplates format</a:t>
            </a:r>
          </a:p>
          <a:p>
            <a:pPr>
              <a:spcAft>
                <a:spcPts val="500"/>
              </a:spcAft>
            </a:pPr>
            <a:r>
              <a:rPr sz="2200">
                <a:solidFill>
                  <a:srgbClr val="333333"/>
                </a:solidFill>
                <a:latin typeface="Arial"/>
              </a:rPr>
              <a:t>• Cuts read off the data, verified in raw traces:  NRMSE ≤ 0.4,  τ_rise ≤ 0.3 ms</a:t>
            </a:r>
          </a:p>
        </p:txBody>
      </p:sp>
      <p:sp>
        <p:nvSpPr>
          <p:cNvPr id="5" name="TextBox 4"/>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11 /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Backup — weak detectors (example: Z22)</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05840"/>
            <a:ext cx="11247120" cy="1965960"/>
          </a:xfrm>
          <a:prstGeom prst="rect">
            <a:avLst/>
          </a:prstGeom>
          <a:noFill/>
        </p:spPr>
        <p:txBody>
          <a:bodyPr wrap="square">
            <a:spAutoFit/>
          </a:bodyPr>
          <a:lstStyle/>
          <a:p>
            <a:pPr>
              <a:spcAft>
                <a:spcPts val="500"/>
              </a:spcAft>
            </a:pPr>
            <a:r>
              <a:rPr sz="1300">
                <a:solidFill>
                  <a:srgbClr val="333333"/>
                </a:solidFill>
                <a:latin typeface="Arial"/>
              </a:rPr>
              <a:t>• Z1 / Z4 / Z6 / Z18 / Z19 / Z22 / Z24: K-line sits inside the noise population — the PTOF window admits a noise-dominated mixture</a:t>
            </a:r>
          </a:p>
          <a:p>
            <a:pPr>
              <a:spcAft>
                <a:spcPts val="500"/>
              </a:spcAft>
            </a:pPr>
            <a:r>
              <a:rPr sz="1300">
                <a:solidFill>
                  <a:srgbClr val="333333"/>
                </a:solidFill>
                <a:latin typeface="Arial"/>
              </a:rPr>
              <a:t>• Same bimodal NRMSE picture, noise peak dominates; the same 0.4 cut digs the real pulses out — Z22 PCS1: 7198 kept / 4788 cut (~40%)</a:t>
            </a:r>
          </a:p>
          <a:p>
            <a:pPr>
              <a:spcAft>
                <a:spcPts val="500"/>
              </a:spcAft>
            </a:pPr>
            <a:r>
              <a:rPr sz="1300">
                <a:solidFill>
                  <a:srgbClr val="333333"/>
                </a:solidFill>
                <a:latin typeface="Arial"/>
              </a:rPr>
              <a:t>• Kept bundle broader than on quiet detectors; steep red curves = fits latching onto sharp noise spikes, not fast pulses being cut</a:t>
            </a:r>
          </a:p>
          <a:p>
            <a:pPr>
              <a:spcAft>
                <a:spcPts val="500"/>
              </a:spcAft>
            </a:pPr>
            <a:r>
              <a:rPr sz="1300">
                <a:solidFill>
                  <a:srgbClr val="333333"/>
                </a:solidFill>
                <a:latin typeface="Arial"/>
              </a:rPr>
              <a:t>• τ_rise ≤ 0.3 ms (after NRMSE): removes 55–74% on weak zips (Z22: 71%) vs 1.6% on Z7 — residual slow drift</a:t>
            </a:r>
          </a:p>
        </p:txBody>
      </p:sp>
      <p:pic>
        <p:nvPicPr>
          <p:cNvPr id="5" name="Picture 4" descr="nrmse_zip22_PAS1.png"/>
          <p:cNvPicPr>
            <a:picLocks noChangeAspect="1"/>
          </p:cNvPicPr>
          <p:nvPr/>
        </p:nvPicPr>
        <p:blipFill>
          <a:blip r:embed="rId2"/>
          <a:stretch>
            <a:fillRect/>
          </a:stretch>
        </p:blipFill>
        <p:spPr>
          <a:xfrm>
            <a:off x="365760" y="3063240"/>
            <a:ext cx="5760720" cy="1319662"/>
          </a:xfrm>
          <a:prstGeom prst="rect">
            <a:avLst/>
          </a:prstGeom>
        </p:spPr>
      </p:pic>
      <p:sp>
        <p:nvSpPr>
          <p:cNvPr id="6" name="TextBox 5"/>
          <p:cNvSpPr txBox="1"/>
          <p:nvPr/>
        </p:nvSpPr>
        <p:spPr>
          <a:xfrm>
            <a:off x="365760" y="4412902"/>
            <a:ext cx="5760720" cy="274320"/>
          </a:xfrm>
          <a:prstGeom prst="rect">
            <a:avLst/>
          </a:prstGeom>
          <a:noFill/>
        </p:spPr>
        <p:txBody>
          <a:bodyPr wrap="square">
            <a:spAutoFit/>
          </a:bodyPr>
          <a:lstStyle/>
          <a:p>
            <a:pPr algn="ctr"/>
            <a:r>
              <a:rPr sz="1100" i="1">
                <a:solidFill>
                  <a:srgbClr val="666666"/>
                </a:solidFill>
                <a:latin typeface="Arial"/>
              </a:rPr>
              <a:t>Z22 PAS1: NRMSE histogram — noise dominates</a:t>
            </a:r>
          </a:p>
        </p:txBody>
      </p:sp>
      <p:pic>
        <p:nvPicPr>
          <p:cNvPr id="7" name="Picture 6" descr="fan_cut_zip22_PCS1.png"/>
          <p:cNvPicPr>
            <a:picLocks noChangeAspect="1"/>
          </p:cNvPicPr>
          <p:nvPr/>
        </p:nvPicPr>
        <p:blipFill>
          <a:blip r:embed="rId3"/>
          <a:stretch>
            <a:fillRect/>
          </a:stretch>
        </p:blipFill>
        <p:spPr>
          <a:xfrm>
            <a:off x="6309360" y="3063240"/>
            <a:ext cx="5760720" cy="1479697"/>
          </a:xfrm>
          <a:prstGeom prst="rect">
            <a:avLst/>
          </a:prstGeom>
        </p:spPr>
      </p:pic>
      <p:sp>
        <p:nvSpPr>
          <p:cNvPr id="8" name="TextBox 7"/>
          <p:cNvSpPr txBox="1"/>
          <p:nvPr/>
        </p:nvSpPr>
        <p:spPr>
          <a:xfrm>
            <a:off x="6309360" y="4572937"/>
            <a:ext cx="5760720" cy="274320"/>
          </a:xfrm>
          <a:prstGeom prst="rect">
            <a:avLst/>
          </a:prstGeom>
          <a:noFill/>
        </p:spPr>
        <p:txBody>
          <a:bodyPr wrap="square">
            <a:spAutoFit/>
          </a:bodyPr>
          <a:lstStyle/>
          <a:p>
            <a:pPr algn="ctr"/>
            <a:r>
              <a:rPr sz="1100" i="1">
                <a:solidFill>
                  <a:srgbClr val="666666"/>
                </a:solidFill>
                <a:latin typeface="Arial"/>
              </a:rPr>
              <a:t>Z22 PCS1: kept (green) vs cut (red)</a:t>
            </a:r>
          </a:p>
        </p:txBody>
      </p:sp>
      <p:pic>
        <p:nvPicPr>
          <p:cNvPr id="9" name="Picture 8" descr="fan_final_zip22_PCS1.png"/>
          <p:cNvPicPr>
            <a:picLocks noChangeAspect="1"/>
          </p:cNvPicPr>
          <p:nvPr/>
        </p:nvPicPr>
        <p:blipFill>
          <a:blip r:embed="rId4"/>
          <a:stretch>
            <a:fillRect/>
          </a:stretch>
        </p:blipFill>
        <p:spPr>
          <a:xfrm>
            <a:off x="3745314" y="5074920"/>
            <a:ext cx="4670891" cy="1417320"/>
          </a:xfrm>
          <a:prstGeom prst="rect">
            <a:avLst/>
          </a:prstGeom>
        </p:spPr>
      </p:pic>
      <p:sp>
        <p:nvSpPr>
          <p:cNvPr id="10" name="TextBox 9"/>
          <p:cNvSpPr txBox="1"/>
          <p:nvPr/>
        </p:nvSpPr>
        <p:spPr>
          <a:xfrm>
            <a:off x="2011680" y="6522240"/>
            <a:ext cx="8138160" cy="274320"/>
          </a:xfrm>
          <a:prstGeom prst="rect">
            <a:avLst/>
          </a:prstGeom>
          <a:noFill/>
        </p:spPr>
        <p:txBody>
          <a:bodyPr wrap="square">
            <a:spAutoFit/>
          </a:bodyPr>
          <a:lstStyle/>
          <a:p>
            <a:pPr algn="ctr"/>
            <a:r>
              <a:rPr sz="1100" i="1">
                <a:solidFill>
                  <a:srgbClr val="666666"/>
                </a:solidFill>
                <a:latin typeface="Arial"/>
              </a:rPr>
              <a:t>Z22 PCS1 after NRMSE ≤ 0.4 + τ_rise ≤ 0.3 ms — final shape family (760 fits)</a:t>
            </a:r>
          </a:p>
        </p:txBody>
      </p:sp>
      <p:sp>
        <p:nvSpPr>
          <p:cNvPr id="11" name="TextBox 10"/>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12 /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Backup — the τ_rise ≤ 0.3 ms ceiling (PCA input)</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965960"/>
          </a:xfrm>
          <a:prstGeom prst="rect">
            <a:avLst/>
          </a:prstGeom>
          <a:noFill/>
        </p:spPr>
        <p:txBody>
          <a:bodyPr wrap="square">
            <a:spAutoFit/>
          </a:bodyPr>
          <a:lstStyle/>
          <a:p>
            <a:pPr>
              <a:spcAft>
                <a:spcPts val="500"/>
              </a:spcAft>
            </a:pPr>
            <a:r>
              <a:rPr sz="1400">
                <a:solidFill>
                  <a:srgbClr val="333333"/>
                </a:solidFill>
                <a:latin typeface="Arial"/>
              </a:rPr>
              <a:t>• Slow baseline drift survives NRMSE (a slow 2-exp hugs it) → mimics a slow rise</a:t>
            </a:r>
          </a:p>
          <a:p>
            <a:pPr>
              <a:spcAft>
                <a:spcPts val="500"/>
              </a:spcAft>
            </a:pPr>
            <a:r>
              <a:rPr sz="1400">
                <a:solidFill>
                  <a:srgbClr val="333333"/>
                </a:solidFill>
                <a:latin typeface="Arial"/>
              </a:rPr>
              <a:t>• Fast pulses at τ_rise ≈ 0.1 ms (p90 ≈ 0.15 ms) → ceiling at 0.3 ms blocks the drift tail</a:t>
            </a:r>
          </a:p>
          <a:p>
            <a:pPr>
              <a:spcAft>
                <a:spcPts val="500"/>
              </a:spcAft>
            </a:pPr>
            <a:r>
              <a:rPr sz="1400">
                <a:solidFill>
                  <a:srgbClr val="333333"/>
                </a:solidFill>
                <a:latin typeface="Arial"/>
              </a:rPr>
              <a:t>• Removed after the NRMSE cut: Z7 1.6% (quiet 2–6%) — weak 55–74% (Z22 71%) — all zips 54%</a:t>
            </a:r>
          </a:p>
          <a:p>
            <a:pPr>
              <a:spcAft>
                <a:spcPts val="500"/>
              </a:spcAft>
            </a:pPr>
            <a:r>
              <a:rPr sz="1400">
                <a:solidFill>
                  <a:srgbClr val="333333"/>
                </a:solidFill>
                <a:latin typeface="Arial"/>
              </a:rPr>
              <a:t>• Trade-off: trims the very slowest genuine pulses → decision pending</a:t>
            </a:r>
          </a:p>
        </p:txBody>
      </p:sp>
      <p:pic>
        <p:nvPicPr>
          <p:cNvPr id="5" name="Picture 4" descr="time_constants_zip7_PAS1.png"/>
          <p:cNvPicPr>
            <a:picLocks noChangeAspect="1"/>
          </p:cNvPicPr>
          <p:nvPr/>
        </p:nvPicPr>
        <p:blipFill>
          <a:blip r:embed="rId2"/>
          <a:stretch>
            <a:fillRect/>
          </a:stretch>
        </p:blipFill>
        <p:spPr>
          <a:xfrm>
            <a:off x="1280160" y="3291840"/>
            <a:ext cx="9601200" cy="1851803"/>
          </a:xfrm>
          <a:prstGeom prst="rect">
            <a:avLst/>
          </a:prstGeom>
        </p:spPr>
      </p:pic>
      <p:sp>
        <p:nvSpPr>
          <p:cNvPr id="6" name="TextBox 5"/>
          <p:cNvSpPr txBox="1"/>
          <p:nvPr/>
        </p:nvSpPr>
        <p:spPr>
          <a:xfrm>
            <a:off x="1280160" y="5173643"/>
            <a:ext cx="9601200" cy="274320"/>
          </a:xfrm>
          <a:prstGeom prst="rect">
            <a:avLst/>
          </a:prstGeom>
          <a:noFill/>
        </p:spPr>
        <p:txBody>
          <a:bodyPr wrap="square">
            <a:spAutoFit/>
          </a:bodyPr>
          <a:lstStyle/>
          <a:p>
            <a:pPr algn="ctr"/>
            <a:r>
              <a:rPr sz="1100" i="1">
                <a:solidFill>
                  <a:srgbClr val="666666"/>
                </a:solidFill>
                <a:latin typeface="Arial"/>
              </a:rPr>
              <a:t>Z7 PAS1: fitted τ_rise (median 0.105 ms) and τ_fall distributions</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13 /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Backup — τ_rise cut: a good vs a bad channel (Z7)</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51560"/>
            <a:ext cx="11247120" cy="1234440"/>
          </a:xfrm>
          <a:prstGeom prst="rect">
            <a:avLst/>
          </a:prstGeom>
          <a:noFill/>
        </p:spPr>
        <p:txBody>
          <a:bodyPr wrap="square">
            <a:spAutoFit/>
          </a:bodyPr>
          <a:lstStyle/>
          <a:p>
            <a:pPr>
              <a:spcAft>
                <a:spcPts val="500"/>
              </a:spcAft>
            </a:pPr>
            <a:r>
              <a:rPr sz="1400">
                <a:solidFill>
                  <a:srgbClr val="333333"/>
                </a:solidFill>
                <a:latin typeface="Arial"/>
              </a:rPr>
              <a:t>• Good channel PBS1: tight clean bundle — the τ_rise ≤ 0.3 ms cut removes ~0% (nearly free on quiet channels)</a:t>
            </a:r>
          </a:p>
          <a:p>
            <a:pPr>
              <a:spcAft>
                <a:spcPts val="500"/>
              </a:spcAft>
            </a:pPr>
            <a:r>
              <a:rPr sz="1400">
                <a:solidFill>
                  <a:srgbClr val="333333"/>
                </a:solidFill>
                <a:latin typeface="Arial"/>
              </a:rPr>
              <a:t>• Bad channel PDS2: broad, messy fan — the channel itself is bad; the cut trims the slow-rise curves, 1462 → 1154 (21%)</a:t>
            </a:r>
          </a:p>
        </p:txBody>
      </p:sp>
      <p:pic>
        <p:nvPicPr>
          <p:cNvPr id="5" name="Picture 4" descr="fan_zip7_PBS1_nrmse.png"/>
          <p:cNvPicPr>
            <a:picLocks noChangeAspect="1"/>
          </p:cNvPicPr>
          <p:nvPr/>
        </p:nvPicPr>
        <p:blipFill>
          <a:blip r:embed="rId2"/>
          <a:stretch>
            <a:fillRect/>
          </a:stretch>
        </p:blipFill>
        <p:spPr>
          <a:xfrm>
            <a:off x="526097" y="2468880"/>
            <a:ext cx="5302885" cy="1600200"/>
          </a:xfrm>
          <a:prstGeom prst="rect">
            <a:avLst/>
          </a:prstGeom>
        </p:spPr>
      </p:pic>
      <p:sp>
        <p:nvSpPr>
          <p:cNvPr id="6" name="TextBox 5"/>
          <p:cNvSpPr txBox="1"/>
          <p:nvPr/>
        </p:nvSpPr>
        <p:spPr>
          <a:xfrm>
            <a:off x="320040" y="4099080"/>
            <a:ext cx="5715000" cy="274320"/>
          </a:xfrm>
          <a:prstGeom prst="rect">
            <a:avLst/>
          </a:prstGeom>
          <a:noFill/>
        </p:spPr>
        <p:txBody>
          <a:bodyPr wrap="square">
            <a:spAutoFit/>
          </a:bodyPr>
          <a:lstStyle/>
          <a:p>
            <a:pPr algn="ctr"/>
            <a:r>
              <a:rPr sz="1100" i="1">
                <a:solidFill>
                  <a:srgbClr val="666666"/>
                </a:solidFill>
                <a:latin typeface="Arial"/>
              </a:rPr>
              <a:t>PBS1 (good) — NRMSE ≤ 0.4</a:t>
            </a:r>
          </a:p>
        </p:txBody>
      </p:sp>
      <p:pic>
        <p:nvPicPr>
          <p:cNvPr id="7" name="Picture 6" descr="fan_zip7_PBS1_nrmse.png"/>
          <p:cNvPicPr>
            <a:picLocks noChangeAspect="1"/>
          </p:cNvPicPr>
          <p:nvPr/>
        </p:nvPicPr>
        <p:blipFill>
          <a:blip r:embed="rId2"/>
          <a:stretch>
            <a:fillRect/>
          </a:stretch>
        </p:blipFill>
        <p:spPr>
          <a:xfrm>
            <a:off x="6469697" y="2468880"/>
            <a:ext cx="5302885" cy="1600200"/>
          </a:xfrm>
          <a:prstGeom prst="rect">
            <a:avLst/>
          </a:prstGeom>
        </p:spPr>
      </p:pic>
      <p:sp>
        <p:nvSpPr>
          <p:cNvPr id="8" name="TextBox 7"/>
          <p:cNvSpPr txBox="1"/>
          <p:nvPr/>
        </p:nvSpPr>
        <p:spPr>
          <a:xfrm>
            <a:off x="6263640" y="4099080"/>
            <a:ext cx="5715000" cy="274320"/>
          </a:xfrm>
          <a:prstGeom prst="rect">
            <a:avLst/>
          </a:prstGeom>
          <a:noFill/>
        </p:spPr>
        <p:txBody>
          <a:bodyPr wrap="square">
            <a:spAutoFit/>
          </a:bodyPr>
          <a:lstStyle/>
          <a:p>
            <a:pPr algn="ctr"/>
            <a:r>
              <a:rPr sz="1100" i="1">
                <a:solidFill>
                  <a:srgbClr val="666666"/>
                </a:solidFill>
                <a:latin typeface="Arial"/>
              </a:rPr>
              <a:t>PBS1 (good) — + τ_rise ≤ 0.3 ms  (unchanged)</a:t>
            </a:r>
          </a:p>
        </p:txBody>
      </p:sp>
      <p:pic>
        <p:nvPicPr>
          <p:cNvPr id="9" name="Picture 8" descr="fan_zip7_PDS2_nrmse.png"/>
          <p:cNvPicPr>
            <a:picLocks noChangeAspect="1"/>
          </p:cNvPicPr>
          <p:nvPr/>
        </p:nvPicPr>
        <p:blipFill>
          <a:blip r:embed="rId3"/>
          <a:stretch>
            <a:fillRect/>
          </a:stretch>
        </p:blipFill>
        <p:spPr>
          <a:xfrm>
            <a:off x="533442" y="4617720"/>
            <a:ext cx="5288195" cy="1600200"/>
          </a:xfrm>
          <a:prstGeom prst="rect">
            <a:avLst/>
          </a:prstGeom>
        </p:spPr>
      </p:pic>
      <p:sp>
        <p:nvSpPr>
          <p:cNvPr id="10" name="TextBox 9"/>
          <p:cNvSpPr txBox="1"/>
          <p:nvPr/>
        </p:nvSpPr>
        <p:spPr>
          <a:xfrm>
            <a:off x="320040" y="6247920"/>
            <a:ext cx="5715000" cy="274320"/>
          </a:xfrm>
          <a:prstGeom prst="rect">
            <a:avLst/>
          </a:prstGeom>
          <a:noFill/>
        </p:spPr>
        <p:txBody>
          <a:bodyPr wrap="square">
            <a:spAutoFit/>
          </a:bodyPr>
          <a:lstStyle/>
          <a:p>
            <a:pPr algn="ctr"/>
            <a:r>
              <a:rPr sz="1100" i="1">
                <a:solidFill>
                  <a:srgbClr val="666666"/>
                </a:solidFill>
                <a:latin typeface="Arial"/>
              </a:rPr>
              <a:t>PDS2 (bad) — NRMSE ≤ 0.4</a:t>
            </a:r>
          </a:p>
        </p:txBody>
      </p:sp>
      <p:pic>
        <p:nvPicPr>
          <p:cNvPr id="11" name="Picture 10" descr="fan_zip7_PDS2_after.png"/>
          <p:cNvPicPr>
            <a:picLocks noChangeAspect="1"/>
          </p:cNvPicPr>
          <p:nvPr/>
        </p:nvPicPr>
        <p:blipFill>
          <a:blip r:embed="rId4"/>
          <a:stretch>
            <a:fillRect/>
          </a:stretch>
        </p:blipFill>
        <p:spPr>
          <a:xfrm>
            <a:off x="6477042" y="4617720"/>
            <a:ext cx="5288195" cy="1600200"/>
          </a:xfrm>
          <a:prstGeom prst="rect">
            <a:avLst/>
          </a:prstGeom>
        </p:spPr>
      </p:pic>
      <p:sp>
        <p:nvSpPr>
          <p:cNvPr id="12" name="TextBox 11"/>
          <p:cNvSpPr txBox="1"/>
          <p:nvPr/>
        </p:nvSpPr>
        <p:spPr>
          <a:xfrm>
            <a:off x="6263640" y="6247920"/>
            <a:ext cx="5715000" cy="274320"/>
          </a:xfrm>
          <a:prstGeom prst="rect">
            <a:avLst/>
          </a:prstGeom>
          <a:noFill/>
        </p:spPr>
        <p:txBody>
          <a:bodyPr wrap="square">
            <a:spAutoFit/>
          </a:bodyPr>
          <a:lstStyle/>
          <a:p>
            <a:pPr algn="ctr"/>
            <a:r>
              <a:rPr sz="1100" i="1">
                <a:solidFill>
                  <a:srgbClr val="666666"/>
                </a:solidFill>
                <a:latin typeface="Arial"/>
              </a:rPr>
              <a:t>PDS2 (bad) — + τ_rise ≤ 0.3 ms  (slow risers trimmed)</a:t>
            </a:r>
          </a:p>
        </p:txBody>
      </p:sp>
      <p:sp>
        <p:nvSpPr>
          <p:cNvPr id="13" name="TextBox 12"/>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14 / 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Backup — what the τ_rise cut removes: noise NRMSE missed (Z22)</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51560"/>
            <a:ext cx="11247120" cy="1554480"/>
          </a:xfrm>
          <a:prstGeom prst="rect">
            <a:avLst/>
          </a:prstGeom>
          <a:noFill/>
        </p:spPr>
        <p:txBody>
          <a:bodyPr wrap="square">
            <a:spAutoFit/>
          </a:bodyPr>
          <a:lstStyle/>
          <a:p>
            <a:pPr>
              <a:spcAft>
                <a:spcPts val="500"/>
              </a:spcAft>
            </a:pPr>
            <a:r>
              <a:rPr sz="1400">
                <a:solidFill>
                  <a:srgbClr val="333333"/>
                </a:solidFill>
                <a:latin typeface="Arial"/>
              </a:rPr>
              <a:t>• Exactly the events that PASS NRMSE ≤ 0.4 but are REMOVED by τ_rise ≤ 0.3 ms — the noise 0.4 let through, 0.3 catches</a:t>
            </a:r>
          </a:p>
          <a:p>
            <a:pPr>
              <a:spcAft>
                <a:spcPts val="500"/>
              </a:spcAft>
            </a:pPr>
            <a:r>
              <a:rPr sz="1400">
                <a:solidFill>
                  <a:srgbClr val="333333"/>
                </a:solidFill>
                <a:latin typeface="Arial"/>
              </a:rPr>
              <a:t>• PCS1 / PDS1 pass at NRMSE ≈ 0.15 (a slow 2-exp hugs a slow baseline drift) — but the raw trace has no clean fast pulse</a:t>
            </a:r>
          </a:p>
          <a:p>
            <a:pPr>
              <a:spcAft>
                <a:spcPts val="500"/>
              </a:spcAft>
            </a:pPr>
            <a:r>
              <a:rPr sz="1400">
                <a:solidFill>
                  <a:srgbClr val="333333"/>
                </a:solidFill>
                <a:latin typeface="Arial"/>
              </a:rPr>
              <a:t>• Trade-off: the same cut also trims genuine slow-rise pulses — documented, decision pending</a:t>
            </a:r>
          </a:p>
        </p:txBody>
      </p:sp>
      <p:pic>
        <p:nvPicPr>
          <p:cNvPr id="5" name="Picture 4" descr="drift_zip22_crop.png"/>
          <p:cNvPicPr>
            <a:picLocks noChangeAspect="1"/>
          </p:cNvPicPr>
          <p:nvPr/>
        </p:nvPicPr>
        <p:blipFill>
          <a:blip r:embed="rId2"/>
          <a:stretch>
            <a:fillRect/>
          </a:stretch>
        </p:blipFill>
        <p:spPr>
          <a:xfrm>
            <a:off x="2730551" y="2971800"/>
            <a:ext cx="6700418" cy="3474720"/>
          </a:xfrm>
          <a:prstGeom prst="rect">
            <a:avLst/>
          </a:prstGeom>
        </p:spPr>
      </p:pic>
      <p:sp>
        <p:nvSpPr>
          <p:cNvPr id="6" name="TextBox 5"/>
          <p:cNvSpPr txBox="1"/>
          <p:nvPr/>
        </p:nvSpPr>
        <p:spPr>
          <a:xfrm>
            <a:off x="1920240" y="6476520"/>
            <a:ext cx="8321040" cy="274320"/>
          </a:xfrm>
          <a:prstGeom prst="rect">
            <a:avLst/>
          </a:prstGeom>
          <a:noFill/>
        </p:spPr>
        <p:txBody>
          <a:bodyPr wrap="square">
            <a:spAutoFit/>
          </a:bodyPr>
          <a:lstStyle/>
          <a:p>
            <a:pPr algn="ctr"/>
            <a:r>
              <a:rPr sz="1100" i="1">
                <a:solidFill>
                  <a:srgbClr val="666666"/>
                </a:solidFill>
                <a:latin typeface="Arial"/>
              </a:rPr>
              <a:t>Z22: 3 events × PAS1/PBS1/PCS1/PDS1 — pass NRMSE ≤ 0.4, removed by τ_rise ≤ 0.3 ms; PCS1/PDS1 are pure slow drift</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15 / 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