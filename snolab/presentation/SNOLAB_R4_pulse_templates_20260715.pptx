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502920" y="4526280"/>
            <a:ext cx="11247120" cy="502920"/>
          </a:xfrm>
          <a:prstGeom prst="rect">
            <a:avLst/>
          </a:prstGeom>
          <a:noFill/>
        </p:spPr>
        <p:txBody>
          <a:bodyPr wrap="square">
            <a:spAutoFit/>
          </a:bodyPr>
          <a:lstStyle/>
          <a:p>
            <a:pPr>
              <a:spcAft>
                <a:spcPts val="6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9" name="Picture 8" descr="fan_zip7_PBS1_before_zoom.png"/>
          <p:cNvPicPr>
            <a:picLocks noChangeAspect="1"/>
          </p:cNvPicPr>
          <p:nvPr/>
        </p:nvPicPr>
        <p:blipFill>
          <a:blip r:embed="rId3"/>
          <a:stretch>
            <a:fillRect/>
          </a:stretch>
        </p:blipFill>
        <p:spPr>
          <a:xfrm>
            <a:off x="2233436" y="4864608"/>
            <a:ext cx="2299688" cy="1371600"/>
          </a:xfrm>
          <a:prstGeom prst="rect">
            <a:avLst/>
          </a:prstGeom>
        </p:spPr>
      </p:pic>
      <p:sp>
        <p:nvSpPr>
          <p:cNvPr id="10" name="TextBox 9"/>
          <p:cNvSpPr txBox="1"/>
          <p:nvPr/>
        </p:nvSpPr>
        <p:spPr>
          <a:xfrm>
            <a:off x="822960" y="6266208"/>
            <a:ext cx="51206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11" name="Picture 10" descr="fan_zip7_PBS1_nrmse_zoom.png"/>
          <p:cNvPicPr>
            <a:picLocks noChangeAspect="1"/>
          </p:cNvPicPr>
          <p:nvPr/>
        </p:nvPicPr>
        <p:blipFill>
          <a:blip r:embed="rId4"/>
          <a:stretch>
            <a:fillRect/>
          </a:stretch>
        </p:blipFill>
        <p:spPr>
          <a:xfrm>
            <a:off x="7719836" y="4864608"/>
            <a:ext cx="2299688" cy="1371600"/>
          </a:xfrm>
          <a:prstGeom prst="rect">
            <a:avLst/>
          </a:prstGeom>
        </p:spPr>
      </p:pic>
      <p:sp>
        <p:nvSpPr>
          <p:cNvPr id="12" name="TextBox 11"/>
          <p:cNvSpPr txBox="1"/>
          <p:nvPr/>
        </p:nvSpPr>
        <p:spPr>
          <a:xfrm>
            <a:off x="6309360" y="6266208"/>
            <a:ext cx="5120640" cy="274320"/>
          </a:xfrm>
          <a:prstGeom prst="rect">
            <a:avLst/>
          </a:prstGeom>
          <a:noFill/>
        </p:spPr>
        <p:txBody>
          <a:bodyPr wrap="square">
            <a:spAutoFit/>
          </a:bodyPr>
          <a:lstStyle/>
          <a:p>
            <a:pPr algn="ctr"/>
            <a:r>
              <a:rPr sz="1100" i="1">
                <a:solidFill>
                  <a:srgbClr val="666666"/>
                </a:solidFill>
                <a:latin typeface="Arial"/>
              </a:rPr>
              <a:t>After NRMSE ≤ 0.4 — one tight shape family</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AS1_tfall.png"/>
          <p:cNvPicPr>
            <a:picLocks noChangeAspect="1"/>
          </p:cNvPicPr>
          <p:nvPr/>
        </p:nvPicPr>
        <p:blipFill>
          <a:blip r:embed="rId3"/>
          <a:stretch>
            <a:fillRect/>
          </a:stretch>
        </p:blipFill>
        <p:spPr>
          <a:xfrm>
            <a:off x="8077201" y="2450592"/>
            <a:ext cx="3047998" cy="1874519"/>
          </a:xfrm>
          <a:prstGeom prst="rect">
            <a:avLst/>
          </a:prstGeom>
        </p:spPr>
      </p:pic>
      <p:sp>
        <p:nvSpPr>
          <p:cNvPr id="8" name="TextBox 7"/>
          <p:cNvSpPr txBox="1"/>
          <p:nvPr/>
        </p:nvSpPr>
        <p:spPr>
          <a:xfrm>
            <a:off x="7086600" y="4355111"/>
            <a:ext cx="5029200" cy="274320"/>
          </a:xfrm>
          <a:prstGeom prst="rect">
            <a:avLst/>
          </a:prstGeom>
          <a:noFill/>
        </p:spPr>
        <p:txBody>
          <a:bodyPr wrap="square">
            <a:spAutoFit/>
          </a:bodyPr>
          <a:lstStyle/>
          <a:p>
            <a:pPr algn="ctr"/>
            <a:r>
              <a:rPr sz="1100" i="1">
                <a:solidFill>
                  <a:srgbClr val="666666"/>
                </a:solidFill>
                <a:latin typeface="Arial"/>
              </a:rPr>
              <a:t>PAS1 — a normal channel: narrow, median 0.25 ms</a:t>
            </a:r>
          </a:p>
        </p:txBody>
      </p:sp>
      <p:pic>
        <p:nvPicPr>
          <p:cNvPr id="9" name="Picture 8" descr="time_constants_zip7_PDS2_tfall.png"/>
          <p:cNvPicPr>
            <a:picLocks noChangeAspect="1"/>
          </p:cNvPicPr>
          <p:nvPr/>
        </p:nvPicPr>
        <p:blipFill>
          <a:blip r:embed="rId4"/>
          <a:stretch>
            <a:fillRect/>
          </a:stretch>
        </p:blipFill>
        <p:spPr>
          <a:xfrm>
            <a:off x="8070980" y="4480560"/>
            <a:ext cx="3060439" cy="1874519"/>
          </a:xfrm>
          <a:prstGeom prst="rect">
            <a:avLst/>
          </a:prstGeom>
        </p:spPr>
      </p:pic>
      <p:sp>
        <p:nvSpPr>
          <p:cNvPr id="10" name="TextBox 9"/>
          <p:cNvSpPr txBox="1"/>
          <p:nvPr/>
        </p:nvSpPr>
        <p:spPr>
          <a:xfrm>
            <a:off x="7086600" y="6385079"/>
            <a:ext cx="5029200" cy="274320"/>
          </a:xfrm>
          <a:prstGeom prst="rect">
            <a:avLst/>
          </a:prstGeom>
          <a:noFill/>
        </p:spPr>
        <p:txBody>
          <a:bodyPr wrap="square">
            <a:spAutoFit/>
          </a:bodyPr>
          <a:lstStyle/>
          <a:p>
            <a:pPr algn="ctr"/>
            <a:r>
              <a:rPr sz="1100" i="1">
                <a:solidFill>
                  <a:srgbClr val="666666"/>
                </a:solidFill>
                <a:latin typeface="Arial"/>
              </a:rPr>
              <a:t>PDS2 — the bad channel: broad tail, median 0.51 ms (τ_fall in ms)</a:t>
            </a:r>
          </a:p>
        </p:txBody>
      </p:sp>
      <p:sp>
        <p:nvSpPr>
          <p:cNvPr id="11" name="TextBox 10"/>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a:p>
            <a:pPr>
              <a:spcAft>
                <a:spcPts val="500"/>
              </a:spcAft>
            </a:pPr>
            <a:r>
              <a:rPr sz="2200">
                <a:solidFill>
                  <a:srgbClr val="333333"/>
                </a:solidFill>
                <a:latin typeface="Arial"/>
              </a:rPr>
              <a:t>• Next: run the group's template-validation on the new templates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