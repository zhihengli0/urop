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 a quick look at the data itself. We use event-by-channel grids: each row is one event, each column one channel, with the low-passed trace in blue and a fitted pulse model in red on top. The pattern is already clear: a real K-line event fits well in every channel at once, while a noise trigger fails in every channel at once. So the events split cleanly into two kinds. How we actually fit and align each trace is the next slide, and how we turn that split into a quantitative cut comes shortly after.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Step five, alignment, and its output get their own slide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five: alignment. Each measured trace is shifted by its fitted pretrigger minus the nominal 16050 - a pure translation, nothing about the waveform is regenerated. Once everything is at the common pretrigger, the fitted curves stack up. On the left, all physical fits: you can see the slow stragglers spreading off the main bundle. On the right, after the NRMSE cut, a single tight, consistent shape family remains. That tight family is what makes a well-defined template possible - and where the cut comes from is what I show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This is Z7 PBS1, the channel used throughout the talk. The weak detectors - Z22, for example - show the same bimodal picture with the noise peak dominating, and there this same cut is what digs the real pulses out of the mixture. (If someone asks what a weak detector looks like, show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Z7: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forty times higher - 1.87 against 0.045 - and on this channel only three point eight percent of the events get cut. So the cut removes noise triggers, and no real pulses are lost.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a genuinely slow pulse.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pulse-shape variation across events.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On the weak detectors the K-line overlaps the noise population, so the PTOF window admits a noise-dominated mixture. The NRMSE distribution is still bimodal but the noise peak dominates, and the same 0.4 cut is what extracts the real pulses - on Z22 PCS1 about forty percent of the physical fits are removed. The kept bundle is broader than on a quiet detector, and the steep red curves are fits latching onto sharp noise spikes, not fast pulses being thrown away. The rise-time ceiling then removes fifty-five to seventy-four percent of what survived the NRMSE cut on the weak zips - residual slow drift - versus one point six percent on Z7. The surviving shape family is at the bottom.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rise-time cut. On weak-window detectors a slow baseline drift also fits as a slow rise, with a tiny residual, so NRMSE cannot catch it. Real fast pulses cluster near 0.1 ms while the drift tail stretches much further, so the PCA input gets a ceiling at 0.3 ms. Relative to the NRMSE step it removes almost nothing on quiet detectors - 1.6% on Z7, mostly the bad channel PDS2 - but 55 to 74% on the weak ones, 71% on Z22, pooled 54% over all zips. The price is that the very slowest genuine pulses get trimmed too; that trade-off is documented and not final.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the low-passed trace (blue) with the fitted pulse model (red) overlaid</a:t>
            </a:r>
          </a:p>
          <a:p>
            <a:pPr>
              <a:spcAft>
                <a:spcPts val="500"/>
              </a:spcAft>
            </a:pPr>
            <a:r>
              <a:rPr sz="1400">
                <a:solidFill>
                  <a:srgbClr val="333333"/>
                </a:solidFill>
                <a:latin typeface="Arial"/>
              </a:rPr>
              <a:t>• A real event fits well in every channel at once; a noise trigger fails in every channel — a clean handle on which events are real (how we fit each trace: next slide)</a:t>
            </a:r>
          </a:p>
        </p:txBody>
      </p:sp>
      <p:pic>
        <p:nvPicPr>
          <p:cNvPr id="5" name="Picture 4" descr="fit_examples_zip7_noise.png"/>
          <p:cNvPicPr>
            <a:picLocks noChangeAspect="1"/>
          </p:cNvPicPr>
          <p:nvPr/>
        </p:nvPicPr>
        <p:blipFill>
          <a:blip r:embed="rId2"/>
          <a:stretch>
            <a:fillRect/>
          </a:stretch>
        </p:blipFill>
        <p:spPr>
          <a:xfrm>
            <a:off x="182880" y="2514600"/>
            <a:ext cx="5989320" cy="2781247"/>
          </a:xfrm>
          <a:prstGeom prst="rect">
            <a:avLst/>
          </a:prstGeom>
        </p:spPr>
      </p:pic>
      <p:sp>
        <p:nvSpPr>
          <p:cNvPr id="6" name="TextBox 5"/>
          <p:cNvSpPr txBox="1"/>
          <p:nvPr/>
        </p:nvSpPr>
        <p:spPr>
          <a:xfrm>
            <a:off x="182880" y="5325847"/>
            <a:ext cx="5989320" cy="274320"/>
          </a:xfrm>
          <a:prstGeom prst="rect">
            <a:avLst/>
          </a:prstGeom>
          <a:noFill/>
        </p:spPr>
        <p:txBody>
          <a:bodyPr wrap="square">
            <a:spAutoFit/>
          </a:bodyPr>
          <a:lstStyle/>
          <a:p>
            <a:pPr algn="ctr"/>
            <a:r>
              <a:rPr sz="1100" i="1">
                <a:solidFill>
                  <a:srgbClr val="666666"/>
                </a:solidFill>
                <a:latin typeface="Arial"/>
              </a:rPr>
              <a:t>Noise triggers (Z7): the fit fails in every channel at once</a:t>
            </a:r>
          </a:p>
        </p:txBody>
      </p:sp>
      <p:pic>
        <p:nvPicPr>
          <p:cNvPr id="7" name="Picture 6" descr="fit_examples_zip7_good.png"/>
          <p:cNvPicPr>
            <a:picLocks noChangeAspect="1"/>
          </p:cNvPicPr>
          <p:nvPr/>
        </p:nvPicPr>
        <p:blipFill>
          <a:blip r:embed="rId3"/>
          <a:stretch>
            <a:fillRect/>
          </a:stretch>
        </p:blipFill>
        <p:spPr>
          <a:xfrm>
            <a:off x="6035040" y="2514600"/>
            <a:ext cx="5989320" cy="2677983"/>
          </a:xfrm>
          <a:prstGeom prst="rect">
            <a:avLst/>
          </a:prstGeom>
        </p:spPr>
      </p:pic>
      <p:sp>
        <p:nvSpPr>
          <p:cNvPr id="8" name="TextBox 7"/>
          <p:cNvSpPr txBox="1"/>
          <p:nvPr/>
        </p:nvSpPr>
        <p:spPr>
          <a:xfrm>
            <a:off x="6035040" y="5222583"/>
            <a:ext cx="5989320" cy="274320"/>
          </a:xfrm>
          <a:prstGeom prst="rect">
            <a:avLst/>
          </a:prstGeom>
          <a:noFill/>
        </p:spPr>
        <p:txBody>
          <a:bodyPr wrap="square">
            <a:spAutoFit/>
          </a:bodyPr>
          <a:lstStyle/>
          <a:p>
            <a:pPr algn="ctr"/>
            <a:r>
              <a:rPr sz="1100" i="1">
                <a:solidFill>
                  <a:srgbClr val="666666"/>
                </a:solidFill>
                <a:latin typeface="Arial"/>
              </a:rPr>
              <a:t>K-line events (Z7): consistent good fits across channels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600"/>
              </a:spcAft>
            </a:pPr>
            <a:r>
              <a:rPr sz="1600" b="1">
                <a:solidFill>
                  <a:srgbClr val="1F3864"/>
                </a:solidFill>
                <a:latin typeface="Arial"/>
              </a:rPr>
              <a:t>1.  Low-pass</a:t>
            </a:r>
            <a:r>
              <a:rPr sz="1600">
                <a:solidFill>
                  <a:srgbClr val="333333"/>
                </a:solidFill>
                <a:latin typeface="Arial"/>
              </a:rPr>
              <a:t> — 100 kHz 4th-order Butterworth</a:t>
            </a:r>
          </a:p>
          <a:p>
            <a:pPr>
              <a:spcAft>
                <a:spcPts val="6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600"/>
              </a:spcAft>
            </a:pPr>
            <a:r>
              <a:rPr sz="1600" b="1">
                <a:solidFill>
                  <a:srgbClr val="1F3864"/>
                </a:solidFill>
                <a:latin typeface="Arial"/>
              </a:rPr>
              <a:t>3.  Fit</a:t>
            </a:r>
            <a:r>
              <a:rPr sz="1600">
                <a:solidFill>
                  <a:srgbClr val="333333"/>
                </a:solidFill>
                <a:latin typeface="Arial"/>
              </a:rPr>
              <a:t> — two-exponential model, all 5 parameters free (including the pretrigger t₀):</a:t>
            </a:r>
          </a:p>
        </p:txBody>
      </p:sp>
      <p:pic>
        <p:nvPicPr>
          <p:cNvPr id="5" name="Picture 4" descr="formula_2exp.png"/>
          <p:cNvPicPr>
            <a:picLocks noChangeAspect="1"/>
          </p:cNvPicPr>
          <p:nvPr/>
        </p:nvPicPr>
        <p:blipFill>
          <a:blip r:embed="rId2"/>
          <a:stretch>
            <a:fillRect/>
          </a:stretch>
        </p:blipFill>
        <p:spPr>
          <a:xfrm>
            <a:off x="3114415" y="2395728"/>
            <a:ext cx="5932689" cy="868680"/>
          </a:xfrm>
          <a:prstGeom prst="rect">
            <a:avLst/>
          </a:prstGeom>
        </p:spPr>
      </p:pic>
      <p:sp>
        <p:nvSpPr>
          <p:cNvPr id="6" name="TextBox 5"/>
          <p:cNvSpPr txBox="1"/>
          <p:nvPr/>
        </p:nvSpPr>
        <p:spPr>
          <a:xfrm>
            <a:off x="502920" y="3337560"/>
            <a:ext cx="11247120" cy="1371600"/>
          </a:xfrm>
          <a:prstGeom prst="rect">
            <a:avLst/>
          </a:prstGeom>
          <a:noFill/>
        </p:spPr>
        <p:txBody>
          <a:bodyPr wrap="square">
            <a:spAutoFit/>
          </a:bodyPr>
          <a:lstStyle/>
          <a:p>
            <a:pPr>
              <a:spcAft>
                <a:spcPts val="600"/>
              </a:spcAft>
            </a:pPr>
            <a:r>
              <a:rPr sz="1600" b="1">
                <a:solidFill>
                  <a:srgbClr val="1F3864"/>
                </a:solidFill>
                <a:latin typeface="Arial"/>
              </a:rPr>
              <a:t>4.  Two quality numbers per trace</a:t>
            </a:r>
            <a:r>
              <a:rPr sz="1600">
                <a:solidFill>
                  <a:srgbClr val="333333"/>
                </a:solidFill>
                <a:latin typeface="Arial"/>
              </a:rPr>
              <a:t> (recorded here, not cut yet):</a:t>
            </a:r>
          </a:p>
        </p:txBody>
      </p:sp>
      <p:sp>
        <p:nvSpPr>
          <p:cNvPr id="7" name="TextBox 6"/>
          <p:cNvSpPr txBox="1"/>
          <p:nvPr/>
        </p:nvSpPr>
        <p:spPr>
          <a:xfrm>
            <a:off x="1051560" y="3675887"/>
            <a:ext cx="10607040" cy="822960"/>
          </a:xfrm>
          <a:prstGeom prst="rect">
            <a:avLst/>
          </a:prstGeom>
          <a:noFill/>
        </p:spPr>
        <p:txBody>
          <a:bodyPr wrap="square">
            <a:spAutoFit/>
          </a:bodyPr>
          <a:lstStyle/>
          <a:p>
            <a:pPr>
              <a:spcAft>
                <a:spcPts val="400"/>
              </a:spcAft>
            </a:pPr>
            <a:r>
              <a:rPr sz="1500" b="1">
                <a:solidFill>
                  <a:srgbClr val="333333"/>
                </a:solidFill>
                <a:latin typeface="Arial"/>
              </a:rPr>
              <a:t>•  fit_ok</a:t>
            </a:r>
            <a:r>
              <a:rPr sz="1500">
                <a:solidFill>
                  <a:srgbClr val="333333"/>
                </a:solidFill>
                <a:latin typeface="Arial"/>
              </a:rPr>
              <a:t> — amplitude is positive, and the pulse rises faster than it falls</a:t>
            </a:r>
          </a:p>
          <a:p>
            <a:pPr>
              <a:spcAft>
                <a:spcPts val="400"/>
              </a:spcAft>
            </a:pPr>
            <a:r>
              <a:rPr sz="1500" b="1">
                <a:solidFill>
                  <a:srgbClr val="333333"/>
                </a:solidFill>
                <a:latin typeface="Arial"/>
              </a:rPr>
              <a:t>•  NRMSE</a:t>
            </a:r>
            <a:r>
              <a:rPr sz="1500">
                <a:solidFill>
                  <a:srgbClr val="333333"/>
                </a:solidFill>
                <a:latin typeface="Arial"/>
              </a:rPr>
              <a:t> — RMS of the fit residual ÷ pulse peak  (smaller = better fit)</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5. Align — shift each trace to a common pretrigger</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868680"/>
          </a:xfrm>
          <a:prstGeom prst="rect">
            <a:avLst/>
          </a:prstGeom>
          <a:noFill/>
        </p:spPr>
        <p:txBody>
          <a:bodyPr wrap="square">
            <a:spAutoFit/>
          </a:bodyPr>
          <a:lstStyle/>
          <a:p>
            <a:pPr>
              <a:spcAft>
                <a:spcPts val="500"/>
              </a:spcAft>
            </a:pPr>
            <a:r>
              <a:rPr sz="1600">
                <a:solidFill>
                  <a:srgbClr val="333333"/>
                </a:solidFill>
                <a:latin typeface="Arial"/>
              </a:rPr>
              <a:t>• Shift the measured trace by (fitted pretrigger − 16050) — a pure translation. Drawn at the common pretrigger, the fitted curves stack into one shape family:</a:t>
            </a:r>
          </a:p>
        </p:txBody>
      </p:sp>
      <p:pic>
        <p:nvPicPr>
          <p:cNvPr id="5" name="Picture 4" descr="fan_zip7_PBS1_before_zoom.png"/>
          <p:cNvPicPr>
            <a:picLocks noChangeAspect="1"/>
          </p:cNvPicPr>
          <p:nvPr/>
        </p:nvPicPr>
        <p:blipFill>
          <a:blip r:embed="rId2"/>
          <a:stretch>
            <a:fillRect/>
          </a:stretch>
        </p:blipFill>
        <p:spPr>
          <a:xfrm>
            <a:off x="502920" y="2331720"/>
            <a:ext cx="5806440" cy="3463126"/>
          </a:xfrm>
          <a:prstGeom prst="rect">
            <a:avLst/>
          </a:prstGeom>
        </p:spPr>
      </p:pic>
      <p:sp>
        <p:nvSpPr>
          <p:cNvPr id="6" name="TextBox 5"/>
          <p:cNvSpPr txBox="1"/>
          <p:nvPr/>
        </p:nvSpPr>
        <p:spPr>
          <a:xfrm>
            <a:off x="502920" y="5824846"/>
            <a:ext cx="5806440" cy="274320"/>
          </a:xfrm>
          <a:prstGeom prst="rect">
            <a:avLst/>
          </a:prstGeom>
          <a:noFill/>
        </p:spPr>
        <p:txBody>
          <a:bodyPr wrap="square">
            <a:spAutoFit/>
          </a:bodyPr>
          <a:lstStyle/>
          <a:p>
            <a:pPr algn="ctr"/>
            <a:r>
              <a:rPr sz="1100" i="1">
                <a:solidFill>
                  <a:srgbClr val="666666"/>
                </a:solidFill>
                <a:latin typeface="Arial"/>
              </a:rPr>
              <a:t>All fit_ok fitted curves (Z7 PBS1) — no cut</a:t>
            </a:r>
          </a:p>
        </p:txBody>
      </p:sp>
      <p:pic>
        <p:nvPicPr>
          <p:cNvPr id="7" name="Picture 6" descr="fan_zip7_PBS1_nrmse_zoom.png"/>
          <p:cNvPicPr>
            <a:picLocks noChangeAspect="1"/>
          </p:cNvPicPr>
          <p:nvPr/>
        </p:nvPicPr>
        <p:blipFill>
          <a:blip r:embed="rId3"/>
          <a:stretch>
            <a:fillRect/>
          </a:stretch>
        </p:blipFill>
        <p:spPr>
          <a:xfrm>
            <a:off x="6309360" y="2331720"/>
            <a:ext cx="5806440" cy="3463126"/>
          </a:xfrm>
          <a:prstGeom prst="rect">
            <a:avLst/>
          </a:prstGeom>
        </p:spPr>
      </p:pic>
      <p:sp>
        <p:nvSpPr>
          <p:cNvPr id="8" name="TextBox 7"/>
          <p:cNvSpPr txBox="1"/>
          <p:nvPr/>
        </p:nvSpPr>
        <p:spPr>
          <a:xfrm>
            <a:off x="6309360" y="5824846"/>
            <a:ext cx="5806440" cy="274320"/>
          </a:xfrm>
          <a:prstGeom prst="rect">
            <a:avLst/>
          </a:prstGeom>
          <a:noFill/>
        </p:spPr>
        <p:txBody>
          <a:bodyPr wrap="square">
            <a:spAutoFit/>
          </a:bodyPr>
          <a:lstStyle/>
          <a:p>
            <a:pPr algn="ctr"/>
            <a:r>
              <a:rPr sz="1100" i="1">
                <a:solidFill>
                  <a:srgbClr val="666666"/>
                </a:solidFill>
                <a:latin typeface="Arial"/>
              </a:rPr>
              <a:t>After NRMSE ≤ 0.4 (Z7 PBS1) — one tight shape family</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same bimodal picture, noise peak dominates</a:t>
            </a:r>
          </a:p>
        </p:txBody>
      </p:sp>
      <p:pic>
        <p:nvPicPr>
          <p:cNvPr id="5" name="Picture 4" descr="nrmse_zip7_PBS1.png"/>
          <p:cNvPicPr>
            <a:picLocks noChangeAspect="1"/>
          </p:cNvPicPr>
          <p:nvPr/>
        </p:nvPicPr>
        <p:blipFill>
          <a:blip r:embed="rId2"/>
          <a:stretch>
            <a:fillRect/>
          </a:stretch>
        </p:blipFill>
        <p:spPr>
          <a:xfrm>
            <a:off x="1280160" y="2834640"/>
            <a:ext cx="9601200" cy="2189394"/>
          </a:xfrm>
          <a:prstGeom prst="rect">
            <a:avLst/>
          </a:prstGeom>
        </p:spPr>
      </p:pic>
      <p:sp>
        <p:nvSpPr>
          <p:cNvPr id="6" name="TextBox 5"/>
          <p:cNvSpPr txBox="1"/>
          <p:nvPr/>
        </p:nvSpPr>
        <p:spPr>
          <a:xfrm>
            <a:off x="1280160" y="5054034"/>
            <a:ext cx="9601200" cy="274320"/>
          </a:xfrm>
          <a:prstGeom prst="rect">
            <a:avLst/>
          </a:prstGeom>
          <a:noFill/>
        </p:spPr>
        <p:txBody>
          <a:bodyPr wrap="square">
            <a:spAutoFit/>
          </a:bodyPr>
          <a:lstStyle/>
          <a:p>
            <a:pPr algn="ctr"/>
            <a:r>
              <a:rPr sz="1100" i="1">
                <a:solidFill>
                  <a:srgbClr val="666666"/>
                </a:solidFill>
                <a:latin typeface="Arial"/>
              </a:rPr>
              <a:t>Z7 PBS1: two clean populations, log-log axes</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7_crop.png"/>
          <p:cNvPicPr>
            <a:picLocks noChangeAspect="1"/>
          </p:cNvPicPr>
          <p:nvPr/>
        </p:nvPicPr>
        <p:blipFill>
          <a:blip r:embed="rId2"/>
          <a:stretch>
            <a:fillRect/>
          </a:stretch>
        </p:blipFill>
        <p:spPr>
          <a:xfrm>
            <a:off x="365760" y="2468880"/>
            <a:ext cx="5394960" cy="3720662"/>
          </a:xfrm>
          <a:prstGeom prst="rect">
            <a:avLst/>
          </a:prstGeom>
        </p:spPr>
      </p:pic>
      <p:sp>
        <p:nvSpPr>
          <p:cNvPr id="6" name="TextBox 5"/>
          <p:cNvSpPr txBox="1"/>
          <p:nvPr/>
        </p:nvSpPr>
        <p:spPr>
          <a:xfrm>
            <a:off x="365760" y="6219542"/>
            <a:ext cx="5394960" cy="274320"/>
          </a:xfrm>
          <a:prstGeom prst="rect">
            <a:avLst/>
          </a:prstGeom>
          <a:noFill/>
        </p:spPr>
        <p:txBody>
          <a:bodyPr wrap="square">
            <a:spAutoFit/>
          </a:bodyPr>
          <a:lstStyle/>
          <a:p>
            <a:pPr algn="ctr"/>
            <a:r>
              <a:rPr sz="1100" i="1">
                <a:solidFill>
                  <a:srgbClr val="666666"/>
                </a:solidFill>
                <a:latin typeface="Arial"/>
              </a:rPr>
              <a:t>Z7: NRMSE-rejected events — raw traces are noise</a:t>
            </a:r>
          </a:p>
        </p:txBody>
      </p:sp>
      <p:pic>
        <p:nvPicPr>
          <p:cNvPr id="7" name="Picture 6" descr="fan_cut_zip7_PBS1.png"/>
          <p:cNvPicPr>
            <a:picLocks noChangeAspect="1"/>
          </p:cNvPicPr>
          <p:nvPr/>
        </p:nvPicPr>
        <p:blipFill>
          <a:blip r:embed="rId3"/>
          <a:stretch>
            <a:fillRect/>
          </a:stretch>
        </p:blipFill>
        <p:spPr>
          <a:xfrm>
            <a:off x="5943600" y="2240280"/>
            <a:ext cx="6263640" cy="3429000"/>
          </a:xfrm>
          <a:prstGeom prst="rect">
            <a:avLst/>
          </a:prstGeom>
        </p:spPr>
      </p:pic>
      <p:sp>
        <p:nvSpPr>
          <p:cNvPr id="8" name="TextBox 7"/>
          <p:cNvSpPr txBox="1"/>
          <p:nvPr/>
        </p:nvSpPr>
        <p:spPr>
          <a:xfrm>
            <a:off x="6035040" y="5806440"/>
            <a:ext cx="6126480" cy="960120"/>
          </a:xfrm>
          <a:prstGeom prst="rect">
            <a:avLst/>
          </a:prstGeom>
          <a:noFill/>
        </p:spPr>
        <p:txBody>
          <a:bodyPr wrap="square">
            <a:spAutoFit/>
          </a:bodyPr>
          <a:lstStyle/>
          <a:p>
            <a:r>
              <a:rPr sz="1400" b="1">
                <a:solidFill>
                  <a:srgbClr val="333333"/>
                </a:solidFill>
                <a:latin typeface="Arial"/>
              </a:rPr>
              <a:t>Z7 PBS1   </a:t>
            </a:r>
            <a:r>
              <a:rPr sz="1400" b="1">
                <a:solidFill>
                  <a:srgbClr val="2E7D32"/>
                </a:solidFill>
                <a:latin typeface="Arial"/>
              </a:rPr>
              <a:t>── passes the cut (kept)</a:t>
            </a:r>
            <a:r>
              <a:rPr sz="1400" b="1">
                <a:solidFill>
                  <a:srgbClr val="C0392B"/>
                </a:solidFill>
                <a:latin typeface="Arial"/>
              </a:rPr>
              <a:t>      ── cut away = rejected</a:t>
            </a:r>
          </a:p>
          <a:p>
            <a:r>
              <a:rPr sz="1400" b="0">
                <a:solidFill>
                  <a:srgbClr val="4A70B0"/>
                </a:solidFill>
                <a:latin typeface="Arial"/>
              </a:rPr>
              <a:t>faint blue = measured traces</a:t>
            </a:r>
            <a:r>
              <a:rPr sz="1400" b="0">
                <a:solidFill>
                  <a:srgbClr val="333333"/>
                </a:solidFill>
                <a:latin typeface="Arial"/>
              </a:rPr>
              <a:t>      1931 kept / 77 cut (~3.8%)</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a slow pulse</a:t>
            </a:r>
          </a:p>
        </p:txBody>
      </p:sp>
      <p:pic>
        <p:nvPicPr>
          <p:cNvPr id="5" name="Picture 4" descr="slow_fall_zip7_crop.png"/>
          <p:cNvPicPr>
            <a:picLocks noChangeAspect="1"/>
          </p:cNvPicPr>
          <p:nvPr/>
        </p:nvPicPr>
        <p:blipFill>
          <a:blip r:embed="rId2"/>
          <a:stretch>
            <a:fillRect/>
          </a:stretch>
        </p:blipFill>
        <p:spPr>
          <a:xfrm>
            <a:off x="274320" y="2697480"/>
            <a:ext cx="6126480" cy="3149961"/>
          </a:xfrm>
          <a:prstGeom prst="rect">
            <a:avLst/>
          </a:prstGeom>
        </p:spPr>
      </p:pic>
      <p:sp>
        <p:nvSpPr>
          <p:cNvPr id="6" name="TextBox 5"/>
          <p:cNvSpPr txBox="1"/>
          <p:nvPr/>
        </p:nvSpPr>
        <p:spPr>
          <a:xfrm>
            <a:off x="274320" y="5877441"/>
            <a:ext cx="6126480" cy="274320"/>
          </a:xfrm>
          <a:prstGeom prst="rect">
            <a:avLst/>
          </a:prstGeom>
          <a:noFill/>
        </p:spPr>
        <p:txBody>
          <a:bodyPr wrap="square">
            <a:spAutoFit/>
          </a:bodyPr>
          <a:lstStyle/>
          <a:p>
            <a:pPr algn="ctr"/>
            <a:r>
              <a:rPr sz="1100" i="1">
                <a:solidFill>
                  <a:srgbClr val="666666"/>
                </a:solidFill>
                <a:latin typeface="Arial"/>
              </a:rPr>
              <a:t>Z7, 3 sampled slow-fall events: normal in PBS2/PCS2/PES2, swings only in PDS2</a:t>
            </a:r>
          </a:p>
        </p:txBody>
      </p:sp>
      <p:pic>
        <p:nvPicPr>
          <p:cNvPr id="7" name="Picture 6" descr="time_constants_zip7_PAS1_tfall.png"/>
          <p:cNvPicPr>
            <a:picLocks noChangeAspect="1"/>
          </p:cNvPicPr>
          <p:nvPr/>
        </p:nvPicPr>
        <p:blipFill>
          <a:blip r:embed="rId3"/>
          <a:stretch>
            <a:fillRect/>
          </a:stretch>
        </p:blipFill>
        <p:spPr>
          <a:xfrm>
            <a:off x="6446520" y="3063240"/>
            <a:ext cx="2788920" cy="2085332"/>
          </a:xfrm>
          <a:prstGeom prst="rect">
            <a:avLst/>
          </a:prstGeom>
        </p:spPr>
      </p:pic>
      <p:sp>
        <p:nvSpPr>
          <p:cNvPr id="8" name="TextBox 7"/>
          <p:cNvSpPr txBox="1"/>
          <p:nvPr/>
        </p:nvSpPr>
        <p:spPr>
          <a:xfrm>
            <a:off x="6446520" y="5178572"/>
            <a:ext cx="2788920" cy="274320"/>
          </a:xfrm>
          <a:prstGeom prst="rect">
            <a:avLst/>
          </a:prstGeom>
          <a:noFill/>
        </p:spPr>
        <p:txBody>
          <a:bodyPr wrap="square">
            <a:spAutoFit/>
          </a:bodyPr>
          <a:lstStyle/>
          <a:p>
            <a:pPr algn="ctr"/>
            <a:r>
              <a:rPr sz="1100" i="1">
                <a:solidFill>
                  <a:srgbClr val="666666"/>
                </a:solidFill>
                <a:latin typeface="Arial"/>
              </a:rPr>
              <a:t>Z7 PAS1 — normal channel: narrow (median 0.25 ms)</a:t>
            </a:r>
          </a:p>
        </p:txBody>
      </p:sp>
      <p:pic>
        <p:nvPicPr>
          <p:cNvPr id="9" name="Picture 8" descr="time_constants_zip7_PDS2_tfall.png"/>
          <p:cNvPicPr>
            <a:picLocks noChangeAspect="1"/>
          </p:cNvPicPr>
          <p:nvPr/>
        </p:nvPicPr>
        <p:blipFill>
          <a:blip r:embed="rId4"/>
          <a:stretch>
            <a:fillRect/>
          </a:stretch>
        </p:blipFill>
        <p:spPr>
          <a:xfrm>
            <a:off x="9326880" y="3063240"/>
            <a:ext cx="2788920" cy="2076855"/>
          </a:xfrm>
          <a:prstGeom prst="rect">
            <a:avLst/>
          </a:prstGeom>
        </p:spPr>
      </p:pic>
      <p:sp>
        <p:nvSpPr>
          <p:cNvPr id="10" name="TextBox 9"/>
          <p:cNvSpPr txBox="1"/>
          <p:nvPr/>
        </p:nvSpPr>
        <p:spPr>
          <a:xfrm>
            <a:off x="9326880" y="5170095"/>
            <a:ext cx="2788920" cy="274320"/>
          </a:xfrm>
          <a:prstGeom prst="rect">
            <a:avLst/>
          </a:prstGeom>
          <a:noFill/>
        </p:spPr>
        <p:txBody>
          <a:bodyPr wrap="square">
            <a:spAutoFit/>
          </a:bodyPr>
          <a:lstStyle/>
          <a:p>
            <a:pPr algn="ctr"/>
            <a:r>
              <a:rPr sz="1100" i="1">
                <a:solidFill>
                  <a:srgbClr val="666666"/>
                </a:solidFill>
                <a:latin typeface="Arial"/>
              </a:rPr>
              <a:t>Z7 PDS2 — bad channel: broad tail (median 0.51 ms)</a:t>
            </a:r>
          </a:p>
        </p:txBody>
      </p:sp>
      <p:sp>
        <p:nvSpPr>
          <p:cNvPr id="11" name="TextBox 10"/>
          <p:cNvSpPr txBox="1"/>
          <p:nvPr/>
        </p:nvSpPr>
        <p:spPr>
          <a:xfrm>
            <a:off x="6446520" y="2395728"/>
            <a:ext cx="5669280" cy="502920"/>
          </a:xfrm>
          <a:prstGeom prst="rect">
            <a:avLst/>
          </a:prstGeom>
          <a:noFill/>
        </p:spPr>
        <p:txBody>
          <a:bodyPr wrap="square">
            <a:spAutoFit/>
          </a:bodyPr>
          <a:lstStyle/>
          <a:p>
            <a:r>
              <a:rPr sz="1500" b="1">
                <a:solidFill>
                  <a:srgbClr val="1F3864"/>
                </a:solidFill>
                <a:latin typeface="Arial"/>
              </a:rPr>
              <a:t>Fitted τ_fall distribution, same 0–7 ms axis:</a:t>
            </a:r>
          </a:p>
        </p:txBody>
      </p:sp>
      <p:sp>
        <p:nvSpPr>
          <p:cNvPr id="12" name="TextBox 11"/>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1371600"/>
          </a:xfrm>
          <a:prstGeom prst="rect">
            <a:avLst/>
          </a:prstGeom>
          <a:noFill/>
        </p:spPr>
        <p:txBody>
          <a:bodyPr wrap="square">
            <a:spAutoFit/>
          </a:bodyPr>
          <a:lstStyle/>
          <a:p>
            <a:pPr>
              <a:spcAft>
                <a:spcPts val="500"/>
              </a:spcAft>
            </a:pPr>
            <a:r>
              <a:rPr sz="1800">
                <a:solidFill>
                  <a:srgbClr val="333333"/>
                </a:solidFill>
                <a:latin typeface="Arial"/>
              </a:rPr>
              <a:t>• NRMSE-weighted mean of the fit_ok 2-exp curves</a:t>
            </a:r>
          </a:p>
          <a:p>
            <a:pPr>
              <a:spcAft>
                <a:spcPts val="500"/>
              </a:spcAft>
            </a:pPr>
            <a:r>
              <a:rPr sz="1800">
                <a:solidFill>
                  <a:srgbClr val="333333"/>
                </a:solidFill>
                <a:latin typeface="Arial"/>
              </a:rPr>
              <a:t>• Smooth &amp; noise-free by construction</a:t>
            </a:r>
          </a:p>
          <a:p>
            <a:pPr>
              <a:spcAft>
                <a:spcPts val="500"/>
              </a:spcAft>
            </a:pPr>
            <a:r>
              <a:rPr sz="1800">
                <a:solidFill>
                  <a:srgbClr val="333333"/>
                </a:solidFill>
                <a:latin typeface="Arial"/>
              </a:rPr>
              <a:t>• ROOT TH1D, peak-normalized (+ summed PT / PS1 / PS2)</a:t>
            </a:r>
          </a:p>
        </p:txBody>
      </p:sp>
      <p:pic>
        <p:nvPicPr>
          <p:cNvPr id="5" name="Picture 4" descr="fan_zip7_PBS1_after.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11247120" cy="1371600"/>
          </a:xfrm>
          <a:prstGeom prst="rect">
            <a:avLst/>
          </a:prstGeom>
          <a:noFill/>
        </p:spPr>
        <p:txBody>
          <a:bodyPr wrap="square">
            <a:spAutoFit/>
          </a:bodyPr>
          <a:lstStyle/>
          <a:p>
            <a:pPr>
              <a:spcAft>
                <a:spcPts val="500"/>
              </a:spcAft>
            </a:pPr>
            <a:r>
              <a:rPr sz="1600">
                <a:solidFill>
                  <a:srgbClr val="333333"/>
                </a:solidFill>
                <a:latin typeface="Arial"/>
              </a:rPr>
              <a:t>• Per-channel PCA over the clean fitted curves (fit_ok + NRMSE ≤ 0.4 + τ_rise ≤ 0.3 ms)</a:t>
            </a:r>
          </a:p>
          <a:p>
            <a:pPr>
              <a:spcAft>
                <a:spcPts val="500"/>
              </a:spcAft>
            </a:pPr>
            <a:r>
              <a:rPr sz="1600">
                <a:solidFill>
                  <a:srgbClr val="333333"/>
                </a:solidFill>
                <a:latin typeface="Arial"/>
              </a:rPr>
              <a:t>• nxm0 = mean shape;  nxm1–4 = principal components;  real pulse = Σᵢ ampᵢ · nxmᵢ</a:t>
            </a:r>
          </a:p>
          <a:p>
            <a:pPr>
              <a:spcAft>
                <a:spcPts val="500"/>
              </a:spcAft>
            </a:pPr>
            <a:r>
              <a:rPr sz="1600">
                <a:solidFill>
                  <a:srgbClr val="333333"/>
                </a:solidFill>
                <a:latin typeface="Arial"/>
              </a:rPr>
              <a:t>• PC1 + PC2 ≈ 96–98% of the shape variance;  delivered peak-normalized</a:t>
            </a:r>
          </a:p>
        </p:txBody>
      </p:sp>
      <p:pic>
        <p:nvPicPr>
          <p:cNvPr id="5" name="Picture 4" descr="pca_zip7_PBS1.png"/>
          <p:cNvPicPr>
            <a:picLocks noChangeAspect="1"/>
          </p:cNvPicPr>
          <p:nvPr/>
        </p:nvPicPr>
        <p:blipFill>
          <a:blip r:embed="rId2"/>
          <a:stretch>
            <a:fillRect/>
          </a:stretch>
        </p:blipFill>
        <p:spPr>
          <a:xfrm>
            <a:off x="1044212" y="3017520"/>
            <a:ext cx="10073095" cy="2834639"/>
          </a:xfrm>
          <a:prstGeom prst="rect">
            <a:avLst/>
          </a:prstGeom>
        </p:spPr>
      </p:pic>
      <p:sp>
        <p:nvSpPr>
          <p:cNvPr id="6" name="TextBox 5"/>
          <p:cNvSpPr txBox="1"/>
          <p:nvPr/>
        </p:nvSpPr>
        <p:spPr>
          <a:xfrm>
            <a:off x="1005840" y="5882159"/>
            <a:ext cx="10149840" cy="274320"/>
          </a:xfrm>
          <a:prstGeom prst="rect">
            <a:avLst/>
          </a:prstGeom>
          <a:noFill/>
        </p:spPr>
        <p:txBody>
          <a:bodyPr wrap="square">
            <a:spAutoFit/>
          </a:bodyPr>
          <a:lstStyle/>
          <a:p>
            <a:pPr algn="ctr"/>
            <a:r>
              <a:rPr sz="1100" i="1">
                <a:solidFill>
                  <a:srgbClr val="666666"/>
                </a:solidFill>
                <a:latin typeface="Arial"/>
              </a:rPr>
              <a:t>Z7 PBS1: nxm0 (mean) + nxm1–4 (PCs) — the oscillating components encode rise/fall-time variation</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0"/>
            <a:ext cx="11247120" cy="3200400"/>
          </a:xfrm>
          <a:prstGeom prst="rect">
            <a:avLst/>
          </a:prstGeom>
          <a:noFill/>
        </p:spPr>
        <p:txBody>
          <a:bodyPr wrap="square">
            <a:spAutoFit/>
          </a:bodyPr>
          <a:lstStyle/>
          <a:p>
            <a:pPr>
              <a:spcAft>
                <a:spcPts val="500"/>
              </a:spcAft>
            </a:pPr>
            <a:r>
              <a:rPr sz="2200">
                <a:solidFill>
                  <a:srgbClr val="333333"/>
                </a:solidFill>
                <a:latin typeface="Arial"/>
              </a:rPr>
              <a:t>• Two template families built for all 13 detectors:  1x1 (2-exp weighted)  +  NxM PCA</a:t>
            </a:r>
          </a:p>
          <a:p>
            <a:pPr>
              <a:spcAft>
                <a:spcPts val="500"/>
              </a:spcAft>
            </a:pPr>
            <a:r>
              <a:rPr sz="2200">
                <a:solidFill>
                  <a:srgbClr val="333333"/>
                </a:solidFill>
                <a:latin typeface="Arial"/>
              </a:rPr>
              <a:t>• Delivered in the official cdmsbats PulseTemplates format</a:t>
            </a:r>
          </a:p>
          <a:p>
            <a:pPr>
              <a:spcAft>
                <a:spcPts val="500"/>
              </a:spcAft>
            </a:pPr>
            <a:r>
              <a:rPr sz="2200">
                <a:solidFill>
                  <a:srgbClr val="333333"/>
                </a:solidFill>
                <a:latin typeface="Arial"/>
              </a:rPr>
              <a:t>• Cuts read off the data, verified in raw traces:  NRMSE ≤ 0.4,  τ_rise ≤ 0.3 ms</a:t>
            </a:r>
          </a:p>
        </p:txBody>
      </p:sp>
      <p:sp>
        <p:nvSpPr>
          <p:cNvPr id="5" name="TextBox 4"/>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weak detectors (example: Z22)</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05840"/>
            <a:ext cx="11247120" cy="1965960"/>
          </a:xfrm>
          <a:prstGeom prst="rect">
            <a:avLst/>
          </a:prstGeom>
          <a:noFill/>
        </p:spPr>
        <p:txBody>
          <a:bodyPr wrap="square">
            <a:spAutoFit/>
          </a:bodyPr>
          <a:lstStyle/>
          <a:p>
            <a:pPr>
              <a:spcAft>
                <a:spcPts val="500"/>
              </a:spcAft>
            </a:pPr>
            <a:r>
              <a:rPr sz="1300">
                <a:solidFill>
                  <a:srgbClr val="333333"/>
                </a:solidFill>
                <a:latin typeface="Arial"/>
              </a:rPr>
              <a:t>• Z1 / Z4 / Z6 / Z18 / Z19 / Z22 / Z24: K-line sits inside the noise population — the PTOF window admits a noise-dominated mixture</a:t>
            </a:r>
          </a:p>
          <a:p>
            <a:pPr>
              <a:spcAft>
                <a:spcPts val="500"/>
              </a:spcAft>
            </a:pPr>
            <a:r>
              <a:rPr sz="1300">
                <a:solidFill>
                  <a:srgbClr val="333333"/>
                </a:solidFill>
                <a:latin typeface="Arial"/>
              </a:rPr>
              <a:t>• Same bimodal NRMSE picture, noise peak dominates; the same 0.4 cut digs the real pulses out — Z22 PCS1: 7198 kept / 4788 cut (~40%)</a:t>
            </a:r>
          </a:p>
          <a:p>
            <a:pPr>
              <a:spcAft>
                <a:spcPts val="500"/>
              </a:spcAft>
            </a:pPr>
            <a:r>
              <a:rPr sz="1300">
                <a:solidFill>
                  <a:srgbClr val="333333"/>
                </a:solidFill>
                <a:latin typeface="Arial"/>
              </a:rPr>
              <a:t>• Kept bundle broader than on quiet detectors; steep red curves = fits latching onto sharp noise spikes, not fast pulses being cut</a:t>
            </a:r>
          </a:p>
          <a:p>
            <a:pPr>
              <a:spcAft>
                <a:spcPts val="500"/>
              </a:spcAft>
            </a:pPr>
            <a:r>
              <a:rPr sz="1300">
                <a:solidFill>
                  <a:srgbClr val="333333"/>
                </a:solidFill>
                <a:latin typeface="Arial"/>
              </a:rPr>
              <a:t>• τ_rise ≤ 0.3 ms (after NRMSE): removes 55–74% on weak zips (Z22: 71%) vs 1.6% on Z7 — residual slow drift</a:t>
            </a:r>
          </a:p>
        </p:txBody>
      </p:sp>
      <p:pic>
        <p:nvPicPr>
          <p:cNvPr id="5" name="Picture 4" descr="nrmse_zip22_PAS1.png"/>
          <p:cNvPicPr>
            <a:picLocks noChangeAspect="1"/>
          </p:cNvPicPr>
          <p:nvPr/>
        </p:nvPicPr>
        <p:blipFill>
          <a:blip r:embed="rId2"/>
          <a:stretch>
            <a:fillRect/>
          </a:stretch>
        </p:blipFill>
        <p:spPr>
          <a:xfrm>
            <a:off x="365760" y="3063240"/>
            <a:ext cx="5760720" cy="1319662"/>
          </a:xfrm>
          <a:prstGeom prst="rect">
            <a:avLst/>
          </a:prstGeom>
        </p:spPr>
      </p:pic>
      <p:sp>
        <p:nvSpPr>
          <p:cNvPr id="6" name="TextBox 5"/>
          <p:cNvSpPr txBox="1"/>
          <p:nvPr/>
        </p:nvSpPr>
        <p:spPr>
          <a:xfrm>
            <a:off x="365760" y="4412902"/>
            <a:ext cx="5760720" cy="274320"/>
          </a:xfrm>
          <a:prstGeom prst="rect">
            <a:avLst/>
          </a:prstGeom>
          <a:noFill/>
        </p:spPr>
        <p:txBody>
          <a:bodyPr wrap="square">
            <a:spAutoFit/>
          </a:bodyPr>
          <a:lstStyle/>
          <a:p>
            <a:pPr algn="ctr"/>
            <a:r>
              <a:rPr sz="1100" i="1">
                <a:solidFill>
                  <a:srgbClr val="666666"/>
                </a:solidFill>
                <a:latin typeface="Arial"/>
              </a:rPr>
              <a:t>Z22 PAS1: NRMSE histogram — noise dominates</a:t>
            </a:r>
          </a:p>
        </p:txBody>
      </p:sp>
      <p:pic>
        <p:nvPicPr>
          <p:cNvPr id="7" name="Picture 6" descr="fan_cut_zip22_PCS1.png"/>
          <p:cNvPicPr>
            <a:picLocks noChangeAspect="1"/>
          </p:cNvPicPr>
          <p:nvPr/>
        </p:nvPicPr>
        <p:blipFill>
          <a:blip r:embed="rId3"/>
          <a:stretch>
            <a:fillRect/>
          </a:stretch>
        </p:blipFill>
        <p:spPr>
          <a:xfrm>
            <a:off x="6309360" y="3063240"/>
            <a:ext cx="5760720" cy="1479697"/>
          </a:xfrm>
          <a:prstGeom prst="rect">
            <a:avLst/>
          </a:prstGeom>
        </p:spPr>
      </p:pic>
      <p:sp>
        <p:nvSpPr>
          <p:cNvPr id="8" name="TextBox 7"/>
          <p:cNvSpPr txBox="1"/>
          <p:nvPr/>
        </p:nvSpPr>
        <p:spPr>
          <a:xfrm>
            <a:off x="6309360" y="4572937"/>
            <a:ext cx="5760720" cy="274320"/>
          </a:xfrm>
          <a:prstGeom prst="rect">
            <a:avLst/>
          </a:prstGeom>
          <a:noFill/>
        </p:spPr>
        <p:txBody>
          <a:bodyPr wrap="square">
            <a:spAutoFit/>
          </a:bodyPr>
          <a:lstStyle/>
          <a:p>
            <a:pPr algn="ctr"/>
            <a:r>
              <a:rPr sz="1100" i="1">
                <a:solidFill>
                  <a:srgbClr val="666666"/>
                </a:solidFill>
                <a:latin typeface="Arial"/>
              </a:rPr>
              <a:t>Z22 PCS1: kept (green) vs cut (red)</a:t>
            </a:r>
          </a:p>
        </p:txBody>
      </p:sp>
      <p:pic>
        <p:nvPicPr>
          <p:cNvPr id="9" name="Picture 8" descr="fan_final_zip22_PCS1.png"/>
          <p:cNvPicPr>
            <a:picLocks noChangeAspect="1"/>
          </p:cNvPicPr>
          <p:nvPr/>
        </p:nvPicPr>
        <p:blipFill>
          <a:blip r:embed="rId4"/>
          <a:stretch>
            <a:fillRect/>
          </a:stretch>
        </p:blipFill>
        <p:spPr>
          <a:xfrm>
            <a:off x="3745314" y="5074920"/>
            <a:ext cx="4670891" cy="1417320"/>
          </a:xfrm>
          <a:prstGeom prst="rect">
            <a:avLst/>
          </a:prstGeom>
        </p:spPr>
      </p:pic>
      <p:sp>
        <p:nvSpPr>
          <p:cNvPr id="10" name="TextBox 9"/>
          <p:cNvSpPr txBox="1"/>
          <p:nvPr/>
        </p:nvSpPr>
        <p:spPr>
          <a:xfrm>
            <a:off x="2011680" y="6522240"/>
            <a:ext cx="8138160" cy="274320"/>
          </a:xfrm>
          <a:prstGeom prst="rect">
            <a:avLst/>
          </a:prstGeom>
          <a:noFill/>
        </p:spPr>
        <p:txBody>
          <a:bodyPr wrap="square">
            <a:spAutoFit/>
          </a:bodyPr>
          <a:lstStyle/>
          <a:p>
            <a:pPr algn="ctr"/>
            <a:r>
              <a:rPr sz="1100" i="1">
                <a:solidFill>
                  <a:srgbClr val="666666"/>
                </a:solidFill>
                <a:latin typeface="Arial"/>
              </a:rPr>
              <a:t>Z22 PCS1 after NRMSE ≤ 0.4 + τ_rise ≤ 0.3 ms — final shape family (760 fits)</a:t>
            </a:r>
          </a:p>
        </p:txBody>
      </p:sp>
      <p:sp>
        <p:nvSpPr>
          <p:cNvPr id="11" name="TextBox 10"/>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the τ_rise ≤ 0.3 ms ceiling (PCA input)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965960"/>
          </a:xfrm>
          <a:prstGeom prst="rect">
            <a:avLst/>
          </a:prstGeom>
          <a:noFill/>
        </p:spPr>
        <p:txBody>
          <a:bodyPr wrap="square">
            <a:spAutoFit/>
          </a:bodyPr>
          <a:lstStyle/>
          <a:p>
            <a:pPr>
              <a:spcAft>
                <a:spcPts val="500"/>
              </a:spcAft>
            </a:pPr>
            <a:r>
              <a:rPr sz="1400">
                <a:solidFill>
                  <a:srgbClr val="333333"/>
                </a:solidFill>
                <a:latin typeface="Arial"/>
              </a:rPr>
              <a:t>• Slow baseline drift survives NRMSE (a slow 2-exp hugs it) → mimics a slow rise</a:t>
            </a:r>
          </a:p>
          <a:p>
            <a:pPr>
              <a:spcAft>
                <a:spcPts val="500"/>
              </a:spcAft>
            </a:pPr>
            <a:r>
              <a:rPr sz="1400">
                <a:solidFill>
                  <a:srgbClr val="333333"/>
                </a:solidFill>
                <a:latin typeface="Arial"/>
              </a:rPr>
              <a:t>• Fast pulses at τ_rise ≈ 0.1 ms (p90 ≈ 0.15 ms) → ceiling at 0.3 ms blocks the drift tail</a:t>
            </a:r>
          </a:p>
          <a:p>
            <a:pPr>
              <a:spcAft>
                <a:spcPts val="500"/>
              </a:spcAft>
            </a:pPr>
            <a:r>
              <a:rPr sz="1400">
                <a:solidFill>
                  <a:srgbClr val="333333"/>
                </a:solidFill>
                <a:latin typeface="Arial"/>
              </a:rPr>
              <a:t>• Removed after the NRMSE cut: Z7 1.6% (quiet 2–6%) — weak 55–74% (Z22 71%) — all zips 54%</a:t>
            </a:r>
          </a:p>
          <a:p>
            <a:pPr>
              <a:spcAft>
                <a:spcPts val="500"/>
              </a:spcAft>
            </a:pPr>
            <a:r>
              <a:rPr sz="1400">
                <a:solidFill>
                  <a:srgbClr val="333333"/>
                </a:solidFill>
                <a:latin typeface="Arial"/>
              </a:rPr>
              <a:t>• Trade-off: trims the very slowest genuine pulses → decision pending</a:t>
            </a:r>
          </a:p>
        </p:txBody>
      </p:sp>
      <p:pic>
        <p:nvPicPr>
          <p:cNvPr id="5" name="Picture 4" descr="time_constants_zip7_PAS1.png"/>
          <p:cNvPicPr>
            <a:picLocks noChangeAspect="1"/>
          </p:cNvPicPr>
          <p:nvPr/>
        </p:nvPicPr>
        <p:blipFill>
          <a:blip r:embed="rId2"/>
          <a:stretch>
            <a:fillRect/>
          </a:stretch>
        </p:blipFill>
        <p:spPr>
          <a:xfrm>
            <a:off x="1280160" y="3291840"/>
            <a:ext cx="9601200" cy="1851803"/>
          </a:xfrm>
          <a:prstGeom prst="rect">
            <a:avLst/>
          </a:prstGeom>
        </p:spPr>
      </p:pic>
      <p:sp>
        <p:nvSpPr>
          <p:cNvPr id="6" name="TextBox 5"/>
          <p:cNvSpPr txBox="1"/>
          <p:nvPr/>
        </p:nvSpPr>
        <p:spPr>
          <a:xfrm>
            <a:off x="1280160" y="5173643"/>
            <a:ext cx="9601200" cy="274320"/>
          </a:xfrm>
          <a:prstGeom prst="rect">
            <a:avLst/>
          </a:prstGeom>
          <a:noFill/>
        </p:spPr>
        <p:txBody>
          <a:bodyPr wrap="square">
            <a:spAutoFit/>
          </a:bodyPr>
          <a:lstStyle/>
          <a:p>
            <a:pPr algn="ctr"/>
            <a:r>
              <a:rPr sz="1100" i="1">
                <a:solidFill>
                  <a:srgbClr val="666666"/>
                </a:solidFill>
                <a:latin typeface="Arial"/>
              </a:rPr>
              <a:t>Z7 PAS1: fitted τ_rise (median 0.105 ms) and τ_fall distributions</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