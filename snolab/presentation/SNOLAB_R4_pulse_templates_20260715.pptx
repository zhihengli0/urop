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Finally the measured trace is aligned by shifting it by the fitted pretrigger minus 16050. The two fan plots show the output of the fit step: every fitted curve drawn at the common pretrigger, peak-normalized. On the left, all physical fits - you can see stragglers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noisy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697480"/>
          </a:xfrm>
          <a:prstGeom prst="rect">
            <a:avLst/>
          </a:prstGeom>
          <a:noFill/>
        </p:spPr>
        <p:txBody>
          <a:bodyPr wrap="square">
            <a:spAutoFit/>
          </a:bodyPr>
          <a:lstStyle/>
          <a:p>
            <a:pPr>
              <a:spcAft>
                <a:spcPts val="700"/>
              </a:spcAft>
            </a:pPr>
            <a:r>
              <a:rPr sz="1600" b="1">
                <a:solidFill>
                  <a:srgbClr val="1F3864"/>
                </a:solidFill>
                <a:latin typeface="Arial"/>
              </a:rPr>
              <a:t>1.  Low-pass</a:t>
            </a:r>
            <a:r>
              <a:rPr sz="1600">
                <a:solidFill>
                  <a:srgbClr val="333333"/>
                </a:solidFill>
                <a:latin typeface="Arial"/>
              </a:rPr>
              <a:t> — 100 kHz 4th-order Butterworth</a:t>
            </a:r>
          </a:p>
          <a:p>
            <a:pPr>
              <a:spcAft>
                <a:spcPts val="7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700"/>
              </a:spcAft>
            </a:pPr>
            <a:r>
              <a:rPr sz="1600" b="1">
                <a:solidFill>
                  <a:srgbClr val="1F3864"/>
                </a:solidFill>
                <a:latin typeface="Arial"/>
              </a:rPr>
              <a:t>3.  Fit</a:t>
            </a:r>
            <a:r>
              <a:rPr sz="1600">
                <a:solidFill>
                  <a:srgbClr val="333333"/>
                </a:solidFill>
                <a:latin typeface="Arial"/>
              </a:rPr>
              <a:t> — two-exponential, all 5 parameters free, including the pretrigger offset:</a:t>
            </a:r>
          </a:p>
          <a:p>
            <a:pPr lvl="1">
              <a:spcAft>
                <a:spcPts val="700"/>
              </a:spcAft>
            </a:pPr>
            <a:r>
              <a:rPr sz="1400">
                <a:solidFill>
                  <a:srgbClr val="666666"/>
                </a:solidFill>
                <a:latin typeface="Arial"/>
              </a:rPr>
              <a:t>        y(t) = A·[exp(−(t−t₀)/τ_fall) − exp(−(t−t₀)/τ_rise)] + b,    t₀ = pretrigger ∈ 16050 ± 3000 samples</a:t>
            </a:r>
          </a:p>
          <a:p>
            <a:pPr>
              <a:spcAft>
                <a:spcPts val="700"/>
              </a:spcAft>
            </a:pPr>
            <a:r>
              <a:rPr sz="1600" b="1">
                <a:solidFill>
                  <a:srgbClr val="1F3864"/>
                </a:solidFill>
                <a:latin typeface="Arial"/>
              </a:rPr>
              <a:t>4.  Quality numbers</a:t>
            </a:r>
            <a:r>
              <a:rPr sz="1600">
                <a:solidFill>
                  <a:srgbClr val="333333"/>
                </a:solidFill>
                <a:latin typeface="Arial"/>
              </a:rPr>
              <a:t> — fit_ok := A&gt;0 and 0&lt;τ_rise&lt;τ_fall;   NRMSE := RMS(residual)/fit peak</a:t>
            </a:r>
          </a:p>
          <a:p>
            <a:pPr>
              <a:spcAft>
                <a:spcPts val="700"/>
              </a:spcAft>
            </a:pPr>
            <a:r>
              <a:rPr sz="1600" b="1">
                <a:solidFill>
                  <a:srgbClr val="1F3864"/>
                </a:solidFill>
                <a:latin typeface="Arial"/>
              </a:rPr>
              <a:t>5.  Align</a:t>
            </a:r>
            <a:r>
              <a:rPr sz="1600">
                <a:solidFill>
                  <a:srgbClr val="333333"/>
                </a:solidFill>
                <a:latin typeface="Arial"/>
              </a:rPr>
              <a:t> — shift the measured trace by (fitted pretrigger − 16050)</a:t>
            </a:r>
          </a:p>
        </p:txBody>
      </p:sp>
      <p:pic>
        <p:nvPicPr>
          <p:cNvPr id="5" name="Picture 4" descr="fan_zip7_PBS1_before_zoom.png"/>
          <p:cNvPicPr>
            <a:picLocks noChangeAspect="1"/>
          </p:cNvPicPr>
          <p:nvPr/>
        </p:nvPicPr>
        <p:blipFill>
          <a:blip r:embed="rId2"/>
          <a:stretch>
            <a:fillRect/>
          </a:stretch>
        </p:blipFill>
        <p:spPr>
          <a:xfrm>
            <a:off x="1313560" y="3977639"/>
            <a:ext cx="4139439" cy="2468880"/>
          </a:xfrm>
          <a:prstGeom prst="rect">
            <a:avLst/>
          </a:prstGeom>
        </p:spPr>
      </p:pic>
      <p:sp>
        <p:nvSpPr>
          <p:cNvPr id="6" name="TextBox 5"/>
          <p:cNvSpPr txBox="1"/>
          <p:nvPr/>
        </p:nvSpPr>
        <p:spPr>
          <a:xfrm>
            <a:off x="822960" y="6476519"/>
            <a:ext cx="5120640" cy="274320"/>
          </a:xfrm>
          <a:prstGeom prst="rect">
            <a:avLst/>
          </a:prstGeom>
          <a:noFill/>
        </p:spPr>
        <p:txBody>
          <a:bodyPr wrap="square">
            <a:spAutoFit/>
          </a:bodyPr>
          <a:lstStyle/>
          <a:p>
            <a:pPr algn="ctr"/>
            <a:r>
              <a:rPr sz="1100" i="1">
                <a:solidFill>
                  <a:srgbClr val="666666"/>
                </a:solidFill>
                <a:latin typeface="Arial"/>
              </a:rPr>
              <a:t>All fit_ok fitted curves at the common pretrigger, peak-normalized — zoom on the pulse (Z7 PBS1, time in ms)</a:t>
            </a:r>
          </a:p>
        </p:txBody>
      </p:sp>
      <p:pic>
        <p:nvPicPr>
          <p:cNvPr id="7" name="Picture 6" descr="fan_zip7_PBS1_nrmse_zoom.png"/>
          <p:cNvPicPr>
            <a:picLocks noChangeAspect="1"/>
          </p:cNvPicPr>
          <p:nvPr/>
        </p:nvPicPr>
        <p:blipFill>
          <a:blip r:embed="rId3"/>
          <a:stretch>
            <a:fillRect/>
          </a:stretch>
        </p:blipFill>
        <p:spPr>
          <a:xfrm>
            <a:off x="6799960" y="3977639"/>
            <a:ext cx="4139439" cy="2468880"/>
          </a:xfrm>
          <a:prstGeom prst="rect">
            <a:avLst/>
          </a:prstGeom>
        </p:spPr>
      </p:pic>
      <p:sp>
        <p:nvSpPr>
          <p:cNvPr id="8" name="TextBox 7"/>
          <p:cNvSpPr txBox="1"/>
          <p:nvPr/>
        </p:nvSpPr>
        <p:spPr>
          <a:xfrm>
            <a:off x="6309360" y="6476519"/>
            <a:ext cx="5120640" cy="274320"/>
          </a:xfrm>
          <a:prstGeom prst="rect">
            <a:avLst/>
          </a:prstGeom>
          <a:noFill/>
        </p:spPr>
        <p:txBody>
          <a:bodyPr wrap="square">
            <a:spAutoFit/>
          </a:bodyPr>
          <a:lstStyle/>
          <a:p>
            <a:pPr algn="ctr"/>
            <a:r>
              <a:rPr sz="1100" i="1">
                <a:solidFill>
                  <a:srgbClr val="666666"/>
                </a:solidFill>
                <a:latin typeface="Arial"/>
              </a:rPr>
              <a:t>Same, after NRMSE ≤ 0.4 — a single tight shape family remains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p:txBody>
      </p:sp>
      <p:pic>
        <p:nvPicPr>
          <p:cNvPr id="5" name="Picture 4" descr="fit_examples_zip7_noise.png"/>
          <p:cNvPicPr>
            <a:picLocks noChangeAspect="1"/>
          </p:cNvPicPr>
          <p:nvPr/>
        </p:nvPicPr>
        <p:blipFill>
          <a:blip r:embed="rId2"/>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Noisy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(noisy): noise population dominates — the window alone is not enough</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22_crop.png"/>
          <p:cNvPicPr>
            <a:picLocks noChangeAspect="1"/>
          </p:cNvPicPr>
          <p:nvPr/>
        </p:nvPicPr>
        <p:blipFill>
          <a:blip r:embed="rId2"/>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6126480" y="2651760"/>
            <a:ext cx="5760720" cy="3383280"/>
          </a:xfrm>
          <a:prstGeom prst="rect">
            <a:avLst/>
          </a:prstGeom>
        </p:spPr>
      </p:pic>
      <p:sp>
        <p:nvSpPr>
          <p:cNvPr id="8" name="TextBox 7"/>
          <p:cNvSpPr txBox="1"/>
          <p:nvPr/>
        </p:nvSpPr>
        <p:spPr>
          <a:xfrm>
            <a:off x="6126480" y="6065040"/>
            <a:ext cx="5760720" cy="274320"/>
          </a:xfrm>
          <a:prstGeom prst="rect">
            <a:avLst/>
          </a:prstGeom>
          <a:noFill/>
        </p:spPr>
        <p:txBody>
          <a:bodyPr wrap="square">
            <a:spAutoFit/>
          </a:bodyPr>
          <a:lstStyle/>
          <a:p>
            <a:pPr algn="ctr"/>
            <a:r>
              <a:rPr sz="1100" i="1">
                <a:solidFill>
                  <a:srgbClr val="666666"/>
                </a:solidFill>
                <a:latin typeface="Arial"/>
              </a:rPr>
              <a:t>Z22 PCS1: pass (green) vs rejected (red) — vertically stretched for visibility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411480" y="2651760"/>
            <a:ext cx="6675120" cy="3432048"/>
          </a:xfrm>
          <a:prstGeom prst="rect">
            <a:avLst/>
          </a:prstGeom>
        </p:spPr>
      </p:pic>
      <p:sp>
        <p:nvSpPr>
          <p:cNvPr id="6" name="TextBox 5"/>
          <p:cNvSpPr txBox="1"/>
          <p:nvPr/>
        </p:nvSpPr>
        <p:spPr>
          <a:xfrm>
            <a:off x="411480" y="6113808"/>
            <a:ext cx="6675120" cy="274320"/>
          </a:xfrm>
          <a:prstGeom prst="rect">
            <a:avLst/>
          </a:prstGeom>
          <a:noFill/>
        </p:spPr>
        <p:txBody>
          <a:bodyPr wrap="square">
            <a:spAutoFit/>
          </a:bodyPr>
          <a:lstStyle/>
          <a:p>
            <a:pPr algn="ctr"/>
            <a:r>
              <a:rPr sz="1100" i="1">
                <a:solidFill>
                  <a:srgbClr val="666666"/>
                </a:solidFill>
                <a:latin typeface="Arial"/>
              </a:rPr>
              <a:t>Z7, 3 of the sampled slow-fall events: normal pulses in PBS2/PCS2/PES2, low-frequency swings only in PDS2</a:t>
            </a:r>
          </a:p>
        </p:txBody>
      </p:sp>
      <p:pic>
        <p:nvPicPr>
          <p:cNvPr id="7" name="Picture 6" descr="time_constants_zip7_PAS1_tfall.png"/>
          <p:cNvPicPr>
            <a:picLocks noChangeAspect="1"/>
          </p:cNvPicPr>
          <p:nvPr/>
        </p:nvPicPr>
        <p:blipFill>
          <a:blip r:embed="rId3"/>
          <a:stretch>
            <a:fillRect/>
          </a:stretch>
        </p:blipFill>
        <p:spPr>
          <a:xfrm>
            <a:off x="8077201" y="2450592"/>
            <a:ext cx="3047998" cy="1874519"/>
          </a:xfrm>
          <a:prstGeom prst="rect">
            <a:avLst/>
          </a:prstGeom>
        </p:spPr>
      </p:pic>
      <p:sp>
        <p:nvSpPr>
          <p:cNvPr id="8" name="TextBox 7"/>
          <p:cNvSpPr txBox="1"/>
          <p:nvPr/>
        </p:nvSpPr>
        <p:spPr>
          <a:xfrm>
            <a:off x="7086600" y="4355111"/>
            <a:ext cx="5029200" cy="274320"/>
          </a:xfrm>
          <a:prstGeom prst="rect">
            <a:avLst/>
          </a:prstGeom>
          <a:noFill/>
        </p:spPr>
        <p:txBody>
          <a:bodyPr wrap="square">
            <a:spAutoFit/>
          </a:bodyPr>
          <a:lstStyle/>
          <a:p>
            <a:pPr algn="ctr"/>
            <a:r>
              <a:rPr sz="1100" i="1">
                <a:solidFill>
                  <a:srgbClr val="666666"/>
                </a:solidFill>
                <a:latin typeface="Arial"/>
              </a:rPr>
              <a:t>PAS1 — a normal channel: narrow, median 0.25 ms</a:t>
            </a:r>
          </a:p>
        </p:txBody>
      </p:sp>
      <p:pic>
        <p:nvPicPr>
          <p:cNvPr id="9" name="Picture 8" descr="time_constants_zip7_PDS2_tfall.png"/>
          <p:cNvPicPr>
            <a:picLocks noChangeAspect="1"/>
          </p:cNvPicPr>
          <p:nvPr/>
        </p:nvPicPr>
        <p:blipFill>
          <a:blip r:embed="rId4"/>
          <a:stretch>
            <a:fillRect/>
          </a:stretch>
        </p:blipFill>
        <p:spPr>
          <a:xfrm>
            <a:off x="8070980" y="4480560"/>
            <a:ext cx="3060439" cy="1874519"/>
          </a:xfrm>
          <a:prstGeom prst="rect">
            <a:avLst/>
          </a:prstGeom>
        </p:spPr>
      </p:pic>
      <p:sp>
        <p:nvSpPr>
          <p:cNvPr id="10" name="TextBox 9"/>
          <p:cNvSpPr txBox="1"/>
          <p:nvPr/>
        </p:nvSpPr>
        <p:spPr>
          <a:xfrm>
            <a:off x="7086600" y="6385079"/>
            <a:ext cx="5029200" cy="274320"/>
          </a:xfrm>
          <a:prstGeom prst="rect">
            <a:avLst/>
          </a:prstGeom>
          <a:noFill/>
        </p:spPr>
        <p:txBody>
          <a:bodyPr wrap="square">
            <a:spAutoFit/>
          </a:bodyPr>
          <a:lstStyle/>
          <a:p>
            <a:pPr algn="ctr"/>
            <a:r>
              <a:rPr sz="1100" i="1">
                <a:solidFill>
                  <a:srgbClr val="666666"/>
                </a:solidFill>
                <a:latin typeface="Arial"/>
              </a:rPr>
              <a:t>PDS2 — the bad channel: broad tail, median 0.51 ms (τ_fall in ms)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a:p>
            <a:pPr>
              <a:spcAft>
                <a:spcPts val="500"/>
              </a:spcAft>
            </a:pPr>
            <a:r>
              <a:rPr sz="2200">
                <a:solidFill>
                  <a:srgbClr val="333333"/>
                </a:solidFill>
                <a:latin typeface="Arial"/>
              </a:rPr>
              <a:t>• Next: run the group's template-validation on the new templates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