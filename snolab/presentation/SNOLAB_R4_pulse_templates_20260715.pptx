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I will present the phonon pulse-template work for SNOLAB Run 4: how we selected events on the Ge-activation K-line, the fit-and-align pipeline, the quality cuts and how each was derived, and the two template families we delivered for all 13 detectors.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starts from the Ge activation data. After Cf activation every detector shows the 10.37 keV K-line. Professor Saab's study located the K-line position in the PTOFamps spectrum of each detector - that is the red line in every panel here. Our event selection is exactly one condition: a window around the red line, a factor 1.35 both ways - a rough, eyeballed choice - and nothing else. For each selected event we cache the fully unprocessed raw MIDAS traces of all channels. You can already see on the weak detectors that the window will admit part of the noise-trigger population next to the K-line - that is intentional: the cache is raw, so every later cut stays explicit and reversible.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per-trace algorithm, five steps. First a low-pass filter to smooth away the high-frequency noise, then the baseline is subtracted and the trace is scaled to unit peak - without that normalization the traces could not be overlaid or compared. The core is the fit: a two-exponential function, one exponential for the rise and one for the fall, with all five parameters free, including the pretrigger - the pulse start time. The pretrigger is never pinned: real trigger times vary, and the fitted pretriggers cluster about 230 samples after the nominal value - pinning it would bias the time constants. Each fit records two quality numbers: fit_ok, a physicality check - positive amplitude, rise faster than fall - and the NRMSE, the normalized root-mean-square error, the fit residual divided by the pulse height. At this stage we only record them. Finally the measured trace is aligned by shifting it by the fitted pretrigger minus 16050. The two fan plots show the output of the fit step: every fitted curve drawn at the common pretrigger, peak-normalized. On the left, all physical fits - you can see stragglers spreading off the main bundle. On the right, after the NRMSE cut, a single tight shape family remains. Where that cut comes from is the next part of the talk.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judge the fits we use event-by-channel grids: each row is one event, each column one channel. A real K-line event fits well in all channels simultaneously, while a noise trigger - like the top rows here - fails everywhere at once. The per-panel NRMSE makes this quantitative. All our figures carry the processing chain stamped in the header, so each PNG is self-documenting.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quality cut. The NRMSE distribution of physical fits is bimodal on every detector: a good-fit population around 0.05 to 0.1, and a noise-trigger population around 1 to 2, separated by a valley at about 0.4. We place the cut in the valley - it is read off the distribution itself. On quiet detectors like Z7 the noise population is small; on noisy detectors like Z22 it dominates, and this cut is what digs the real pulses out of the mixture.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trusting the cut we looked at what it throws away. These are event grids of the rejected population on Z22: the raw traces show no pulse at all - they are noise triggers whose slow two-exp fit happened to converge. The fan-cut view on the right overlays the passing fitted curves in green and the rejected ones in red on the aligned data: the green population is the fast physical pulse shape, the red one is spread out with a median NRMSE three times higher. So the cut removes noise, not physics.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lead comes from the fan plot after the cut: some curves still fall very slowly. We chased it by sampling: among events passing the cut, take fall times above one point five milliseconds, randomly sample ten, and draw raw versus fit in every channel. Two findings. First, the sampled events are real pulses - so they stay in, and we apply no fall cut. Second, their extreme fall times all trace back to one channel: only PDS2 is swinging wildly, while the same events are normal fast pulses in the other eleven channels - so the extreme tail is a one-channel low-frequency artifact, not slow physics.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lead is the slow rise. Same recipe: take events that fit well - NRMSE fine - but whose median rise time is above zero point two milliseconds, sample them, look at the raw traces. This time the conclusion is the opposite: these are real pulses. The pretrigger is aligned, peak arriving late, consistent across all channels - they are the echo-trigger population - a genuine second, slower pulse shape. So the slow rise cannot simply be cut away: there is real physics in it, possibly related to where in the crystal the event happens; that is not settled yet.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on the slow-rise side there is also a troublemaker: on detectors with a noisy window, a slow baseline drift also fits as a slow rise, with a tiny residual - NRMSE cannot catch it. The real pulses cluster near zero point one milliseconds while the drift tail stretches much further, so for the template input we set a ceiling at zero point three milliseconds. That blocks the drift and keeps the vast majority of real pulses - including part of the echo-trigger population; the price is that the very slowest genuine pulses get trimmed too. That trade-off is documented and not final - I would like your input on it later.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template family: the analytic one. For each channel we take every physical fitted curve at the common pretrigger and average them with a weight of one over NRMSE squared - badly fit events count less but nothing is excluded by hand. After the cuts, shown here, a single tight shape family remains, and its weighted mean is the 1x1 template - smooth and noise-free by construction because it is built from analytic curves, delivered as peak-normalized ROOT histograms.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family: the NxM PCA templates, built to capture the shape variation we just saw. We run a PCA over the fitted curves that pass all cuts, in a window around the pulse. The mean shape becomes template zero, and the first four principal components become templates one to four - they oscillate and can be negative, and the optimal filter fits a real pulse as a linear combination of them. The first two components already capture 96 to 98 percent of the shape variance on every detector.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both template families are delivered for all 13 detectors in the official PulseTemplates format - the analytic 1x1 templates and the PCA NxM set. The whole chain is traceable from raw traces to every figure, and both quality cuts were read off the data and verified in the raw traces. Two things remain: the final call on the rise-time ceiling versus the genuine slow pulses, and running the group's template-validation method on the new templates. Thank you -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nfluence.slac.stanford.edu/spaces/CDMS/pages/716899864/Ge+Activation+Data+-+Ops+Shift+260612" TargetMode="External"/><Relationship Id="rId3"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2103120"/>
            <a:ext cx="10515600" cy="1463040"/>
          </a:xfrm>
          <a:prstGeom prst="rect">
            <a:avLst/>
          </a:prstGeom>
          <a:noFill/>
        </p:spPr>
        <p:txBody>
          <a:bodyPr wrap="square">
            <a:spAutoFit/>
          </a:bodyPr>
          <a:lstStyle/>
          <a:p>
            <a:r>
              <a:rPr sz="3600" b="1">
                <a:solidFill>
                  <a:srgbClr val="1F3864"/>
                </a:solidFill>
                <a:latin typeface="Arial"/>
              </a:rPr>
              <a:t>NxM Templates for SuperCDMS SNOLAB Run 4 — Ge Activation Data</a:t>
            </a:r>
          </a:p>
        </p:txBody>
      </p:sp>
      <p:sp>
        <p:nvSpPr>
          <p:cNvPr id="3" name="TextBox 2"/>
          <p:cNvSpPr txBox="1"/>
          <p:nvPr/>
        </p:nvSpPr>
        <p:spPr>
          <a:xfrm>
            <a:off x="822960" y="3383280"/>
            <a:ext cx="10515600" cy="822960"/>
          </a:xfrm>
          <a:prstGeom prst="rect">
            <a:avLst/>
          </a:prstGeom>
          <a:noFill/>
        </p:spPr>
        <p:txBody>
          <a:bodyPr wrap="square">
            <a:spAutoFit/>
          </a:bodyPr>
          <a:lstStyle/>
          <a:p>
            <a:r>
              <a:rPr sz="1800">
                <a:solidFill>
                  <a:srgbClr val="666666"/>
                </a:solidFill>
                <a:latin typeface="Arial"/>
              </a:rPr>
              <a:t>K-line event selection  ·  free-pretrigger two-exponential fits  ·  1x1 and NxM (PCA) templates</a:t>
            </a:r>
          </a:p>
        </p:txBody>
      </p:sp>
      <p:sp>
        <p:nvSpPr>
          <p:cNvPr id="4" name="TextBox 3"/>
          <p:cNvSpPr txBox="1"/>
          <p:nvPr/>
        </p:nvSpPr>
        <p:spPr>
          <a:xfrm>
            <a:off x="822960" y="5120640"/>
            <a:ext cx="10515600" cy="731520"/>
          </a:xfrm>
          <a:prstGeom prst="rect">
            <a:avLst/>
          </a:prstGeom>
          <a:noFill/>
        </p:spPr>
        <p:txBody>
          <a:bodyPr wrap="square">
            <a:spAutoFit/>
          </a:bodyPr>
          <a:lstStyle/>
          <a:p>
            <a:r>
              <a:rPr sz="1600">
                <a:solidFill>
                  <a:srgbClr val="333333"/>
                </a:solidFill>
                <a:latin typeface="Arial"/>
              </a:rPr>
              <a:t>Zhiheng Li  —  July 15,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247120" cy="685800"/>
          </a:xfrm>
          <a:prstGeom prst="rect">
            <a:avLst/>
          </a:prstGeom>
          <a:noFill/>
        </p:spPr>
        <p:txBody>
          <a:bodyPr wrap="square">
            <a:spAutoFit/>
          </a:bodyPr>
          <a:lstStyle/>
          <a:p>
            <a:r>
              <a:rPr sz="2700" b="1">
                <a:solidFill>
                  <a:srgbClr val="1F3864"/>
                </a:solidFill>
                <a:latin typeface="Arial"/>
              </a:rPr>
              <a:t>From the Ge-activation K-line to an event sample</a:t>
            </a:r>
          </a:p>
          <a:p>
            <a:r>
              <a:rPr sz="1400">
                <a:solidFill>
                  <a:srgbClr val="666666"/>
                </a:solidFill>
                <a:latin typeface="Arial"/>
              </a:rPr>
              <a:t>Goal: one clean, minimally-biased pulse population per detector × channel</a:t>
            </a:r>
          </a:p>
        </p:txBody>
      </p:sp>
      <p:sp>
        <p:nvSpPr>
          <p:cNvPr id="3" name="Rectangle 2"/>
          <p:cNvSpPr/>
          <p:nvPr/>
        </p:nvSpPr>
        <p:spPr>
          <a:xfrm>
            <a:off x="502920" y="932688"/>
            <a:ext cx="11247120" cy="1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1078992"/>
            <a:ext cx="11247120" cy="1325880"/>
          </a:xfrm>
          <a:prstGeom prst="rect">
            <a:avLst/>
          </a:prstGeom>
          <a:noFill/>
        </p:spPr>
        <p:txBody>
          <a:bodyPr wrap="square">
            <a:spAutoFit/>
          </a:bodyPr>
          <a:lstStyle/>
          <a:p>
            <a:pPr>
              <a:spcAft>
                <a:spcPts val="500"/>
              </a:spcAft>
            </a:pPr>
            <a:r>
              <a:rPr sz="1400">
                <a:solidFill>
                  <a:srgbClr val="333333"/>
                </a:solidFill>
                <a:latin typeface="Arial"/>
              </a:rPr>
              <a:t>• Per detector, Prof. Saab's study marked the 10.37 keV K-line position in PTOFamps — the red line in each panel below</a:t>
            </a:r>
          </a:p>
          <a:p>
            <a:pPr>
              <a:spcAft>
                <a:spcPts val="500"/>
              </a:spcAft>
            </a:pPr>
            <a:r>
              <a:rPr sz="1400">
                <a:solidFill>
                  <a:srgbClr val="333333"/>
                </a:solidFill>
                <a:latin typeface="Arial"/>
              </a:rPr>
              <a:t>• Our event selection: a PTOFamps window bracketing the red line — position ×/÷ 1.35, a rough, somewhat arbitrary eyeballed choice; deliberately minimal, no other cuts</a:t>
            </a:r>
          </a:p>
          <a:p>
            <a:pPr>
              <a:spcAft>
                <a:spcPts val="500"/>
              </a:spcAft>
            </a:pPr>
            <a:r>
              <a:rPr sz="1400">
                <a:solidFill>
                  <a:srgbClr val="333333"/>
                </a:solidFill>
                <a:latin typeface="Arial"/>
              </a:rPr>
              <a:t>• For every selected event: cache the fully unprocessed raw MIDAS traces of all channels + event metadata</a:t>
            </a:r>
          </a:p>
          <a:p>
            <a:pPr>
              <a:spcAft>
                <a:spcPts val="500"/>
              </a:spcAft>
            </a:pPr>
            <a:r>
              <a:rPr sz="1400">
                <a:solidFill>
                  <a:srgbClr val="333333"/>
                </a:solidFill>
                <a:latin typeface="Arial"/>
              </a:rPr>
              <a:t>• 13 detectors (zips) × 27–30 series → ~120 GB raw cache</a:t>
            </a:r>
          </a:p>
        </p:txBody>
      </p:sp>
      <p:sp>
        <p:nvSpPr>
          <p:cNvPr id="5" name="TextBox 4"/>
          <p:cNvSpPr txBox="1"/>
          <p:nvPr/>
        </p:nvSpPr>
        <p:spPr>
          <a:xfrm>
            <a:off x="8549640" y="274320"/>
            <a:ext cx="3200400" cy="658368"/>
          </a:xfrm>
          <a:prstGeom prst="rect">
            <a:avLst/>
          </a:prstGeom>
          <a:noFill/>
        </p:spPr>
        <p:txBody>
          <a:bodyPr wrap="square">
            <a:spAutoFit/>
          </a:bodyPr>
          <a:lstStyle/>
          <a:p>
            <a:pPr algn="r"/>
            <a:r>
              <a:rPr sz="1000">
                <a:solidFill>
                  <a:srgbClr val="666666"/>
                </a:solidFill>
                <a:latin typeface="Arial"/>
              </a:rPr>
              <a:t>Data: Ge Activation Data — Ops Shift 260612</a:t>
            </a:r>
          </a:p>
          <a:p>
            <a:pPr algn="r"/>
            <a:r>
              <a:rPr sz="1000">
                <a:solidFill>
                  <a:srgbClr val="666666"/>
                </a:solidFill>
                <a:latin typeface="Arial"/>
                <a:hlinkClick r:id="rId2"/>
              </a:rPr>
              <a:t>Credit: Prof. Tarek Saab  ·  SuperCDMS Confluence</a:t>
            </a:r>
          </a:p>
        </p:txBody>
      </p:sp>
      <p:pic>
        <p:nvPicPr>
          <p:cNvPr id="6" name="Picture 5" descr="kline_all_zips.png"/>
          <p:cNvPicPr>
            <a:picLocks noChangeAspect="1"/>
          </p:cNvPicPr>
          <p:nvPr/>
        </p:nvPicPr>
        <p:blipFill>
          <a:blip r:embed="rId3"/>
          <a:stretch>
            <a:fillRect/>
          </a:stretch>
        </p:blipFill>
        <p:spPr>
          <a:xfrm>
            <a:off x="1059892" y="2487168"/>
            <a:ext cx="10078312" cy="3977639"/>
          </a:xfrm>
          <a:prstGeom prst="rect">
            <a:avLst/>
          </a:prstGeom>
        </p:spPr>
      </p:pic>
      <p:sp>
        <p:nvSpPr>
          <p:cNvPr id="7" name="TextBox 6"/>
          <p:cNvSpPr txBox="1"/>
          <p:nvPr/>
        </p:nvSpPr>
        <p:spPr>
          <a:xfrm>
            <a:off x="384048" y="6494807"/>
            <a:ext cx="11430000" cy="274320"/>
          </a:xfrm>
          <a:prstGeom prst="rect">
            <a:avLst/>
          </a:prstGeom>
          <a:noFill/>
        </p:spPr>
        <p:txBody>
          <a:bodyPr wrap="square">
            <a:spAutoFit/>
          </a:bodyPr>
          <a:lstStyle/>
          <a:p>
            <a:pPr algn="ctr"/>
            <a:r>
              <a:rPr sz="1100" i="1">
                <a:solidFill>
                  <a:srgbClr val="666666"/>
                </a:solidFill>
                <a:latin typeface="Arial"/>
              </a:rPr>
              <a:t>All 13 detectors, PTOFamps spectra (Prof. Saab's study)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247120" cy="685800"/>
          </a:xfrm>
          <a:prstGeom prst="rect">
            <a:avLst/>
          </a:prstGeom>
          <a:noFill/>
        </p:spPr>
        <p:txBody>
          <a:bodyPr wrap="square">
            <a:spAutoFit/>
          </a:bodyPr>
          <a:lstStyle/>
          <a:p>
            <a:r>
              <a:rPr sz="2700" b="1">
                <a:solidFill>
                  <a:srgbClr val="1F3864"/>
                </a:solidFill>
                <a:latin typeface="Arial"/>
              </a:rPr>
              <a:t>Per-trace algorithm: low-pass → fit → align</a:t>
            </a:r>
          </a:p>
        </p:txBody>
      </p:sp>
      <p:sp>
        <p:nvSpPr>
          <p:cNvPr id="3" name="Rectangle 2"/>
          <p:cNvSpPr/>
          <p:nvPr/>
        </p:nvSpPr>
        <p:spPr>
          <a:xfrm>
            <a:off x="502920" y="932688"/>
            <a:ext cx="11247120" cy="1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11247120" cy="2697480"/>
          </a:xfrm>
          <a:prstGeom prst="rect">
            <a:avLst/>
          </a:prstGeom>
          <a:noFill/>
        </p:spPr>
        <p:txBody>
          <a:bodyPr wrap="square">
            <a:spAutoFit/>
          </a:bodyPr>
          <a:lstStyle/>
          <a:p>
            <a:pPr>
              <a:spcAft>
                <a:spcPts val="700"/>
              </a:spcAft>
            </a:pPr>
            <a:r>
              <a:rPr sz="1600" b="1">
                <a:solidFill>
                  <a:srgbClr val="1F3864"/>
                </a:solidFill>
                <a:latin typeface="Arial"/>
              </a:rPr>
              <a:t>1.  Low-pass</a:t>
            </a:r>
            <a:r>
              <a:rPr sz="1600">
                <a:solidFill>
                  <a:srgbClr val="333333"/>
                </a:solidFill>
                <a:latin typeface="Arial"/>
              </a:rPr>
              <a:t> — 100 kHz 4th-order Butterworth</a:t>
            </a:r>
          </a:p>
          <a:p>
            <a:pPr>
              <a:spcAft>
                <a:spcPts val="700"/>
              </a:spcAft>
            </a:pPr>
            <a:r>
              <a:rPr sz="1600" b="1">
                <a:solidFill>
                  <a:srgbClr val="1F3864"/>
                </a:solidFill>
                <a:latin typeface="Arial"/>
              </a:rPr>
              <a:t>2.  Normalize</a:t>
            </a:r>
            <a:r>
              <a:rPr sz="1600">
                <a:solidFill>
                  <a:srgbClr val="333333"/>
                </a:solidFill>
                <a:latin typeface="Arial"/>
              </a:rPr>
              <a:t> — subtract the baseline, scale the trace to unit peak</a:t>
            </a:r>
          </a:p>
          <a:p>
            <a:pPr>
              <a:spcAft>
                <a:spcPts val="700"/>
              </a:spcAft>
            </a:pPr>
            <a:r>
              <a:rPr sz="1600" b="1">
                <a:solidFill>
                  <a:srgbClr val="1F3864"/>
                </a:solidFill>
                <a:latin typeface="Arial"/>
              </a:rPr>
              <a:t>3.  Fit</a:t>
            </a:r>
            <a:r>
              <a:rPr sz="1600">
                <a:solidFill>
                  <a:srgbClr val="333333"/>
                </a:solidFill>
                <a:latin typeface="Arial"/>
              </a:rPr>
              <a:t> — two-exponential, all 5 parameters free, including the pretrigger offset:</a:t>
            </a:r>
          </a:p>
          <a:p>
            <a:pPr lvl="1">
              <a:spcAft>
                <a:spcPts val="700"/>
              </a:spcAft>
            </a:pPr>
            <a:r>
              <a:rPr sz="1400">
                <a:solidFill>
                  <a:srgbClr val="666666"/>
                </a:solidFill>
                <a:latin typeface="Arial"/>
              </a:rPr>
              <a:t>        y(t) = A·[exp(−(t−t₀)/τ_fall) − exp(−(t−t₀)/τ_rise)] + b,    t₀ = pretrigger ∈ 16050 ± 3000 samples</a:t>
            </a:r>
          </a:p>
          <a:p>
            <a:pPr>
              <a:spcAft>
                <a:spcPts val="700"/>
              </a:spcAft>
            </a:pPr>
            <a:r>
              <a:rPr sz="1600" b="1">
                <a:solidFill>
                  <a:srgbClr val="1F3864"/>
                </a:solidFill>
                <a:latin typeface="Arial"/>
              </a:rPr>
              <a:t>4.  Quality numbers</a:t>
            </a:r>
            <a:r>
              <a:rPr sz="1600">
                <a:solidFill>
                  <a:srgbClr val="333333"/>
                </a:solidFill>
                <a:latin typeface="Arial"/>
              </a:rPr>
              <a:t> — fit_ok := A&gt;0 and 0&lt;τ_rise&lt;τ_fall;   NRMSE := RMS(residual)/fit peak</a:t>
            </a:r>
          </a:p>
          <a:p>
            <a:pPr>
              <a:spcAft>
                <a:spcPts val="700"/>
              </a:spcAft>
            </a:pPr>
            <a:r>
              <a:rPr sz="1600" b="1">
                <a:solidFill>
                  <a:srgbClr val="1F3864"/>
                </a:solidFill>
                <a:latin typeface="Arial"/>
              </a:rPr>
              <a:t>5.  Align</a:t>
            </a:r>
            <a:r>
              <a:rPr sz="1600">
                <a:solidFill>
                  <a:srgbClr val="333333"/>
                </a:solidFill>
                <a:latin typeface="Arial"/>
              </a:rPr>
              <a:t> — shift the measured trace by (fitted pretrigger − 16050)</a:t>
            </a:r>
          </a:p>
        </p:txBody>
      </p:sp>
      <p:pic>
        <p:nvPicPr>
          <p:cNvPr id="5" name="Picture 4" descr="fan_zip7_PBS1_before_zoom.png"/>
          <p:cNvPicPr>
            <a:picLocks noChangeAspect="1"/>
          </p:cNvPicPr>
          <p:nvPr/>
        </p:nvPicPr>
        <p:blipFill>
          <a:blip r:embed="rId2"/>
          <a:stretch>
            <a:fillRect/>
          </a:stretch>
        </p:blipFill>
        <p:spPr>
          <a:xfrm>
            <a:off x="1313560" y="3977639"/>
            <a:ext cx="4139439" cy="2468880"/>
          </a:xfrm>
          <a:prstGeom prst="rect">
            <a:avLst/>
          </a:prstGeom>
        </p:spPr>
      </p:pic>
      <p:sp>
        <p:nvSpPr>
          <p:cNvPr id="6" name="TextBox 5"/>
          <p:cNvSpPr txBox="1"/>
          <p:nvPr/>
        </p:nvSpPr>
        <p:spPr>
          <a:xfrm>
            <a:off x="822960" y="6476519"/>
            <a:ext cx="5120640" cy="274320"/>
          </a:xfrm>
          <a:prstGeom prst="rect">
            <a:avLst/>
          </a:prstGeom>
          <a:noFill/>
        </p:spPr>
        <p:txBody>
          <a:bodyPr wrap="square">
            <a:spAutoFit/>
          </a:bodyPr>
          <a:lstStyle/>
          <a:p>
            <a:pPr algn="ctr"/>
            <a:r>
              <a:rPr sz="1100" i="1">
                <a:solidFill>
                  <a:srgbClr val="666666"/>
                </a:solidFill>
                <a:latin typeface="Arial"/>
              </a:rPr>
              <a:t>All fit_ok fitted curves at the common pretrigger, peak-normalized — zoom on the pulse (Z7 PBS1, time in ms)</a:t>
            </a:r>
          </a:p>
        </p:txBody>
      </p:sp>
      <p:pic>
        <p:nvPicPr>
          <p:cNvPr id="7" name="Picture 6" descr="fan_zip7_PBS1_nrmse_zoom.png"/>
          <p:cNvPicPr>
            <a:picLocks noChangeAspect="1"/>
          </p:cNvPicPr>
          <p:nvPr/>
        </p:nvPicPr>
        <p:blipFill>
          <a:blip r:embed="rId3"/>
          <a:stretch>
            <a:fillRect/>
          </a:stretch>
        </p:blipFill>
        <p:spPr>
          <a:xfrm>
            <a:off x="6799960" y="3977639"/>
            <a:ext cx="4139439" cy="2468880"/>
          </a:xfrm>
          <a:prstGeom prst="rect">
            <a:avLst/>
          </a:prstGeom>
        </p:spPr>
      </p:pic>
      <p:sp>
        <p:nvSpPr>
          <p:cNvPr id="8" name="TextBox 7"/>
          <p:cNvSpPr txBox="1"/>
          <p:nvPr/>
        </p:nvSpPr>
        <p:spPr>
          <a:xfrm>
            <a:off x="6309360" y="6476519"/>
            <a:ext cx="5120640" cy="274320"/>
          </a:xfrm>
          <a:prstGeom prst="rect">
            <a:avLst/>
          </a:prstGeom>
          <a:noFill/>
        </p:spPr>
        <p:txBody>
          <a:bodyPr wrap="square">
            <a:spAutoFit/>
          </a:bodyPr>
          <a:lstStyle/>
          <a:p>
            <a:pPr algn="ctr"/>
            <a:r>
              <a:rPr sz="1100" i="1">
                <a:solidFill>
                  <a:srgbClr val="666666"/>
                </a:solidFill>
                <a:latin typeface="Arial"/>
              </a:rPr>
              <a:t>Same, after NRMSE ≤ 0.4 — a single tight shape family remains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247120" cy="685800"/>
          </a:xfrm>
          <a:prstGeom prst="rect">
            <a:avLst/>
          </a:prstGeom>
          <a:noFill/>
        </p:spPr>
        <p:txBody>
          <a:bodyPr wrap="square">
            <a:spAutoFit/>
          </a:bodyPr>
          <a:lstStyle/>
          <a:p>
            <a:r>
              <a:rPr sz="2700" b="1">
                <a:solidFill>
                  <a:srgbClr val="1F3864"/>
                </a:solidFill>
                <a:latin typeface="Arial"/>
              </a:rPr>
              <a:t>Fit quality at a glance — event × channel grids</a:t>
            </a:r>
          </a:p>
        </p:txBody>
      </p:sp>
      <p:sp>
        <p:nvSpPr>
          <p:cNvPr id="3" name="Rectangle 2"/>
          <p:cNvSpPr/>
          <p:nvPr/>
        </p:nvSpPr>
        <p:spPr>
          <a:xfrm>
            <a:off x="502920" y="932688"/>
            <a:ext cx="11247120" cy="1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0"/>
            <a:ext cx="11247120" cy="1188720"/>
          </a:xfrm>
          <a:prstGeom prst="rect">
            <a:avLst/>
          </a:prstGeom>
          <a:noFill/>
        </p:spPr>
        <p:txBody>
          <a:bodyPr wrap="square">
            <a:spAutoFit/>
          </a:bodyPr>
          <a:lstStyle/>
          <a:p>
            <a:pPr>
              <a:spcAft>
                <a:spcPts val="500"/>
              </a:spcAft>
            </a:pPr>
            <a:r>
              <a:rPr sz="1400">
                <a:solidFill>
                  <a:srgbClr val="333333"/>
                </a:solidFill>
                <a:latin typeface="Arial"/>
              </a:rPr>
              <a:t>• One row per event, one column per channel: low-passed trace (blue) vs 2-exp fit (red), NRMSE stamped per panel</a:t>
            </a:r>
          </a:p>
          <a:p>
            <a:pPr>
              <a:spcAft>
                <a:spcPts val="500"/>
              </a:spcAft>
            </a:pPr>
            <a:r>
              <a:rPr sz="1400">
                <a:solidFill>
                  <a:srgbClr val="333333"/>
                </a:solidFill>
                <a:latin typeface="Arial"/>
              </a:rPr>
              <a:t>• The same event fits consistently across channels; a noise trigger fails in all channels at once</a:t>
            </a:r>
          </a:p>
        </p:txBody>
      </p:sp>
      <p:pic>
        <p:nvPicPr>
          <p:cNvPr id="5" name="Picture 4" descr="fit_examples_zip7_noise.png"/>
          <p:cNvPicPr>
            <a:picLocks noChangeAspect="1"/>
          </p:cNvPicPr>
          <p:nvPr/>
        </p:nvPicPr>
        <p:blipFill>
          <a:blip r:embed="rId2"/>
          <a:stretch>
            <a:fillRect/>
          </a:stretch>
        </p:blipFill>
        <p:spPr>
          <a:xfrm>
            <a:off x="502920" y="2377440"/>
            <a:ext cx="5486400" cy="2547707"/>
          </a:xfrm>
          <a:prstGeom prst="rect">
            <a:avLst/>
          </a:prstGeom>
        </p:spPr>
      </p:pic>
      <p:sp>
        <p:nvSpPr>
          <p:cNvPr id="6" name="TextBox 5"/>
          <p:cNvSpPr txBox="1"/>
          <p:nvPr/>
        </p:nvSpPr>
        <p:spPr>
          <a:xfrm>
            <a:off x="502920" y="4955147"/>
            <a:ext cx="5486400" cy="274320"/>
          </a:xfrm>
          <a:prstGeom prst="rect">
            <a:avLst/>
          </a:prstGeom>
          <a:noFill/>
        </p:spPr>
        <p:txBody>
          <a:bodyPr wrap="square">
            <a:spAutoFit/>
          </a:bodyPr>
          <a:lstStyle/>
          <a:p>
            <a:pPr algn="ctr"/>
            <a:r>
              <a:rPr sz="1100" i="1">
                <a:solidFill>
                  <a:srgbClr val="666666"/>
                </a:solidFill>
                <a:latin typeface="Arial"/>
              </a:rPr>
              <a:t>Noise triggers: the fit fails in every channel at once</a:t>
            </a:r>
          </a:p>
        </p:txBody>
      </p:sp>
      <p:pic>
        <p:nvPicPr>
          <p:cNvPr id="7" name="Picture 6" descr="fit_examples_zip7_good.png"/>
          <p:cNvPicPr>
            <a:picLocks noChangeAspect="1"/>
          </p:cNvPicPr>
          <p:nvPr/>
        </p:nvPicPr>
        <p:blipFill>
          <a:blip r:embed="rId3"/>
          <a:stretch>
            <a:fillRect/>
          </a:stretch>
        </p:blipFill>
        <p:spPr>
          <a:xfrm>
            <a:off x="6263640" y="2377440"/>
            <a:ext cx="5486400" cy="2453114"/>
          </a:xfrm>
          <a:prstGeom prst="rect">
            <a:avLst/>
          </a:prstGeom>
        </p:spPr>
      </p:pic>
      <p:sp>
        <p:nvSpPr>
          <p:cNvPr id="8" name="TextBox 7"/>
          <p:cNvSpPr txBox="1"/>
          <p:nvPr/>
        </p:nvSpPr>
        <p:spPr>
          <a:xfrm>
            <a:off x="6263640" y="4860554"/>
            <a:ext cx="5486400" cy="274320"/>
          </a:xfrm>
          <a:prstGeom prst="rect">
            <a:avLst/>
          </a:prstGeom>
          <a:noFill/>
        </p:spPr>
        <p:txBody>
          <a:bodyPr wrap="square">
            <a:spAutoFit/>
          </a:bodyPr>
          <a:lstStyle/>
          <a:p>
            <a:pPr algn="ctr"/>
            <a:r>
              <a:rPr sz="1100" i="1">
                <a:solidFill>
                  <a:srgbClr val="666666"/>
                </a:solidFill>
                <a:latin typeface="Arial"/>
              </a:rPr>
              <a:t>K-line events: consistent good fits across channels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247120" cy="685800"/>
          </a:xfrm>
          <a:prstGeom prst="rect">
            <a:avLst/>
          </a:prstGeom>
          <a:noFill/>
        </p:spPr>
        <p:txBody>
          <a:bodyPr wrap="square">
            <a:spAutoFit/>
          </a:bodyPr>
          <a:lstStyle/>
          <a:p>
            <a:r>
              <a:rPr sz="2700" b="1">
                <a:solidFill>
                  <a:srgbClr val="1F3864"/>
                </a:solidFill>
                <a:latin typeface="Arial"/>
              </a:rPr>
              <a:t>Quality cut 1: NRMSE ≤ 0.4 — where the number comes from</a:t>
            </a:r>
          </a:p>
        </p:txBody>
      </p:sp>
      <p:sp>
        <p:nvSpPr>
          <p:cNvPr id="3" name="Rectangle 2"/>
          <p:cNvSpPr/>
          <p:nvPr/>
        </p:nvSpPr>
        <p:spPr>
          <a:xfrm>
            <a:off x="502920" y="932688"/>
            <a:ext cx="11247120" cy="1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0"/>
            <a:ext cx="11247120" cy="1417320"/>
          </a:xfrm>
          <a:prstGeom prst="rect">
            <a:avLst/>
          </a:prstGeom>
          <a:noFill/>
        </p:spPr>
        <p:txBody>
          <a:bodyPr wrap="square">
            <a:spAutoFit/>
          </a:bodyPr>
          <a:lstStyle/>
          <a:p>
            <a:pPr>
              <a:spcAft>
                <a:spcPts val="500"/>
              </a:spcAft>
            </a:pPr>
            <a:r>
              <a:rPr sz="1400">
                <a:solidFill>
                  <a:srgbClr val="333333"/>
                </a:solidFill>
                <a:latin typeface="Arial"/>
              </a:rPr>
              <a:t>• NRMSE of fit_ok events is bimodal: good fits (median ≈ 0.05–0.1) vs noise triggers (≈ 1–2), valley at ≈ 0.4–0.5</a:t>
            </a:r>
          </a:p>
          <a:p>
            <a:pPr>
              <a:spcAft>
                <a:spcPts val="500"/>
              </a:spcAft>
            </a:pPr>
            <a:r>
              <a:rPr sz="1400">
                <a:solidFill>
                  <a:srgbClr val="333333"/>
                </a:solidFill>
                <a:latin typeface="Arial"/>
              </a:rPr>
              <a:t>• The cut sits in the valley — it is read off the distribution, not tuned on the templates</a:t>
            </a:r>
          </a:p>
          <a:p>
            <a:pPr>
              <a:spcAft>
                <a:spcPts val="500"/>
              </a:spcAft>
            </a:pPr>
            <a:r>
              <a:rPr sz="1400">
                <a:solidFill>
                  <a:srgbClr val="333333"/>
                </a:solidFill>
                <a:latin typeface="Arial"/>
              </a:rPr>
              <a:t>• Noisy detectors (Z1, Z4, Z6, Z18, Z19, Z22, Z24): the PTOF window admits a noise-dominated mixture — this cut is what extracts the real-pulse population</a:t>
            </a:r>
          </a:p>
        </p:txBody>
      </p:sp>
      <p:pic>
        <p:nvPicPr>
          <p:cNvPr id="5" name="Picture 4" descr="nrmse_zip7_PBS1.png"/>
          <p:cNvPicPr>
            <a:picLocks noChangeAspect="1"/>
          </p:cNvPicPr>
          <p:nvPr/>
        </p:nvPicPr>
        <p:blipFill>
          <a:blip r:embed="rId2"/>
          <a:stretch>
            <a:fillRect/>
          </a:stretch>
        </p:blipFill>
        <p:spPr>
          <a:xfrm>
            <a:off x="1970576" y="2651760"/>
            <a:ext cx="8220367" cy="1874519"/>
          </a:xfrm>
          <a:prstGeom prst="rect">
            <a:avLst/>
          </a:prstGeom>
        </p:spPr>
      </p:pic>
      <p:sp>
        <p:nvSpPr>
          <p:cNvPr id="6" name="TextBox 5"/>
          <p:cNvSpPr txBox="1"/>
          <p:nvPr/>
        </p:nvSpPr>
        <p:spPr>
          <a:xfrm>
            <a:off x="1737360" y="4556279"/>
            <a:ext cx="8686800" cy="274320"/>
          </a:xfrm>
          <a:prstGeom prst="rect">
            <a:avLst/>
          </a:prstGeom>
          <a:noFill/>
        </p:spPr>
        <p:txBody>
          <a:bodyPr wrap="square">
            <a:spAutoFit/>
          </a:bodyPr>
          <a:lstStyle/>
          <a:p>
            <a:pPr algn="ctr"/>
            <a:r>
              <a:rPr sz="1100" i="1">
                <a:solidFill>
                  <a:srgbClr val="666666"/>
                </a:solidFill>
                <a:latin typeface="Arial"/>
              </a:rPr>
              <a:t>Z7 PBS1 (quiet): two clean populations, log-log axes</a:t>
            </a:r>
          </a:p>
        </p:txBody>
      </p:sp>
      <p:pic>
        <p:nvPicPr>
          <p:cNvPr id="7" name="Picture 6" descr="nrmse_zip22_PAS1.png"/>
          <p:cNvPicPr>
            <a:picLocks noChangeAspect="1"/>
          </p:cNvPicPr>
          <p:nvPr/>
        </p:nvPicPr>
        <p:blipFill>
          <a:blip r:embed="rId3"/>
          <a:stretch>
            <a:fillRect/>
          </a:stretch>
        </p:blipFill>
        <p:spPr>
          <a:xfrm>
            <a:off x="1989344" y="4754880"/>
            <a:ext cx="8182831" cy="1874519"/>
          </a:xfrm>
          <a:prstGeom prst="rect">
            <a:avLst/>
          </a:prstGeom>
        </p:spPr>
      </p:pic>
      <p:sp>
        <p:nvSpPr>
          <p:cNvPr id="8" name="TextBox 7"/>
          <p:cNvSpPr txBox="1"/>
          <p:nvPr/>
        </p:nvSpPr>
        <p:spPr>
          <a:xfrm>
            <a:off x="1737360" y="6659399"/>
            <a:ext cx="8686800" cy="274320"/>
          </a:xfrm>
          <a:prstGeom prst="rect">
            <a:avLst/>
          </a:prstGeom>
          <a:noFill/>
        </p:spPr>
        <p:txBody>
          <a:bodyPr wrap="square">
            <a:spAutoFit/>
          </a:bodyPr>
          <a:lstStyle/>
          <a:p>
            <a:pPr algn="ctr"/>
            <a:r>
              <a:rPr sz="1100" i="1">
                <a:solidFill>
                  <a:srgbClr val="666666"/>
                </a:solidFill>
                <a:latin typeface="Arial"/>
              </a:rPr>
              <a:t>Z22 PAS1 (noisy): noise population dominates — the window alone is not enough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247120" cy="685800"/>
          </a:xfrm>
          <a:prstGeom prst="rect">
            <a:avLst/>
          </a:prstGeom>
          <a:noFill/>
        </p:spPr>
        <p:txBody>
          <a:bodyPr wrap="square">
            <a:spAutoFit/>
          </a:bodyPr>
          <a:lstStyle/>
          <a:p>
            <a:r>
              <a:rPr sz="2700" b="1">
                <a:solidFill>
                  <a:srgbClr val="1F3864"/>
                </a:solidFill>
                <a:latin typeface="Arial"/>
              </a:rPr>
              <a:t>The rejected population is noise — verified in the raw traces</a:t>
            </a:r>
          </a:p>
        </p:txBody>
      </p:sp>
      <p:sp>
        <p:nvSpPr>
          <p:cNvPr id="3" name="Rectangle 2"/>
          <p:cNvSpPr/>
          <p:nvPr/>
        </p:nvSpPr>
        <p:spPr>
          <a:xfrm>
            <a:off x="502920" y="932688"/>
            <a:ext cx="11247120" cy="1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0"/>
            <a:ext cx="11247120" cy="914400"/>
          </a:xfrm>
          <a:prstGeom prst="rect">
            <a:avLst/>
          </a:prstGeom>
          <a:noFill/>
        </p:spPr>
        <p:txBody>
          <a:bodyPr wrap="square">
            <a:spAutoFit/>
          </a:bodyPr>
          <a:lstStyle/>
          <a:p>
            <a:pPr>
              <a:spcAft>
                <a:spcPts val="500"/>
              </a:spcAft>
            </a:pPr>
            <a:r>
              <a:rPr sz="1400">
                <a:solidFill>
                  <a:srgbClr val="333333"/>
                </a:solidFill>
                <a:latin typeface="Arial"/>
              </a:rPr>
              <a:t>• Event grids of NRMSE-rejected events (median NRMSE &gt; 0.4 across channels): the raw traces show no pulse — the cut removes noise triggers, not physics</a:t>
            </a:r>
          </a:p>
        </p:txBody>
      </p:sp>
      <p:pic>
        <p:nvPicPr>
          <p:cNvPr id="5" name="Picture 4" descr="slow_rise_zip22_crop.png"/>
          <p:cNvPicPr>
            <a:picLocks noChangeAspect="1"/>
          </p:cNvPicPr>
          <p:nvPr/>
        </p:nvPicPr>
        <p:blipFill>
          <a:blip r:embed="rId2"/>
          <a:stretch>
            <a:fillRect/>
          </a:stretch>
        </p:blipFill>
        <p:spPr>
          <a:xfrm>
            <a:off x="502920" y="2468880"/>
            <a:ext cx="5394960" cy="3699401"/>
          </a:xfrm>
          <a:prstGeom prst="rect">
            <a:avLst/>
          </a:prstGeom>
        </p:spPr>
      </p:pic>
      <p:sp>
        <p:nvSpPr>
          <p:cNvPr id="6" name="TextBox 5"/>
          <p:cNvSpPr txBox="1"/>
          <p:nvPr/>
        </p:nvSpPr>
        <p:spPr>
          <a:xfrm>
            <a:off x="502920" y="6198281"/>
            <a:ext cx="5394960" cy="274320"/>
          </a:xfrm>
          <a:prstGeom prst="rect">
            <a:avLst/>
          </a:prstGeom>
          <a:noFill/>
        </p:spPr>
        <p:txBody>
          <a:bodyPr wrap="square">
            <a:spAutoFit/>
          </a:bodyPr>
          <a:lstStyle/>
          <a:p>
            <a:pPr algn="ctr"/>
            <a:r>
              <a:rPr sz="1100" i="1">
                <a:solidFill>
                  <a:srgbClr val="666666"/>
                </a:solidFill>
                <a:latin typeface="Arial"/>
              </a:rPr>
              <a:t>Z22: NRMSE-rejected events — raw traces are noise</a:t>
            </a:r>
          </a:p>
        </p:txBody>
      </p:sp>
      <p:pic>
        <p:nvPicPr>
          <p:cNvPr id="7" name="Picture 6" descr="fan_cut_zip22_PCS1.png"/>
          <p:cNvPicPr>
            <a:picLocks noChangeAspect="1"/>
          </p:cNvPicPr>
          <p:nvPr/>
        </p:nvPicPr>
        <p:blipFill>
          <a:blip r:embed="rId3"/>
          <a:stretch>
            <a:fillRect/>
          </a:stretch>
        </p:blipFill>
        <p:spPr>
          <a:xfrm>
            <a:off x="6126480" y="2651760"/>
            <a:ext cx="5760720" cy="3383280"/>
          </a:xfrm>
          <a:prstGeom prst="rect">
            <a:avLst/>
          </a:prstGeom>
        </p:spPr>
      </p:pic>
      <p:sp>
        <p:nvSpPr>
          <p:cNvPr id="8" name="TextBox 7"/>
          <p:cNvSpPr txBox="1"/>
          <p:nvPr/>
        </p:nvSpPr>
        <p:spPr>
          <a:xfrm>
            <a:off x="6126480" y="6065040"/>
            <a:ext cx="5760720" cy="274320"/>
          </a:xfrm>
          <a:prstGeom prst="rect">
            <a:avLst/>
          </a:prstGeom>
          <a:noFill/>
        </p:spPr>
        <p:txBody>
          <a:bodyPr wrap="square">
            <a:spAutoFit/>
          </a:bodyPr>
          <a:lstStyle/>
          <a:p>
            <a:pPr algn="ctr"/>
            <a:r>
              <a:rPr sz="1100" i="1">
                <a:solidFill>
                  <a:srgbClr val="666666"/>
                </a:solidFill>
                <a:latin typeface="Arial"/>
              </a:rPr>
              <a:t>Z22 PCS1: pass (green) vs rejected (red) — vertically stretched for visibility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247120" cy="685800"/>
          </a:xfrm>
          <a:prstGeom prst="rect">
            <a:avLst/>
          </a:prstGeom>
          <a:noFill/>
        </p:spPr>
        <p:txBody>
          <a:bodyPr wrap="square">
            <a:spAutoFit/>
          </a:bodyPr>
          <a:lstStyle/>
          <a:p>
            <a:r>
              <a:rPr sz="2700" b="1">
                <a:solidFill>
                  <a:srgbClr val="1F3864"/>
                </a:solidFill>
                <a:latin typeface="Arial"/>
              </a:rPr>
              <a:t>Follow-up 1 — the slow-fall tail is a one-channel artifact</a:t>
            </a:r>
          </a:p>
        </p:txBody>
      </p:sp>
      <p:sp>
        <p:nvSpPr>
          <p:cNvPr id="3" name="Rectangle 2"/>
          <p:cNvSpPr/>
          <p:nvPr/>
        </p:nvSpPr>
        <p:spPr>
          <a:xfrm>
            <a:off x="502920" y="932688"/>
            <a:ext cx="11247120" cy="1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0"/>
            <a:ext cx="11247120" cy="1417320"/>
          </a:xfrm>
          <a:prstGeom prst="rect">
            <a:avLst/>
          </a:prstGeom>
          <a:noFill/>
        </p:spPr>
        <p:txBody>
          <a:bodyPr wrap="square">
            <a:spAutoFit/>
          </a:bodyPr>
          <a:lstStyle/>
          <a:p>
            <a:pPr>
              <a:spcAft>
                <a:spcPts val="500"/>
              </a:spcAft>
            </a:pPr>
            <a:r>
              <a:rPr sz="1400">
                <a:solidFill>
                  <a:srgbClr val="333333"/>
                </a:solidFill>
                <a:latin typeface="Arial"/>
              </a:rPr>
              <a:t>• The post-cut fan still shows slow-fall tails → sample them: NRMSE ≤ 0.4 AND τ_fall &gt; 1.5 ms, 10 random events, raw vs fit drawn in all 12 channels</a:t>
            </a:r>
          </a:p>
          <a:p>
            <a:pPr>
              <a:spcAft>
                <a:spcPts val="500"/>
              </a:spcAft>
            </a:pPr>
            <a:r>
              <a:rPr sz="1400">
                <a:solidFill>
                  <a:srgbClr val="333333"/>
                </a:solidFill>
                <a:latin typeface="Arial"/>
              </a:rPr>
              <a:t>• The sampled events are real pulses → kept. Their extreme fall times trace to one channel: only PDS2 swings (τ_fall median 0.51 ms vs ≈ 0.25 ms elsewhere) — a low-frequency disturbance</a:t>
            </a:r>
          </a:p>
          <a:p>
            <a:pPr>
              <a:spcAft>
                <a:spcPts val="500"/>
              </a:spcAft>
            </a:pPr>
            <a:r>
              <a:rPr sz="1400">
                <a:solidFill>
                  <a:srgbClr val="333333"/>
                </a:solidFill>
                <a:latin typeface="Arial"/>
              </a:rPr>
              <a:t>• Conclusion: no τ_fall cut — slow-fall events passing NRMSE stay in; the extreme tail is a one-channel artifact, not physics</a:t>
            </a:r>
          </a:p>
        </p:txBody>
      </p:sp>
      <p:pic>
        <p:nvPicPr>
          <p:cNvPr id="5" name="Picture 4" descr="slow_fall_zip7_crop.png"/>
          <p:cNvPicPr>
            <a:picLocks noChangeAspect="1"/>
          </p:cNvPicPr>
          <p:nvPr/>
        </p:nvPicPr>
        <p:blipFill>
          <a:blip r:embed="rId2"/>
          <a:stretch>
            <a:fillRect/>
          </a:stretch>
        </p:blipFill>
        <p:spPr>
          <a:xfrm>
            <a:off x="411480" y="2651760"/>
            <a:ext cx="6675120" cy="3432048"/>
          </a:xfrm>
          <a:prstGeom prst="rect">
            <a:avLst/>
          </a:prstGeom>
        </p:spPr>
      </p:pic>
      <p:sp>
        <p:nvSpPr>
          <p:cNvPr id="6" name="TextBox 5"/>
          <p:cNvSpPr txBox="1"/>
          <p:nvPr/>
        </p:nvSpPr>
        <p:spPr>
          <a:xfrm>
            <a:off x="411480" y="6113808"/>
            <a:ext cx="6675120" cy="274320"/>
          </a:xfrm>
          <a:prstGeom prst="rect">
            <a:avLst/>
          </a:prstGeom>
          <a:noFill/>
        </p:spPr>
        <p:txBody>
          <a:bodyPr wrap="square">
            <a:spAutoFit/>
          </a:bodyPr>
          <a:lstStyle/>
          <a:p>
            <a:pPr algn="ctr"/>
            <a:r>
              <a:rPr sz="1100" i="1">
                <a:solidFill>
                  <a:srgbClr val="666666"/>
                </a:solidFill>
                <a:latin typeface="Arial"/>
              </a:rPr>
              <a:t>Z7, 3 of the sampled slow-fall events: normal pulses in PBS2/PCS2/PES2, low-frequency swings only in PDS2</a:t>
            </a:r>
          </a:p>
        </p:txBody>
      </p:sp>
      <p:pic>
        <p:nvPicPr>
          <p:cNvPr id="7" name="Picture 6" descr="time_constants_zip7_PDS2_tfall.png"/>
          <p:cNvPicPr>
            <a:picLocks noChangeAspect="1"/>
          </p:cNvPicPr>
          <p:nvPr/>
        </p:nvPicPr>
        <p:blipFill>
          <a:blip r:embed="rId3"/>
          <a:stretch>
            <a:fillRect/>
          </a:stretch>
        </p:blipFill>
        <p:spPr>
          <a:xfrm>
            <a:off x="7315200" y="2834640"/>
            <a:ext cx="4663440" cy="2926080"/>
          </a:xfrm>
          <a:prstGeom prst="rect">
            <a:avLst/>
          </a:prstGeom>
        </p:spPr>
      </p:pic>
      <p:sp>
        <p:nvSpPr>
          <p:cNvPr id="8" name="TextBox 7"/>
          <p:cNvSpPr txBox="1"/>
          <p:nvPr/>
        </p:nvSpPr>
        <p:spPr>
          <a:xfrm>
            <a:off x="7315200" y="5790720"/>
            <a:ext cx="4663440" cy="274320"/>
          </a:xfrm>
          <a:prstGeom prst="rect">
            <a:avLst/>
          </a:prstGeom>
          <a:noFill/>
        </p:spPr>
        <p:txBody>
          <a:bodyPr wrap="square">
            <a:spAutoFit/>
          </a:bodyPr>
          <a:lstStyle/>
          <a:p>
            <a:pPr algn="ctr"/>
            <a:r>
              <a:rPr sz="1100" i="1">
                <a:solidFill>
                  <a:srgbClr val="666666"/>
                </a:solidFill>
                <a:latin typeface="Arial"/>
              </a:rPr>
              <a:t>Z7 PDS2 alone, fitted τ_fall: broad tail (median 0.51 ms vs ≈0.25 ms on good channels) — the artifact quantified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247120" cy="685800"/>
          </a:xfrm>
          <a:prstGeom prst="rect">
            <a:avLst/>
          </a:prstGeom>
          <a:noFill/>
        </p:spPr>
        <p:txBody>
          <a:bodyPr wrap="square">
            <a:spAutoFit/>
          </a:bodyPr>
          <a:lstStyle/>
          <a:p>
            <a:r>
              <a:rPr sz="2700" b="1">
                <a:solidFill>
                  <a:srgbClr val="1F3864"/>
                </a:solidFill>
                <a:latin typeface="Arial"/>
              </a:rPr>
              <a:t>Follow-up 2 — genuine slow-rise pulses (echo-trigger events)</a:t>
            </a:r>
          </a:p>
        </p:txBody>
      </p:sp>
      <p:sp>
        <p:nvSpPr>
          <p:cNvPr id="3" name="Rectangle 2"/>
          <p:cNvSpPr/>
          <p:nvPr/>
        </p:nvSpPr>
        <p:spPr>
          <a:xfrm>
            <a:off x="502920" y="932688"/>
            <a:ext cx="11247120" cy="1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0"/>
            <a:ext cx="11247120" cy="1417320"/>
          </a:xfrm>
          <a:prstGeom prst="rect">
            <a:avLst/>
          </a:prstGeom>
          <a:noFill/>
        </p:spPr>
        <p:txBody>
          <a:bodyPr wrap="square">
            <a:spAutoFit/>
          </a:bodyPr>
          <a:lstStyle/>
          <a:p>
            <a:pPr>
              <a:spcAft>
                <a:spcPts val="500"/>
              </a:spcAft>
            </a:pPr>
            <a:r>
              <a:rPr sz="1400">
                <a:solidFill>
                  <a:srgbClr val="333333"/>
                </a:solidFill>
                <a:latin typeface="Arial"/>
              </a:rPr>
              <a:t>• Same sampling recipe on the rise side: median NRMSE ≤ 0.4 AND median τ_rise &gt; 0.2 ms → the raw traces show real pulses — pretrigger aligned, peak late, consistent across channels</a:t>
            </a:r>
          </a:p>
          <a:p>
            <a:pPr>
              <a:spcAft>
                <a:spcPts val="500"/>
              </a:spcAft>
            </a:pPr>
            <a:r>
              <a:rPr sz="1400">
                <a:solidFill>
                  <a:srgbClr val="333333"/>
                </a:solidFill>
                <a:latin typeface="Arial"/>
              </a:rPr>
              <a:t>• A genuine second, slower pulse shape — a faint “echo” behind the main pulse (candidate surface/bulk effect, not settled)</a:t>
            </a:r>
          </a:p>
          <a:p>
            <a:pPr>
              <a:spcAft>
                <a:spcPts val="500"/>
              </a:spcAft>
            </a:pPr>
            <a:r>
              <a:rPr sz="1400">
                <a:solidFill>
                  <a:srgbClr val="333333"/>
                </a:solidFill>
                <a:latin typeface="Arial"/>
              </a:rPr>
              <a:t>• Real physics → cannot simply be cut away; exactly the shape variation the multi-template NxM method is built to capture</a:t>
            </a:r>
          </a:p>
        </p:txBody>
      </p:sp>
      <p:pic>
        <p:nvPicPr>
          <p:cNvPr id="5" name="Picture 4" descr="shadow_zip7_crop.png"/>
          <p:cNvPicPr>
            <a:picLocks noChangeAspect="1"/>
          </p:cNvPicPr>
          <p:nvPr/>
        </p:nvPicPr>
        <p:blipFill>
          <a:blip r:embed="rId2"/>
          <a:stretch>
            <a:fillRect/>
          </a:stretch>
        </p:blipFill>
        <p:spPr>
          <a:xfrm>
            <a:off x="1167141" y="2697480"/>
            <a:ext cx="9827237" cy="3794760"/>
          </a:xfrm>
          <a:prstGeom prst="rect">
            <a:avLst/>
          </a:prstGeom>
        </p:spPr>
      </p:pic>
      <p:sp>
        <p:nvSpPr>
          <p:cNvPr id="6" name="TextBox 5"/>
          <p:cNvSpPr txBox="1"/>
          <p:nvPr/>
        </p:nvSpPr>
        <p:spPr>
          <a:xfrm>
            <a:off x="1097280" y="6522240"/>
            <a:ext cx="9966960" cy="274320"/>
          </a:xfrm>
          <a:prstGeom prst="rect">
            <a:avLst/>
          </a:prstGeom>
          <a:noFill/>
        </p:spPr>
        <p:txBody>
          <a:bodyPr wrap="square">
            <a:spAutoFit/>
          </a:bodyPr>
          <a:lstStyle/>
          <a:p>
            <a:pPr algn="ctr"/>
            <a:r>
              <a:rPr sz="1100" i="1">
                <a:solidFill>
                  <a:srgbClr val="666666"/>
                </a:solidFill>
                <a:latin typeface="Arial"/>
              </a:rPr>
              <a:t>Z7 echo-trigger events (first 4 channels): raw (gray) / LP (blue) / fit (red) — genuine slow pulses, pretrigger aligned, peak late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247120" cy="685800"/>
          </a:xfrm>
          <a:prstGeom prst="rect">
            <a:avLst/>
          </a:prstGeom>
          <a:noFill/>
        </p:spPr>
        <p:txBody>
          <a:bodyPr wrap="square">
            <a:spAutoFit/>
          </a:bodyPr>
          <a:lstStyle/>
          <a:p>
            <a:r>
              <a:rPr sz="2700" b="1">
                <a:solidFill>
                  <a:srgbClr val="1F3864"/>
                </a:solidFill>
                <a:latin typeface="Arial"/>
              </a:rPr>
              <a:t>Slow drift also fits “slow”: a τ_rise ≤ 0.3 ms ceiling</a:t>
            </a:r>
          </a:p>
        </p:txBody>
      </p:sp>
      <p:sp>
        <p:nvSpPr>
          <p:cNvPr id="3" name="Rectangle 2"/>
          <p:cNvSpPr/>
          <p:nvPr/>
        </p:nvSpPr>
        <p:spPr>
          <a:xfrm>
            <a:off x="502920" y="932688"/>
            <a:ext cx="11247120" cy="1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0"/>
            <a:ext cx="11247120" cy="1600200"/>
          </a:xfrm>
          <a:prstGeom prst="rect">
            <a:avLst/>
          </a:prstGeom>
          <a:noFill/>
        </p:spPr>
        <p:txBody>
          <a:bodyPr wrap="square">
            <a:spAutoFit/>
          </a:bodyPr>
          <a:lstStyle/>
          <a:p>
            <a:pPr>
              <a:spcAft>
                <a:spcPts val="500"/>
              </a:spcAft>
            </a:pPr>
            <a:r>
              <a:rPr sz="1400">
                <a:solidFill>
                  <a:srgbClr val="333333"/>
                </a:solidFill>
                <a:latin typeface="Arial"/>
              </a:rPr>
              <a:t>• On noisy-window detectors a smooth baseline drift survives the NRMSE cut — a slow 2-exp hugs it with a tiny residual — and mimics a slow rise</a:t>
            </a:r>
          </a:p>
          <a:p>
            <a:pPr>
              <a:spcAft>
                <a:spcPts val="500"/>
              </a:spcAft>
            </a:pPr>
            <a:r>
              <a:rPr sz="1400">
                <a:solidFill>
                  <a:srgbClr val="333333"/>
                </a:solidFill>
                <a:latin typeface="Arial"/>
              </a:rPr>
              <a:t>• Fast pulses sit at τ_rise ≈ 0.1 ms (p90 ≈ 0.15 ms), far below the drift tail → a ceiling at 0.3 ms blocks the drift at ≈ 2–5% signal cost</a:t>
            </a:r>
          </a:p>
          <a:p>
            <a:pPr>
              <a:spcAft>
                <a:spcPts val="500"/>
              </a:spcAft>
            </a:pPr>
            <a:r>
              <a:rPr sz="1400">
                <a:solidFill>
                  <a:srgbClr val="333333"/>
                </a:solidFill>
                <a:latin typeface="Arial"/>
              </a:rPr>
              <a:t>• Keeps most genuine slow pulses, trims the very slowest — documented trade-off, final decision pending</a:t>
            </a:r>
          </a:p>
        </p:txBody>
      </p:sp>
      <p:pic>
        <p:nvPicPr>
          <p:cNvPr id="5" name="Picture 4" descr="time_constants_zip7_PAS1.png"/>
          <p:cNvPicPr>
            <a:picLocks noChangeAspect="1"/>
          </p:cNvPicPr>
          <p:nvPr/>
        </p:nvPicPr>
        <p:blipFill>
          <a:blip r:embed="rId2"/>
          <a:stretch>
            <a:fillRect/>
          </a:stretch>
        </p:blipFill>
        <p:spPr>
          <a:xfrm>
            <a:off x="1280160" y="2880360"/>
            <a:ext cx="9601200" cy="1851803"/>
          </a:xfrm>
          <a:prstGeom prst="rect">
            <a:avLst/>
          </a:prstGeom>
        </p:spPr>
      </p:pic>
      <p:sp>
        <p:nvSpPr>
          <p:cNvPr id="6" name="TextBox 5"/>
          <p:cNvSpPr txBox="1"/>
          <p:nvPr/>
        </p:nvSpPr>
        <p:spPr>
          <a:xfrm>
            <a:off x="1280160" y="4762163"/>
            <a:ext cx="9601200" cy="274320"/>
          </a:xfrm>
          <a:prstGeom prst="rect">
            <a:avLst/>
          </a:prstGeom>
          <a:noFill/>
        </p:spPr>
        <p:txBody>
          <a:bodyPr wrap="square">
            <a:spAutoFit/>
          </a:bodyPr>
          <a:lstStyle/>
          <a:p>
            <a:pPr algn="ctr"/>
            <a:r>
              <a:rPr sz="1100" i="1">
                <a:solidFill>
                  <a:srgbClr val="666666"/>
                </a:solidFill>
                <a:latin typeface="Arial"/>
              </a:rPr>
              <a:t>Z7 PAS1: fitted τ_rise (median 0.105 ms) and τ_fall distributions</a:t>
            </a:r>
          </a:p>
        </p:txBody>
      </p:sp>
      <p:sp>
        <p:nvSpPr>
          <p:cNvPr id="7" name="TextBox 6"/>
          <p:cNvSpPr txBox="1"/>
          <p:nvPr/>
        </p:nvSpPr>
        <p:spPr>
          <a:xfrm>
            <a:off x="1280160" y="5257800"/>
            <a:ext cx="9601200" cy="914400"/>
          </a:xfrm>
          <a:prstGeom prst="rect">
            <a:avLst/>
          </a:prstGeom>
          <a:noFill/>
        </p:spPr>
        <p:txBody>
          <a:bodyPr wrap="square">
            <a:spAutoFit/>
          </a:bodyPr>
          <a:lstStyle/>
          <a:p>
            <a:pPr>
              <a:spcAft>
                <a:spcPts val="500"/>
              </a:spcAft>
            </a:pPr>
            <a:r>
              <a:rPr sz="1300">
                <a:solidFill>
                  <a:srgbClr val="333333"/>
                </a:solidFill>
                <a:latin typeface="Arial"/>
              </a:rPr>
              <a:t>• On quiet detectors both τ_rise and τ_fall distributions are narrow — the pulse shape is stable across events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247120" cy="685800"/>
          </a:xfrm>
          <a:prstGeom prst="rect">
            <a:avLst/>
          </a:prstGeom>
          <a:noFill/>
        </p:spPr>
        <p:txBody>
          <a:bodyPr wrap="square">
            <a:spAutoFit/>
          </a:bodyPr>
          <a:lstStyle/>
          <a:p>
            <a:r>
              <a:rPr sz="2700" b="1">
                <a:solidFill>
                  <a:srgbClr val="1F3864"/>
                </a:solidFill>
                <a:latin typeface="Arial"/>
              </a:rPr>
              <a:t>Template family 1 — analytic 2-exp, NRMSE-weighted (1x1)</a:t>
            </a:r>
          </a:p>
        </p:txBody>
      </p:sp>
      <p:sp>
        <p:nvSpPr>
          <p:cNvPr id="3" name="Rectangle 2"/>
          <p:cNvSpPr/>
          <p:nvPr/>
        </p:nvSpPr>
        <p:spPr>
          <a:xfrm>
            <a:off x="502920" y="932688"/>
            <a:ext cx="11247120" cy="1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0"/>
            <a:ext cx="11247120" cy="1417320"/>
          </a:xfrm>
          <a:prstGeom prst="rect">
            <a:avLst/>
          </a:prstGeom>
          <a:noFill/>
        </p:spPr>
        <p:txBody>
          <a:bodyPr wrap="square">
            <a:spAutoFit/>
          </a:bodyPr>
          <a:lstStyle/>
          <a:p>
            <a:pPr>
              <a:spcAft>
                <a:spcPts val="500"/>
              </a:spcAft>
            </a:pPr>
            <a:r>
              <a:rPr sz="1400">
                <a:solidFill>
                  <a:srgbClr val="333333"/>
                </a:solidFill>
                <a:latin typeface="Arial"/>
              </a:rPr>
              <a:t>• Per channel: weighted mean of ALL fit_ok fitted curves at the common pretrigger, weight w = 1/max(NRMSE, 0.01)²</a:t>
            </a:r>
          </a:p>
          <a:p>
            <a:pPr>
              <a:spcAft>
                <a:spcPts val="500"/>
              </a:spcAft>
            </a:pPr>
            <a:r>
              <a:rPr sz="1400">
                <a:solidFill>
                  <a:srgbClr val="333333"/>
                </a:solidFill>
                <a:latin typeface="Arial"/>
              </a:rPr>
              <a:t>• Badly-fit events count less but are never excluded — robust and smooth (noise-free by construction)</a:t>
            </a:r>
          </a:p>
          <a:p>
            <a:pPr>
              <a:spcAft>
                <a:spcPts val="500"/>
              </a:spcAft>
            </a:pPr>
            <a:r>
              <a:rPr sz="1400">
                <a:solidFill>
                  <a:srgbClr val="333333"/>
                </a:solidFill>
                <a:latin typeface="Arial"/>
              </a:rPr>
              <a:t>• Delivered as peak-normalized 32768-bin ROOT TH1D per channel + summed PT/PS1/PS2 templates</a:t>
            </a:r>
          </a:p>
        </p:txBody>
      </p:sp>
      <p:pic>
        <p:nvPicPr>
          <p:cNvPr id="5" name="Picture 4" descr="fan_zip7_PBS1_after.png"/>
          <p:cNvPicPr>
            <a:picLocks noChangeAspect="1"/>
          </p:cNvPicPr>
          <p:nvPr/>
        </p:nvPicPr>
        <p:blipFill>
          <a:blip r:embed="rId2"/>
          <a:stretch>
            <a:fillRect/>
          </a:stretch>
        </p:blipFill>
        <p:spPr>
          <a:xfrm>
            <a:off x="1383919" y="3063240"/>
            <a:ext cx="9393682" cy="2834640"/>
          </a:xfrm>
          <a:prstGeom prst="rect">
            <a:avLst/>
          </a:prstGeom>
        </p:spPr>
      </p:pic>
      <p:sp>
        <p:nvSpPr>
          <p:cNvPr id="6" name="TextBox 5"/>
          <p:cNvSpPr txBox="1"/>
          <p:nvPr/>
        </p:nvSpPr>
        <p:spPr>
          <a:xfrm>
            <a:off x="1280160" y="5927880"/>
            <a:ext cx="9601200" cy="274320"/>
          </a:xfrm>
          <a:prstGeom prst="rect">
            <a:avLst/>
          </a:prstGeom>
          <a:noFill/>
        </p:spPr>
        <p:txBody>
          <a:bodyPr wrap="square">
            <a:spAutoFit/>
          </a:bodyPr>
          <a:lstStyle/>
          <a:p>
            <a:pPr algn="ctr"/>
            <a:r>
              <a:rPr sz="1100" i="1">
                <a:solidFill>
                  <a:srgbClr val="666666"/>
                </a:solidFill>
                <a:latin typeface="Arial"/>
              </a:rPr>
              <a:t>Z7 PBS1, fitted curves after NRMSE ≤ 0.4 and τ_rise ≤ 0.3 ms — the NRMSE-weighted mean of this family is the 1x1 template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247120" cy="685800"/>
          </a:xfrm>
          <a:prstGeom prst="rect">
            <a:avLst/>
          </a:prstGeom>
          <a:noFill/>
        </p:spPr>
        <p:txBody>
          <a:bodyPr wrap="square">
            <a:spAutoFit/>
          </a:bodyPr>
          <a:lstStyle/>
          <a:p>
            <a:r>
              <a:rPr sz="2700" b="1">
                <a:solidFill>
                  <a:srgbClr val="1F3864"/>
                </a:solidFill>
                <a:latin typeface="Arial"/>
              </a:rPr>
              <a:t>Template family 2 — NxM PCA templates</a:t>
            </a:r>
          </a:p>
        </p:txBody>
      </p:sp>
      <p:sp>
        <p:nvSpPr>
          <p:cNvPr id="3" name="Rectangle 2"/>
          <p:cNvSpPr/>
          <p:nvPr/>
        </p:nvSpPr>
        <p:spPr>
          <a:xfrm>
            <a:off x="502920" y="932688"/>
            <a:ext cx="11247120" cy="1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0"/>
            <a:ext cx="11247120" cy="1417320"/>
          </a:xfrm>
          <a:prstGeom prst="rect">
            <a:avLst/>
          </a:prstGeom>
          <a:noFill/>
        </p:spPr>
        <p:txBody>
          <a:bodyPr wrap="square">
            <a:spAutoFit/>
          </a:bodyPr>
          <a:lstStyle/>
          <a:p>
            <a:pPr>
              <a:spcAft>
                <a:spcPts val="500"/>
              </a:spcAft>
            </a:pPr>
            <a:r>
              <a:rPr sz="1400">
                <a:solidFill>
                  <a:srgbClr val="333333"/>
                </a:solidFill>
                <a:latin typeface="Arial"/>
              </a:rPr>
              <a:t>• Input: fitted curves passing fit_ok + NRMSE ≤ 0.4 + τ_rise ≤ 0.3 ms, at common pretrigger, peak-normalized (PCA window 15550–24050, ≤ 3000 curves/channel)</a:t>
            </a:r>
          </a:p>
          <a:p>
            <a:pPr>
              <a:spcAft>
                <a:spcPts val="500"/>
              </a:spcAft>
            </a:pPr>
            <a:r>
              <a:rPr sz="1400">
                <a:solidFill>
                  <a:srgbClr val="333333"/>
                </a:solidFill>
                <a:latin typeface="Arial"/>
              </a:rPr>
              <a:t>• nxm0 = mean shape;  nxm1…nxm4 = first four principal components — a real pulse is fit as Σᵢ ampᵢ · nxmᵢ</a:t>
            </a:r>
          </a:p>
          <a:p>
            <a:pPr>
              <a:spcAft>
                <a:spcPts val="500"/>
              </a:spcAft>
            </a:pPr>
            <a:r>
              <a:rPr sz="1400">
                <a:solidFill>
                  <a:srgbClr val="333333"/>
                </a:solidFill>
                <a:latin typeface="Arial"/>
              </a:rPr>
              <a:t>• PC1 + PC2 already capture 96–98% of the shape variance; final step before delivery: normalize all five to unit peak — the delivered product</a:t>
            </a:r>
          </a:p>
        </p:txBody>
      </p:sp>
      <p:pic>
        <p:nvPicPr>
          <p:cNvPr id="5" name="Picture 4" descr="pca_zip7_PAS1.png"/>
          <p:cNvPicPr>
            <a:picLocks noChangeAspect="1"/>
          </p:cNvPicPr>
          <p:nvPr/>
        </p:nvPicPr>
        <p:blipFill>
          <a:blip r:embed="rId2"/>
          <a:stretch>
            <a:fillRect/>
          </a:stretch>
        </p:blipFill>
        <p:spPr>
          <a:xfrm>
            <a:off x="2831374" y="2697480"/>
            <a:ext cx="6498771" cy="1828800"/>
          </a:xfrm>
          <a:prstGeom prst="rect">
            <a:avLst/>
          </a:prstGeom>
        </p:spPr>
      </p:pic>
      <p:pic>
        <p:nvPicPr>
          <p:cNvPr id="6" name="Picture 5" descr="pca_zip7_PBS1.png"/>
          <p:cNvPicPr>
            <a:picLocks noChangeAspect="1"/>
          </p:cNvPicPr>
          <p:nvPr/>
        </p:nvPicPr>
        <p:blipFill>
          <a:blip r:embed="rId3"/>
          <a:stretch>
            <a:fillRect/>
          </a:stretch>
        </p:blipFill>
        <p:spPr>
          <a:xfrm>
            <a:off x="2831374" y="4572000"/>
            <a:ext cx="6498771" cy="1828800"/>
          </a:xfrm>
          <a:prstGeom prst="rect">
            <a:avLst/>
          </a:prstGeom>
        </p:spPr>
      </p:pic>
      <p:sp>
        <p:nvSpPr>
          <p:cNvPr id="7" name="TextBox 6"/>
          <p:cNvSpPr txBox="1"/>
          <p:nvPr/>
        </p:nvSpPr>
        <p:spPr>
          <a:xfrm>
            <a:off x="1371600" y="6430800"/>
            <a:ext cx="9418320" cy="274320"/>
          </a:xfrm>
          <a:prstGeom prst="rect">
            <a:avLst/>
          </a:prstGeom>
          <a:noFill/>
        </p:spPr>
        <p:txBody>
          <a:bodyPr wrap="square">
            <a:spAutoFit/>
          </a:bodyPr>
          <a:lstStyle/>
          <a:p>
            <a:pPr algn="ctr"/>
            <a:r>
              <a:rPr sz="1100" i="1">
                <a:solidFill>
                  <a:srgbClr val="666666"/>
                </a:solidFill>
                <a:latin typeface="Arial"/>
              </a:rPr>
              <a:t>Z7 PAS1 / PBS1: nxm0 (mean) + nxm1–4 (PCs) — the oscillating components encode rise/fall-time variation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247120" cy="685800"/>
          </a:xfrm>
          <a:prstGeom prst="rect">
            <a:avLst/>
          </a:prstGeom>
          <a:noFill/>
        </p:spPr>
        <p:txBody>
          <a:bodyPr wrap="square">
            <a:spAutoFit/>
          </a:bodyPr>
          <a:lstStyle/>
          <a:p>
            <a:r>
              <a:rPr sz="2700" b="1">
                <a:solidFill>
                  <a:srgbClr val="1F3864"/>
                </a:solidFill>
                <a:latin typeface="Arial"/>
              </a:rPr>
              <a:t>Delivered — and what remains</a:t>
            </a:r>
          </a:p>
        </p:txBody>
      </p:sp>
      <p:sp>
        <p:nvSpPr>
          <p:cNvPr id="3" name="Rectangle 2"/>
          <p:cNvSpPr/>
          <p:nvPr/>
        </p:nvSpPr>
        <p:spPr>
          <a:xfrm>
            <a:off x="502920" y="932688"/>
            <a:ext cx="11247120" cy="1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88720"/>
            <a:ext cx="11247120" cy="4206240"/>
          </a:xfrm>
          <a:prstGeom prst="rect">
            <a:avLst/>
          </a:prstGeom>
          <a:noFill/>
        </p:spPr>
        <p:txBody>
          <a:bodyPr wrap="square">
            <a:spAutoFit/>
          </a:bodyPr>
          <a:lstStyle/>
          <a:p>
            <a:pPr>
              <a:spcAft>
                <a:spcPts val="500"/>
              </a:spcAft>
            </a:pPr>
            <a:r>
              <a:rPr sz="1600">
                <a:solidFill>
                  <a:srgbClr val="333333"/>
                </a:solidFill>
                <a:latin typeface="Arial"/>
              </a:rPr>
              <a:t>• Delivered for all 13 zips, official cdmsbats PulseTemplates layout (zip{N}/{chan}, {chan}nxm0–4, summed PT/PS1/PS2):</a:t>
            </a:r>
          </a:p>
          <a:p>
            <a:pPr lvl="1">
              <a:spcAft>
                <a:spcPts val="500"/>
              </a:spcAft>
            </a:pPr>
            <a:r>
              <a:rPr sz="1400">
                <a:solidFill>
                  <a:srgbClr val="666666"/>
                </a:solidFill>
                <a:latin typeface="Arial"/>
              </a:rPr>
              <a:t>– SNOLAB_R4_20260706_ZhihengLi_zip{N}.root — 2-exp NRMSE-weighted (1x1)</a:t>
            </a:r>
          </a:p>
          <a:p>
            <a:pPr lvl="1">
              <a:spcAft>
                <a:spcPts val="500"/>
              </a:spcAft>
            </a:pPr>
            <a:r>
              <a:rPr sz="1400">
                <a:solidFill>
                  <a:srgbClr val="666666"/>
                </a:solidFill>
                <a:latin typeface="Arial"/>
              </a:rPr>
              <a:t>– SNOLAB_R4_20260707_ZhihengLi_pca_zip{N}.root — NxM PCA (normalized)</a:t>
            </a:r>
          </a:p>
          <a:p>
            <a:pPr>
              <a:spcAft>
                <a:spcPts val="500"/>
              </a:spcAft>
            </a:pPr>
            <a:r>
              <a:rPr sz="1600">
                <a:solidFill>
                  <a:srgbClr val="333333"/>
                </a:solidFill>
                <a:latin typeface="Arial"/>
              </a:rPr>
              <a:t>• Every step is traceable: raw cache → per-series fit checkpoints indexed by EventNumber → self-documenting figures (11 types × 13 zips, all versioned)</a:t>
            </a:r>
          </a:p>
          <a:p>
            <a:pPr>
              <a:spcAft>
                <a:spcPts val="500"/>
              </a:spcAft>
            </a:pPr>
            <a:r>
              <a:rPr sz="1600">
                <a:solidFill>
                  <a:srgbClr val="333333"/>
                </a:solidFill>
                <a:latin typeface="Arial"/>
              </a:rPr>
              <a:t>• Cuts derived from the data, validated in raw traces: NRMSE ≤ 0.4 (bimodal valley), τ_rise ≤ 0.3 ms (drift leakage)</a:t>
            </a:r>
          </a:p>
          <a:p>
            <a:pPr>
              <a:spcAft>
                <a:spcPts val="500"/>
              </a:spcAft>
            </a:pPr>
            <a:r>
              <a:rPr sz="1600">
                <a:solidFill>
                  <a:srgbClr val="333333"/>
                </a:solidFill>
                <a:latin typeface="Arial"/>
              </a:rPr>
              <a:t>• Open items:</a:t>
            </a:r>
          </a:p>
          <a:p>
            <a:pPr lvl="1">
              <a:spcAft>
                <a:spcPts val="500"/>
              </a:spcAft>
            </a:pPr>
            <a:r>
              <a:rPr sz="1400">
                <a:solidFill>
                  <a:srgbClr val="666666"/>
                </a:solidFill>
                <a:latin typeface="Arial"/>
              </a:rPr>
              <a:t>– final decision on the τ_rise ceiling vs the genuine slow-pulse population</a:t>
            </a:r>
          </a:p>
          <a:p>
            <a:pPr lvl="1">
              <a:spcAft>
                <a:spcPts val="500"/>
              </a:spcAft>
            </a:pPr>
            <a:r>
              <a:rPr sz="1400">
                <a:solidFill>
                  <a:srgbClr val="666666"/>
                </a:solidFill>
                <a:latin typeface="Arial"/>
              </a:rPr>
              <a:t>– run the group's template-validation method on the new templates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