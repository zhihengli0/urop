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The pretrigger is aligned, peak arriving late, consistent across all channels - they are the echo-trigger population - a genuine second, slower pulse shape.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echo-trigger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AS1_tfall.png"/>
          <p:cNvPicPr>
            <a:picLocks noChangeAspect="1"/>
          </p:cNvPicPr>
          <p:nvPr/>
        </p:nvPicPr>
        <p:blipFill>
          <a:blip r:embed="rId3"/>
          <a:stretch>
            <a:fillRect/>
          </a:stretch>
        </p:blipFill>
        <p:spPr>
          <a:xfrm>
            <a:off x="7630602" y="2487168"/>
            <a:ext cx="4032636" cy="1554480"/>
          </a:xfrm>
          <a:prstGeom prst="rect">
            <a:avLst/>
          </a:prstGeom>
        </p:spPr>
      </p:pic>
      <p:sp>
        <p:nvSpPr>
          <p:cNvPr id="8" name="TextBox 7"/>
          <p:cNvSpPr txBox="1"/>
          <p:nvPr/>
        </p:nvSpPr>
        <p:spPr>
          <a:xfrm>
            <a:off x="7360920" y="4071648"/>
            <a:ext cx="4572000" cy="274320"/>
          </a:xfrm>
          <a:prstGeom prst="rect">
            <a:avLst/>
          </a:prstGeom>
          <a:noFill/>
        </p:spPr>
        <p:txBody>
          <a:bodyPr wrap="square">
            <a:spAutoFit/>
          </a:bodyPr>
          <a:lstStyle/>
          <a:p>
            <a:pPr algn="ctr"/>
            <a:r>
              <a:rPr sz="1100" i="1">
                <a:solidFill>
                  <a:srgbClr val="666666"/>
                </a:solidFill>
                <a:latin typeface="Arial"/>
              </a:rPr>
              <a:t>PAS1 — a normal channel: narrow, median 0.25 ms</a:t>
            </a:r>
          </a:p>
        </p:txBody>
      </p:sp>
      <p:pic>
        <p:nvPicPr>
          <p:cNvPr id="9" name="Picture 8" descr="time_constants_zip7_PDS2_tfall.png"/>
          <p:cNvPicPr>
            <a:picLocks noChangeAspect="1"/>
          </p:cNvPicPr>
          <p:nvPr/>
        </p:nvPicPr>
        <p:blipFill>
          <a:blip r:embed="rId4"/>
          <a:stretch>
            <a:fillRect/>
          </a:stretch>
        </p:blipFill>
        <p:spPr>
          <a:xfrm>
            <a:off x="7623270" y="4343400"/>
            <a:ext cx="4047300" cy="1554480"/>
          </a:xfrm>
          <a:prstGeom prst="rect">
            <a:avLst/>
          </a:prstGeom>
        </p:spPr>
      </p:pic>
      <p:sp>
        <p:nvSpPr>
          <p:cNvPr id="10" name="TextBox 9"/>
          <p:cNvSpPr txBox="1"/>
          <p:nvPr/>
        </p:nvSpPr>
        <p:spPr>
          <a:xfrm>
            <a:off x="7360920" y="5927880"/>
            <a:ext cx="4572000" cy="274320"/>
          </a:xfrm>
          <a:prstGeom prst="rect">
            <a:avLst/>
          </a:prstGeom>
          <a:noFill/>
        </p:spPr>
        <p:txBody>
          <a:bodyPr wrap="square">
            <a:spAutoFit/>
          </a:bodyPr>
          <a:lstStyle/>
          <a:p>
            <a:pPr algn="ctr"/>
            <a:r>
              <a:rPr sz="1100" i="1">
                <a:solidFill>
                  <a:srgbClr val="666666"/>
                </a:solidFill>
                <a:latin typeface="Arial"/>
              </a:rPr>
              <a:t>PDS2 — the bad channel: broad tail, median 0.51 ms (same 0–20 ms axis)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(echo-trigger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pretrigger aligned, peak late, consistent across channels</a:t>
            </a:r>
          </a:p>
          <a:p>
            <a:pPr>
              <a:spcAft>
                <a:spcPts val="500"/>
              </a:spcAft>
            </a:pPr>
            <a:r>
              <a:rPr sz="1400">
                <a:solidFill>
                  <a:srgbClr val="333333"/>
                </a:solidFill>
                <a:latin typeface="Arial"/>
              </a:rPr>
              <a:t>• A genuine second, slower pulse shape — a faint “echo” behind the main pulse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echo-trigger events (first 4 channels): raw (gray) / LP (blue) / fit (red) — genuine slow pulses, pretrigger aligned, peak 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pretrigger,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pretrigger,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