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Professor Saab's study located the K-line position in the PTOFamps spectrum of each detector - that is the red line in every panel here. Our event selection is exactly one condition: a window around the red line, a factor 1.35 both ways - a rough, eyeballed choice -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five steps. First a low-pass filter to smooth away the high-frequency noise, then the baseline is subtracted and the trace is scaled to unit peak - without that normalization the traces could not be overlaid or compared. The core is the fit: a two-exponential function, one exponential for the rise and one for the fall, with all five parameters free, including the pretrigger - the pulse start time. The pretrigger is never pinned: real trigger times vary, and the fitted pretriggers cluster about 230 samples after the nominal value - pinning it would bias the time constants. Each fit records two quality numbers: fit_ok, a physicality check - positive amplitude, rise faster than fall - and the NRMSE, the normalized root-mean-square error, the fit residual divided by the pulse height. At this stage we only record them. Finally the measured trace is aligned by shifting it by the fitted pretrigger minus 16050. The two fan plots show the output of the fit step: every fitted curve drawn at the common pretrigger, peak-normalized. On the left, all physical fits - you can see stragglers spreading off the main bundle. On the right, after the NRMSE cut, a single tight shape family remains. Where that cut comes from is the next part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judge the fits we use event-by-channel grids: each row is one event, each column one channel. A real K-line event fits well in all channels simultaneously, while a noise trigger - like the top rows here - fails everywhere at once. The per-panel NRMSE makes this quantitative. All our figures carry the processing chain stamped in the header, so each PNG is self-documenting.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On quiet detectors like Z7 the noise population is small; on noisy detectors like Z22 it dominates, and this cut is what digs the real pulses out of the mixture.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Z22: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three times higher. So the cut removes noise, not physics.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slow physics.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lead is the slow rise. Same recipe: take events that fit well - NRMSE fine - but whose median rise time is above zero point two milliseconds, sample them, look at the raw traces. This time the conclusion is the opposite: these are real pulses. The pretrigger is aligned, peak arriving late, consistent across all channels - they are the echo-trigger population - a genuine second, slower pulse shape. So the slow rise cannot simply be cut away: there is real physics in it, possibly related to where in the crystal the event happens; that is not settled yet.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on the slow-rise side there is also a troublemaker: on detectors with a noisy window, a slow baseline drift also fits as a slow rise, with a tiny residual - NRMSE cannot catch it. The real pulses cluster near zero point one milliseconds while the drift tail stretches much further, so for the template input we set a ceiling at zero point three milliseconds. That blocks the drift and keeps the vast majority of real pulses - including part of the echo-trigger population; the price is that the very slowest genuine pulses get trimmed too. That trade-off is documented and not final - I would like your input on it later.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pretrigger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shape variation we just saw.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nfluence.slac.stanford.edu/spaces/CDMS/pages/716899864/Ge+Activation+Data+-+Ops+Shift+260612" TargetMode="External"/><Relationship Id="rId3"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NxM Templates for SuperCDMS SNOLAB Run 4 — Ge Activation Data</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15,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Prof. Saab's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 position ×/÷ 1.35, a rough, somewhat arbitrary eyeballed choice;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~120 GB raw cache</a:t>
            </a:r>
          </a:p>
        </p:txBody>
      </p:sp>
      <p:sp>
        <p:nvSpPr>
          <p:cNvPr id="5" name="TextBox 4"/>
          <p:cNvSpPr txBox="1"/>
          <p:nvPr/>
        </p:nvSpPr>
        <p:spPr>
          <a:xfrm>
            <a:off x="8549640" y="274320"/>
            <a:ext cx="3200400" cy="658368"/>
          </a:xfrm>
          <a:prstGeom prst="rect">
            <a:avLst/>
          </a:prstGeom>
          <a:noFill/>
        </p:spPr>
        <p:txBody>
          <a:bodyPr wrap="square">
            <a:spAutoFit/>
          </a:bodyPr>
          <a:lstStyle/>
          <a:p>
            <a:pPr algn="r"/>
            <a:r>
              <a:rPr sz="1000">
                <a:solidFill>
                  <a:srgbClr val="666666"/>
                </a:solidFill>
                <a:latin typeface="Arial"/>
              </a:rPr>
              <a:t>Data: Ge Activation Data — Ops Shift 260612</a:t>
            </a:r>
          </a:p>
          <a:p>
            <a:pPr algn="r"/>
            <a:r>
              <a:rPr sz="1000">
                <a:solidFill>
                  <a:srgbClr val="666666"/>
                </a:solidFill>
                <a:latin typeface="Arial"/>
                <a:hlinkClick r:id="rId2"/>
              </a:rPr>
              <a:t>Credit: Prof. Tarek Saab  ·  SuperCDMS Confluence</a:t>
            </a:r>
          </a:p>
        </p:txBody>
      </p:sp>
      <p:pic>
        <p:nvPicPr>
          <p:cNvPr id="6" name="Picture 5" descr="kline_all_zips.png"/>
          <p:cNvPicPr>
            <a:picLocks noChangeAspect="1"/>
          </p:cNvPicPr>
          <p:nvPr/>
        </p:nvPicPr>
        <p:blipFill>
          <a:blip r:embed="rId3"/>
          <a:stretch>
            <a:fillRect/>
          </a:stretch>
        </p:blipFill>
        <p:spPr>
          <a:xfrm>
            <a:off x="1059892" y="2487168"/>
            <a:ext cx="10078312" cy="3977639"/>
          </a:xfrm>
          <a:prstGeom prst="rect">
            <a:avLst/>
          </a:prstGeom>
        </p:spPr>
      </p:pic>
      <p:sp>
        <p:nvSpPr>
          <p:cNvPr id="7" name="TextBox 6"/>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(Prof. Saab's study)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2697480"/>
          </a:xfrm>
          <a:prstGeom prst="rect">
            <a:avLst/>
          </a:prstGeom>
          <a:noFill/>
        </p:spPr>
        <p:txBody>
          <a:bodyPr wrap="square">
            <a:spAutoFit/>
          </a:bodyPr>
          <a:lstStyle/>
          <a:p>
            <a:pPr>
              <a:spcAft>
                <a:spcPts val="700"/>
              </a:spcAft>
            </a:pPr>
            <a:r>
              <a:rPr sz="1600" b="1">
                <a:solidFill>
                  <a:srgbClr val="1F3864"/>
                </a:solidFill>
                <a:latin typeface="Arial"/>
              </a:rPr>
              <a:t>1.  Low-pass</a:t>
            </a:r>
            <a:r>
              <a:rPr sz="1600">
                <a:solidFill>
                  <a:srgbClr val="333333"/>
                </a:solidFill>
                <a:latin typeface="Arial"/>
              </a:rPr>
              <a:t> — 100 kHz 4th-order Butterworth</a:t>
            </a:r>
          </a:p>
          <a:p>
            <a:pPr>
              <a:spcAft>
                <a:spcPts val="700"/>
              </a:spcAft>
            </a:pPr>
            <a:r>
              <a:rPr sz="1600" b="1">
                <a:solidFill>
                  <a:srgbClr val="1F3864"/>
                </a:solidFill>
                <a:latin typeface="Arial"/>
              </a:rPr>
              <a:t>2.  Normalize</a:t>
            </a:r>
            <a:r>
              <a:rPr sz="1600">
                <a:solidFill>
                  <a:srgbClr val="333333"/>
                </a:solidFill>
                <a:latin typeface="Arial"/>
              </a:rPr>
              <a:t> — subtract the baseline, scale the trace to unit peak</a:t>
            </a:r>
          </a:p>
          <a:p>
            <a:pPr>
              <a:spcAft>
                <a:spcPts val="700"/>
              </a:spcAft>
            </a:pPr>
            <a:r>
              <a:rPr sz="1600" b="1">
                <a:solidFill>
                  <a:srgbClr val="1F3864"/>
                </a:solidFill>
                <a:latin typeface="Arial"/>
              </a:rPr>
              <a:t>3.  Fit</a:t>
            </a:r>
            <a:r>
              <a:rPr sz="1600">
                <a:solidFill>
                  <a:srgbClr val="333333"/>
                </a:solidFill>
                <a:latin typeface="Arial"/>
              </a:rPr>
              <a:t> — two-exponential, all 5 parameters free, including the pretrigger offset:</a:t>
            </a:r>
          </a:p>
          <a:p>
            <a:pPr lvl="1">
              <a:spcAft>
                <a:spcPts val="700"/>
              </a:spcAft>
            </a:pPr>
            <a:r>
              <a:rPr sz="1400">
                <a:solidFill>
                  <a:srgbClr val="666666"/>
                </a:solidFill>
                <a:latin typeface="Arial"/>
              </a:rPr>
              <a:t>        y(t) = A·[exp(−(t−t₀)/τ_fall) − exp(−(t−t₀)/τ_rise)] + b,    t₀ = pretrigger ∈ 16050 ± 3000 samples</a:t>
            </a:r>
          </a:p>
          <a:p>
            <a:pPr>
              <a:spcAft>
                <a:spcPts val="700"/>
              </a:spcAft>
            </a:pPr>
            <a:r>
              <a:rPr sz="1600" b="1">
                <a:solidFill>
                  <a:srgbClr val="1F3864"/>
                </a:solidFill>
                <a:latin typeface="Arial"/>
              </a:rPr>
              <a:t>4.  Quality numbers</a:t>
            </a:r>
            <a:r>
              <a:rPr sz="1600">
                <a:solidFill>
                  <a:srgbClr val="333333"/>
                </a:solidFill>
                <a:latin typeface="Arial"/>
              </a:rPr>
              <a:t> — fit_ok := A&gt;0 and 0&lt;τ_rise&lt;τ_fall;   NRMSE := RMS(residual)/fit peak</a:t>
            </a:r>
          </a:p>
          <a:p>
            <a:pPr>
              <a:spcAft>
                <a:spcPts val="700"/>
              </a:spcAft>
            </a:pPr>
            <a:r>
              <a:rPr sz="1600" b="1">
                <a:solidFill>
                  <a:srgbClr val="1F3864"/>
                </a:solidFill>
                <a:latin typeface="Arial"/>
              </a:rPr>
              <a:t>5.  Align</a:t>
            </a:r>
            <a:r>
              <a:rPr sz="1600">
                <a:solidFill>
                  <a:srgbClr val="333333"/>
                </a:solidFill>
                <a:latin typeface="Arial"/>
              </a:rPr>
              <a:t> — shift the measured trace by (fitted pretrigger − 16050)</a:t>
            </a:r>
          </a:p>
        </p:txBody>
      </p:sp>
      <p:pic>
        <p:nvPicPr>
          <p:cNvPr id="5" name="Picture 4" descr="fan_zip7_PBS1_before_zoom.png"/>
          <p:cNvPicPr>
            <a:picLocks noChangeAspect="1"/>
          </p:cNvPicPr>
          <p:nvPr/>
        </p:nvPicPr>
        <p:blipFill>
          <a:blip r:embed="rId2"/>
          <a:stretch>
            <a:fillRect/>
          </a:stretch>
        </p:blipFill>
        <p:spPr>
          <a:xfrm>
            <a:off x="1313560" y="3977639"/>
            <a:ext cx="4139439" cy="2468880"/>
          </a:xfrm>
          <a:prstGeom prst="rect">
            <a:avLst/>
          </a:prstGeom>
        </p:spPr>
      </p:pic>
      <p:sp>
        <p:nvSpPr>
          <p:cNvPr id="6" name="TextBox 5"/>
          <p:cNvSpPr txBox="1"/>
          <p:nvPr/>
        </p:nvSpPr>
        <p:spPr>
          <a:xfrm>
            <a:off x="822960" y="6476519"/>
            <a:ext cx="5120640" cy="274320"/>
          </a:xfrm>
          <a:prstGeom prst="rect">
            <a:avLst/>
          </a:prstGeom>
          <a:noFill/>
        </p:spPr>
        <p:txBody>
          <a:bodyPr wrap="square">
            <a:spAutoFit/>
          </a:bodyPr>
          <a:lstStyle/>
          <a:p>
            <a:pPr algn="ctr"/>
            <a:r>
              <a:rPr sz="1100" i="1">
                <a:solidFill>
                  <a:srgbClr val="666666"/>
                </a:solidFill>
                <a:latin typeface="Arial"/>
              </a:rPr>
              <a:t>All fit_ok fitted curves at the common pretrigger, peak-normalized — zoom on the pulse (Z7 PBS1, time in ms)</a:t>
            </a:r>
          </a:p>
        </p:txBody>
      </p:sp>
      <p:pic>
        <p:nvPicPr>
          <p:cNvPr id="7" name="Picture 6" descr="fan_zip7_PBS1_nrmse_zoom.png"/>
          <p:cNvPicPr>
            <a:picLocks noChangeAspect="1"/>
          </p:cNvPicPr>
          <p:nvPr/>
        </p:nvPicPr>
        <p:blipFill>
          <a:blip r:embed="rId3"/>
          <a:stretch>
            <a:fillRect/>
          </a:stretch>
        </p:blipFill>
        <p:spPr>
          <a:xfrm>
            <a:off x="6799960" y="3977639"/>
            <a:ext cx="4139439" cy="2468880"/>
          </a:xfrm>
          <a:prstGeom prst="rect">
            <a:avLst/>
          </a:prstGeom>
        </p:spPr>
      </p:pic>
      <p:sp>
        <p:nvSpPr>
          <p:cNvPr id="8" name="TextBox 7"/>
          <p:cNvSpPr txBox="1"/>
          <p:nvPr/>
        </p:nvSpPr>
        <p:spPr>
          <a:xfrm>
            <a:off x="6309360" y="6476519"/>
            <a:ext cx="5120640" cy="274320"/>
          </a:xfrm>
          <a:prstGeom prst="rect">
            <a:avLst/>
          </a:prstGeom>
          <a:noFill/>
        </p:spPr>
        <p:txBody>
          <a:bodyPr wrap="square">
            <a:spAutoFit/>
          </a:bodyPr>
          <a:lstStyle/>
          <a:p>
            <a:pPr algn="ctr"/>
            <a:r>
              <a:rPr sz="1100" i="1">
                <a:solidFill>
                  <a:srgbClr val="666666"/>
                </a:solidFill>
                <a:latin typeface="Arial"/>
              </a:rPr>
              <a:t>Same, after NRMSE ≤ 0.4 — a single tight shape family remains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low-passed trace (blue) vs 2-exp fit (red), NRMSE stamped per panel</a:t>
            </a:r>
          </a:p>
          <a:p>
            <a:pPr>
              <a:spcAft>
                <a:spcPts val="500"/>
              </a:spcAft>
            </a:pPr>
            <a:r>
              <a:rPr sz="1400">
                <a:solidFill>
                  <a:srgbClr val="333333"/>
                </a:solidFill>
                <a:latin typeface="Arial"/>
              </a:rPr>
              <a:t>• The same event fits consistently across channels; a noise trigger fails in all channels at once</a:t>
            </a:r>
          </a:p>
        </p:txBody>
      </p:sp>
      <p:pic>
        <p:nvPicPr>
          <p:cNvPr id="5" name="Picture 4" descr="fit_examples_zip7_noise.png"/>
          <p:cNvPicPr>
            <a:picLocks noChangeAspect="1"/>
          </p:cNvPicPr>
          <p:nvPr/>
        </p:nvPicPr>
        <p:blipFill>
          <a:blip r:embed="rId2"/>
          <a:stretch>
            <a:fillRect/>
          </a:stretch>
        </p:blipFill>
        <p:spPr>
          <a:xfrm>
            <a:off x="502920" y="2377440"/>
            <a:ext cx="5486400" cy="2547707"/>
          </a:xfrm>
          <a:prstGeom prst="rect">
            <a:avLst/>
          </a:prstGeom>
        </p:spPr>
      </p:pic>
      <p:sp>
        <p:nvSpPr>
          <p:cNvPr id="6" name="TextBox 5"/>
          <p:cNvSpPr txBox="1"/>
          <p:nvPr/>
        </p:nvSpPr>
        <p:spPr>
          <a:xfrm>
            <a:off x="502920" y="4955147"/>
            <a:ext cx="5486400" cy="274320"/>
          </a:xfrm>
          <a:prstGeom prst="rect">
            <a:avLst/>
          </a:prstGeom>
          <a:noFill/>
        </p:spPr>
        <p:txBody>
          <a:bodyPr wrap="square">
            <a:spAutoFit/>
          </a:bodyPr>
          <a:lstStyle/>
          <a:p>
            <a:pPr algn="ctr"/>
            <a:r>
              <a:rPr sz="1100" i="1">
                <a:solidFill>
                  <a:srgbClr val="666666"/>
                </a:solidFill>
                <a:latin typeface="Arial"/>
              </a:rPr>
              <a:t>Noise triggers: the fit fails in every channel at once</a:t>
            </a:r>
          </a:p>
        </p:txBody>
      </p:sp>
      <p:pic>
        <p:nvPicPr>
          <p:cNvPr id="7" name="Picture 6" descr="fit_examples_zip7_good.png"/>
          <p:cNvPicPr>
            <a:picLocks noChangeAspect="1"/>
          </p:cNvPicPr>
          <p:nvPr/>
        </p:nvPicPr>
        <p:blipFill>
          <a:blip r:embed="rId3"/>
          <a:stretch>
            <a:fillRect/>
          </a:stretch>
        </p:blipFill>
        <p:spPr>
          <a:xfrm>
            <a:off x="6263640" y="2377440"/>
            <a:ext cx="5486400" cy="2453114"/>
          </a:xfrm>
          <a:prstGeom prst="rect">
            <a:avLst/>
          </a:prstGeom>
        </p:spPr>
      </p:pic>
      <p:sp>
        <p:nvSpPr>
          <p:cNvPr id="8" name="TextBox 7"/>
          <p:cNvSpPr txBox="1"/>
          <p:nvPr/>
        </p:nvSpPr>
        <p:spPr>
          <a:xfrm>
            <a:off x="6263640" y="4860554"/>
            <a:ext cx="5486400" cy="274320"/>
          </a:xfrm>
          <a:prstGeom prst="rect">
            <a:avLst/>
          </a:prstGeom>
          <a:noFill/>
        </p:spPr>
        <p:txBody>
          <a:bodyPr wrap="square">
            <a:spAutoFit/>
          </a:bodyPr>
          <a:lstStyle/>
          <a:p>
            <a:pPr algn="ctr"/>
            <a:r>
              <a:rPr sz="1100" i="1">
                <a:solidFill>
                  <a:srgbClr val="666666"/>
                </a:solidFill>
                <a:latin typeface="Arial"/>
              </a:rPr>
              <a:t>K-line events: consistent good fits across channels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Noisy detectors (Z1, Z4, Z6, Z18, Z19, Z22, Z24): the PTOF window admits a noise-dominated mixture — this cut is what extracts the real-pulse population</a:t>
            </a:r>
          </a:p>
        </p:txBody>
      </p:sp>
      <p:pic>
        <p:nvPicPr>
          <p:cNvPr id="5" name="Picture 4" descr="nrmse_zip7_PBS1.png"/>
          <p:cNvPicPr>
            <a:picLocks noChangeAspect="1"/>
          </p:cNvPicPr>
          <p:nvPr/>
        </p:nvPicPr>
        <p:blipFill>
          <a:blip r:embed="rId2"/>
          <a:stretch>
            <a:fillRect/>
          </a:stretch>
        </p:blipFill>
        <p:spPr>
          <a:xfrm>
            <a:off x="1970576" y="2651760"/>
            <a:ext cx="8220367" cy="1874519"/>
          </a:xfrm>
          <a:prstGeom prst="rect">
            <a:avLst/>
          </a:prstGeom>
        </p:spPr>
      </p:pic>
      <p:sp>
        <p:nvSpPr>
          <p:cNvPr id="6" name="TextBox 5"/>
          <p:cNvSpPr txBox="1"/>
          <p:nvPr/>
        </p:nvSpPr>
        <p:spPr>
          <a:xfrm>
            <a:off x="1737360" y="4556279"/>
            <a:ext cx="8686800" cy="274320"/>
          </a:xfrm>
          <a:prstGeom prst="rect">
            <a:avLst/>
          </a:prstGeom>
          <a:noFill/>
        </p:spPr>
        <p:txBody>
          <a:bodyPr wrap="square">
            <a:spAutoFit/>
          </a:bodyPr>
          <a:lstStyle/>
          <a:p>
            <a:pPr algn="ctr"/>
            <a:r>
              <a:rPr sz="1100" i="1">
                <a:solidFill>
                  <a:srgbClr val="666666"/>
                </a:solidFill>
                <a:latin typeface="Arial"/>
              </a:rPr>
              <a:t>Z7 PBS1 (quiet): two clean populations, log-log axes</a:t>
            </a:r>
          </a:p>
        </p:txBody>
      </p:sp>
      <p:pic>
        <p:nvPicPr>
          <p:cNvPr id="7" name="Picture 6" descr="nrmse_zip22_PAS1.png"/>
          <p:cNvPicPr>
            <a:picLocks noChangeAspect="1"/>
          </p:cNvPicPr>
          <p:nvPr/>
        </p:nvPicPr>
        <p:blipFill>
          <a:blip r:embed="rId3"/>
          <a:stretch>
            <a:fillRect/>
          </a:stretch>
        </p:blipFill>
        <p:spPr>
          <a:xfrm>
            <a:off x="1989344" y="4754880"/>
            <a:ext cx="8182831" cy="1874519"/>
          </a:xfrm>
          <a:prstGeom prst="rect">
            <a:avLst/>
          </a:prstGeom>
        </p:spPr>
      </p:pic>
      <p:sp>
        <p:nvSpPr>
          <p:cNvPr id="8" name="TextBox 7"/>
          <p:cNvSpPr txBox="1"/>
          <p:nvPr/>
        </p:nvSpPr>
        <p:spPr>
          <a:xfrm>
            <a:off x="1737360" y="6659399"/>
            <a:ext cx="8686800" cy="274320"/>
          </a:xfrm>
          <a:prstGeom prst="rect">
            <a:avLst/>
          </a:prstGeom>
          <a:noFill/>
        </p:spPr>
        <p:txBody>
          <a:bodyPr wrap="square">
            <a:spAutoFit/>
          </a:bodyPr>
          <a:lstStyle/>
          <a:p>
            <a:pPr algn="ctr"/>
            <a:r>
              <a:rPr sz="1100" i="1">
                <a:solidFill>
                  <a:srgbClr val="666666"/>
                </a:solidFill>
                <a:latin typeface="Arial"/>
              </a:rPr>
              <a:t>Z22 PAS1 (noisy): noise population dominates — the window alone is not enough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a:p>
            <a:pPr>
              <a:spcAft>
                <a:spcPts val="500"/>
              </a:spcAft>
            </a:pPr>
            <a:r>
              <a:rPr sz="1400">
                <a:solidFill>
                  <a:srgbClr val="333333"/>
                </a:solidFill>
                <a:latin typeface="Arial"/>
              </a:rPr>
              <a:t>• Fan-cut view: fitted curves that pass (green) vs cut away (red) on top of the aligned data, median NRMSE of each population stamped per channel</a:t>
            </a:r>
          </a:p>
        </p:txBody>
      </p:sp>
      <p:pic>
        <p:nvPicPr>
          <p:cNvPr id="5" name="Picture 4" descr="slow_rise_zip22_crop.png"/>
          <p:cNvPicPr>
            <a:picLocks noChangeAspect="1"/>
          </p:cNvPicPr>
          <p:nvPr/>
        </p:nvPicPr>
        <p:blipFill>
          <a:blip r:embed="rId2"/>
          <a:stretch>
            <a:fillRect/>
          </a:stretch>
        </p:blipFill>
        <p:spPr>
          <a:xfrm>
            <a:off x="502920" y="2468880"/>
            <a:ext cx="5394960" cy="3699401"/>
          </a:xfrm>
          <a:prstGeom prst="rect">
            <a:avLst/>
          </a:prstGeom>
        </p:spPr>
      </p:pic>
      <p:sp>
        <p:nvSpPr>
          <p:cNvPr id="6" name="TextBox 5"/>
          <p:cNvSpPr txBox="1"/>
          <p:nvPr/>
        </p:nvSpPr>
        <p:spPr>
          <a:xfrm>
            <a:off x="502920" y="6198281"/>
            <a:ext cx="5394960" cy="274320"/>
          </a:xfrm>
          <a:prstGeom prst="rect">
            <a:avLst/>
          </a:prstGeom>
          <a:noFill/>
        </p:spPr>
        <p:txBody>
          <a:bodyPr wrap="square">
            <a:spAutoFit/>
          </a:bodyPr>
          <a:lstStyle/>
          <a:p>
            <a:pPr algn="ctr"/>
            <a:r>
              <a:rPr sz="1100" i="1">
                <a:solidFill>
                  <a:srgbClr val="666666"/>
                </a:solidFill>
                <a:latin typeface="Arial"/>
              </a:rPr>
              <a:t>Z22: NRMSE-rejected events — raw traces are noise</a:t>
            </a:r>
          </a:p>
        </p:txBody>
      </p:sp>
      <p:pic>
        <p:nvPicPr>
          <p:cNvPr id="7" name="Picture 6" descr="fan_cut_zip22_PCS1.png"/>
          <p:cNvPicPr>
            <a:picLocks noChangeAspect="1"/>
          </p:cNvPicPr>
          <p:nvPr/>
        </p:nvPicPr>
        <p:blipFill>
          <a:blip r:embed="rId3"/>
          <a:stretch>
            <a:fillRect/>
          </a:stretch>
        </p:blipFill>
        <p:spPr>
          <a:xfrm>
            <a:off x="6126480" y="2651760"/>
            <a:ext cx="5760720" cy="3383280"/>
          </a:xfrm>
          <a:prstGeom prst="rect">
            <a:avLst/>
          </a:prstGeom>
        </p:spPr>
      </p:pic>
      <p:sp>
        <p:nvSpPr>
          <p:cNvPr id="8" name="TextBox 7"/>
          <p:cNvSpPr txBox="1"/>
          <p:nvPr/>
        </p:nvSpPr>
        <p:spPr>
          <a:xfrm>
            <a:off x="6126480" y="6065040"/>
            <a:ext cx="5760720" cy="274320"/>
          </a:xfrm>
          <a:prstGeom prst="rect">
            <a:avLst/>
          </a:prstGeom>
          <a:noFill/>
        </p:spPr>
        <p:txBody>
          <a:bodyPr wrap="square">
            <a:spAutoFit/>
          </a:bodyPr>
          <a:lstStyle/>
          <a:p>
            <a:pPr algn="ctr"/>
            <a:r>
              <a:rPr sz="1100" i="1">
                <a:solidFill>
                  <a:srgbClr val="666666"/>
                </a:solidFill>
                <a:latin typeface="Arial"/>
              </a:rPr>
              <a:t>Z22 PCS1: pass (green) vs rejected (red) — vertically stretched for visibility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physics</a:t>
            </a:r>
          </a:p>
        </p:txBody>
      </p:sp>
      <p:pic>
        <p:nvPicPr>
          <p:cNvPr id="5" name="Picture 4" descr="slow_fall_zip7_crop.png"/>
          <p:cNvPicPr>
            <a:picLocks noChangeAspect="1"/>
          </p:cNvPicPr>
          <p:nvPr/>
        </p:nvPicPr>
        <p:blipFill>
          <a:blip r:embed="rId2"/>
          <a:stretch>
            <a:fillRect/>
          </a:stretch>
        </p:blipFill>
        <p:spPr>
          <a:xfrm>
            <a:off x="411480" y="2651760"/>
            <a:ext cx="6675120" cy="3432048"/>
          </a:xfrm>
          <a:prstGeom prst="rect">
            <a:avLst/>
          </a:prstGeom>
        </p:spPr>
      </p:pic>
      <p:sp>
        <p:nvSpPr>
          <p:cNvPr id="6" name="TextBox 5"/>
          <p:cNvSpPr txBox="1"/>
          <p:nvPr/>
        </p:nvSpPr>
        <p:spPr>
          <a:xfrm>
            <a:off x="411480" y="6113808"/>
            <a:ext cx="6675120" cy="274320"/>
          </a:xfrm>
          <a:prstGeom prst="rect">
            <a:avLst/>
          </a:prstGeom>
          <a:noFill/>
        </p:spPr>
        <p:txBody>
          <a:bodyPr wrap="square">
            <a:spAutoFit/>
          </a:bodyPr>
          <a:lstStyle/>
          <a:p>
            <a:pPr algn="ctr"/>
            <a:r>
              <a:rPr sz="1100" i="1">
                <a:solidFill>
                  <a:srgbClr val="666666"/>
                </a:solidFill>
                <a:latin typeface="Arial"/>
              </a:rPr>
              <a:t>Z7, 3 of the sampled slow-fall events: normal pulses in PBS2/PCS2/PES2, low-frequency swings only in PDS2</a:t>
            </a:r>
          </a:p>
        </p:txBody>
      </p:sp>
      <p:pic>
        <p:nvPicPr>
          <p:cNvPr id="7" name="Picture 6" descr="time_constants_zip7_PDS2_tfall.png"/>
          <p:cNvPicPr>
            <a:picLocks noChangeAspect="1"/>
          </p:cNvPicPr>
          <p:nvPr/>
        </p:nvPicPr>
        <p:blipFill>
          <a:blip r:embed="rId3"/>
          <a:stretch>
            <a:fillRect/>
          </a:stretch>
        </p:blipFill>
        <p:spPr>
          <a:xfrm>
            <a:off x="7315200" y="2834640"/>
            <a:ext cx="4663440" cy="2926080"/>
          </a:xfrm>
          <a:prstGeom prst="rect">
            <a:avLst/>
          </a:prstGeom>
        </p:spPr>
      </p:pic>
      <p:sp>
        <p:nvSpPr>
          <p:cNvPr id="8" name="TextBox 7"/>
          <p:cNvSpPr txBox="1"/>
          <p:nvPr/>
        </p:nvSpPr>
        <p:spPr>
          <a:xfrm>
            <a:off x="7315200" y="5790720"/>
            <a:ext cx="4663440" cy="274320"/>
          </a:xfrm>
          <a:prstGeom prst="rect">
            <a:avLst/>
          </a:prstGeom>
          <a:noFill/>
        </p:spPr>
        <p:txBody>
          <a:bodyPr wrap="square">
            <a:spAutoFit/>
          </a:bodyPr>
          <a:lstStyle/>
          <a:p>
            <a:pPr algn="ctr"/>
            <a:r>
              <a:rPr sz="1100" i="1">
                <a:solidFill>
                  <a:srgbClr val="666666"/>
                </a:solidFill>
                <a:latin typeface="Arial"/>
              </a:rPr>
              <a:t>Z7 PDS2, fitted τ_fall: broad tail (median 0.51 ms) — the artifact in the distributions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2 — genuine slow-rise pulses (echo-trigger events)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Same sampling recipe on the rise side: median NRMSE ≤ 0.4 AND median τ_rise &gt; 0.2 ms → the raw traces show real pulses — pretrigger aligned, peak late, consistent across channels</a:t>
            </a:r>
          </a:p>
          <a:p>
            <a:pPr>
              <a:spcAft>
                <a:spcPts val="500"/>
              </a:spcAft>
            </a:pPr>
            <a:r>
              <a:rPr sz="1400">
                <a:solidFill>
                  <a:srgbClr val="333333"/>
                </a:solidFill>
                <a:latin typeface="Arial"/>
              </a:rPr>
              <a:t>• A genuine second, slower pulse shape — a faint “echo” behind the main pulse (candidate surface/bulk effect, not settled)</a:t>
            </a:r>
          </a:p>
          <a:p>
            <a:pPr>
              <a:spcAft>
                <a:spcPts val="500"/>
              </a:spcAft>
            </a:pPr>
            <a:r>
              <a:rPr sz="1400">
                <a:solidFill>
                  <a:srgbClr val="333333"/>
                </a:solidFill>
                <a:latin typeface="Arial"/>
              </a:rPr>
              <a:t>• Real physics → cannot simply be cut away; exactly the shape variation the multi-template NxM method is built to capture</a:t>
            </a:r>
          </a:p>
        </p:txBody>
      </p:sp>
      <p:pic>
        <p:nvPicPr>
          <p:cNvPr id="5" name="Picture 4" descr="shadow_zip7_crop.png"/>
          <p:cNvPicPr>
            <a:picLocks noChangeAspect="1"/>
          </p:cNvPicPr>
          <p:nvPr/>
        </p:nvPicPr>
        <p:blipFill>
          <a:blip r:embed="rId2"/>
          <a:stretch>
            <a:fillRect/>
          </a:stretch>
        </p:blipFill>
        <p:spPr>
          <a:xfrm>
            <a:off x="1167141" y="2697480"/>
            <a:ext cx="9827237" cy="3794760"/>
          </a:xfrm>
          <a:prstGeom prst="rect">
            <a:avLst/>
          </a:prstGeom>
        </p:spPr>
      </p:pic>
      <p:sp>
        <p:nvSpPr>
          <p:cNvPr id="6" name="TextBox 5"/>
          <p:cNvSpPr txBox="1"/>
          <p:nvPr/>
        </p:nvSpPr>
        <p:spPr>
          <a:xfrm>
            <a:off x="1097280" y="6522240"/>
            <a:ext cx="9966960" cy="274320"/>
          </a:xfrm>
          <a:prstGeom prst="rect">
            <a:avLst/>
          </a:prstGeom>
          <a:noFill/>
        </p:spPr>
        <p:txBody>
          <a:bodyPr wrap="square">
            <a:spAutoFit/>
          </a:bodyPr>
          <a:lstStyle/>
          <a:p>
            <a:pPr algn="ctr"/>
            <a:r>
              <a:rPr sz="1100" i="1">
                <a:solidFill>
                  <a:srgbClr val="666666"/>
                </a:solidFill>
                <a:latin typeface="Arial"/>
              </a:rPr>
              <a:t>Z7 echo-trigger events (first 4 channels): raw (gray) / LP (blue) / fit (red) — genuine slow pulses, pretrigger aligned, peak late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Slow drift also fits “slow”: a τ_rise ≤ 0.3 ms ceiling</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600200"/>
          </a:xfrm>
          <a:prstGeom prst="rect">
            <a:avLst/>
          </a:prstGeom>
          <a:noFill/>
        </p:spPr>
        <p:txBody>
          <a:bodyPr wrap="square">
            <a:spAutoFit/>
          </a:bodyPr>
          <a:lstStyle/>
          <a:p>
            <a:pPr>
              <a:spcAft>
                <a:spcPts val="500"/>
              </a:spcAft>
            </a:pPr>
            <a:r>
              <a:rPr sz="1400">
                <a:solidFill>
                  <a:srgbClr val="333333"/>
                </a:solidFill>
                <a:latin typeface="Arial"/>
              </a:rPr>
              <a:t>• On noisy-window detectors a smooth baseline drift survives the NRMSE cut — a slow 2-exp hugs it with a tiny residual — and mimics a slow rise</a:t>
            </a:r>
          </a:p>
          <a:p>
            <a:pPr>
              <a:spcAft>
                <a:spcPts val="500"/>
              </a:spcAft>
            </a:pPr>
            <a:r>
              <a:rPr sz="1400">
                <a:solidFill>
                  <a:srgbClr val="333333"/>
                </a:solidFill>
                <a:latin typeface="Arial"/>
              </a:rPr>
              <a:t>• Fast pulses sit at τ_rise ≈ 0.1 ms (p90 ≈ 0.15 ms), far below the drift tail → a ceiling at 0.3 ms blocks the drift at ≈ 2–5% signal cost</a:t>
            </a:r>
          </a:p>
          <a:p>
            <a:pPr>
              <a:spcAft>
                <a:spcPts val="500"/>
              </a:spcAft>
            </a:pPr>
            <a:r>
              <a:rPr sz="1400">
                <a:solidFill>
                  <a:srgbClr val="333333"/>
                </a:solidFill>
                <a:latin typeface="Arial"/>
              </a:rPr>
              <a:t>• Keeps most genuine slow pulses, trims the very slowest — documented trade-off, final decision pending</a:t>
            </a:r>
          </a:p>
        </p:txBody>
      </p:sp>
      <p:pic>
        <p:nvPicPr>
          <p:cNvPr id="5" name="Picture 4" descr="time_constants_zip7_PAS1.png"/>
          <p:cNvPicPr>
            <a:picLocks noChangeAspect="1"/>
          </p:cNvPicPr>
          <p:nvPr/>
        </p:nvPicPr>
        <p:blipFill>
          <a:blip r:embed="rId2"/>
          <a:stretch>
            <a:fillRect/>
          </a:stretch>
        </p:blipFill>
        <p:spPr>
          <a:xfrm>
            <a:off x="1280160" y="2880360"/>
            <a:ext cx="9601200" cy="1851803"/>
          </a:xfrm>
          <a:prstGeom prst="rect">
            <a:avLst/>
          </a:prstGeom>
        </p:spPr>
      </p:pic>
      <p:sp>
        <p:nvSpPr>
          <p:cNvPr id="6" name="TextBox 5"/>
          <p:cNvSpPr txBox="1"/>
          <p:nvPr/>
        </p:nvSpPr>
        <p:spPr>
          <a:xfrm>
            <a:off x="1280160" y="4762163"/>
            <a:ext cx="9601200" cy="274320"/>
          </a:xfrm>
          <a:prstGeom prst="rect">
            <a:avLst/>
          </a:prstGeom>
          <a:noFill/>
        </p:spPr>
        <p:txBody>
          <a:bodyPr wrap="square">
            <a:spAutoFit/>
          </a:bodyPr>
          <a:lstStyle/>
          <a:p>
            <a:pPr algn="ctr"/>
            <a:r>
              <a:rPr sz="1100" i="1">
                <a:solidFill>
                  <a:srgbClr val="666666"/>
                </a:solidFill>
                <a:latin typeface="Arial"/>
              </a:rPr>
              <a:t>Z7 PAS1: fitted τ_rise (median 0.105 ms) and τ_fall distributions</a:t>
            </a:r>
          </a:p>
        </p:txBody>
      </p:sp>
      <p:sp>
        <p:nvSpPr>
          <p:cNvPr id="7" name="TextBox 6"/>
          <p:cNvSpPr txBox="1"/>
          <p:nvPr/>
        </p:nvSpPr>
        <p:spPr>
          <a:xfrm>
            <a:off x="1280160" y="5257800"/>
            <a:ext cx="9601200" cy="914400"/>
          </a:xfrm>
          <a:prstGeom prst="rect">
            <a:avLst/>
          </a:prstGeom>
          <a:noFill/>
        </p:spPr>
        <p:txBody>
          <a:bodyPr wrap="square">
            <a:spAutoFit/>
          </a:bodyPr>
          <a:lstStyle/>
          <a:p>
            <a:pPr>
              <a:spcAft>
                <a:spcPts val="500"/>
              </a:spcAft>
            </a:pPr>
            <a:r>
              <a:rPr sz="1300">
                <a:solidFill>
                  <a:srgbClr val="333333"/>
                </a:solidFill>
                <a:latin typeface="Arial"/>
              </a:rPr>
              <a:t>• On quiet detectors both τ_rise and τ_fall distributions are narrow — the pulse shape is stable across events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Per channel: weighted mean of ALL fit_ok fitted curves at the common pretrigger, weight w = 1/max(NRMSE, 0.01)²</a:t>
            </a:r>
          </a:p>
          <a:p>
            <a:pPr>
              <a:spcAft>
                <a:spcPts val="500"/>
              </a:spcAft>
            </a:pPr>
            <a:r>
              <a:rPr sz="1400">
                <a:solidFill>
                  <a:srgbClr val="333333"/>
                </a:solidFill>
                <a:latin typeface="Arial"/>
              </a:rPr>
              <a:t>• Badly-fit events count less but are never excluded — robust and smooth (noise-free by construction)</a:t>
            </a:r>
          </a:p>
          <a:p>
            <a:pPr>
              <a:spcAft>
                <a:spcPts val="500"/>
              </a:spcAft>
            </a:pPr>
            <a:r>
              <a:rPr sz="1400">
                <a:solidFill>
                  <a:srgbClr val="333333"/>
                </a:solidFill>
                <a:latin typeface="Arial"/>
              </a:rPr>
              <a:t>• Delivered as peak-normalized 32768-bin ROOT TH1D per channel + summed PT/PS1/PS2 templates</a:t>
            </a:r>
          </a:p>
        </p:txBody>
      </p:sp>
      <p:pic>
        <p:nvPicPr>
          <p:cNvPr id="5" name="Picture 4" descr="fan_zip7_PBS1_after.png"/>
          <p:cNvPicPr>
            <a:picLocks noChangeAspect="1"/>
          </p:cNvPicPr>
          <p:nvPr/>
        </p:nvPicPr>
        <p:blipFill>
          <a:blip r:embed="rId2"/>
          <a:stretch>
            <a:fillRect/>
          </a:stretch>
        </p:blipFill>
        <p:spPr>
          <a:xfrm>
            <a:off x="1383919" y="3063240"/>
            <a:ext cx="9393682" cy="2834640"/>
          </a:xfrm>
          <a:prstGeom prst="rect">
            <a:avLst/>
          </a:prstGeom>
        </p:spPr>
      </p:pic>
      <p:sp>
        <p:nvSpPr>
          <p:cNvPr id="6" name="TextBox 5"/>
          <p:cNvSpPr txBox="1"/>
          <p:nvPr/>
        </p:nvSpPr>
        <p:spPr>
          <a:xfrm>
            <a:off x="1280160" y="5927880"/>
            <a:ext cx="9601200" cy="274320"/>
          </a:xfrm>
          <a:prstGeom prst="rect">
            <a:avLst/>
          </a:prstGeom>
          <a:noFill/>
        </p:spPr>
        <p:txBody>
          <a:bodyPr wrap="square">
            <a:spAutoFit/>
          </a:bodyPr>
          <a:lstStyle/>
          <a:p>
            <a:pPr algn="ctr"/>
            <a:r>
              <a:rPr sz="1100" i="1">
                <a:solidFill>
                  <a:srgbClr val="666666"/>
                </a:solidFill>
                <a:latin typeface="Arial"/>
              </a:rPr>
              <a:t>Z7 PBS1, fitted curves after NRMSE ≤ 0.4 and τ_rise ≤ 0.3 ms — the NRMSE-weighted mean of this family is the 1x1 template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Input: fitted curves passing fit_ok + NRMSE ≤ 0.4 + τ_rise ≤ 0.3 ms, at common pretrigger, peak-normalized (PCA window 15550–24050, ≤ 3000 curves/channel)</a:t>
            </a:r>
          </a:p>
          <a:p>
            <a:pPr>
              <a:spcAft>
                <a:spcPts val="500"/>
              </a:spcAft>
            </a:pPr>
            <a:r>
              <a:rPr sz="1400">
                <a:solidFill>
                  <a:srgbClr val="333333"/>
                </a:solidFill>
                <a:latin typeface="Arial"/>
              </a:rPr>
              <a:t>• nxm0 = mean shape;  nxm1…nxm4 = first four principal components — a real pulse is fit as Σᵢ ampᵢ · nxmᵢ</a:t>
            </a:r>
          </a:p>
          <a:p>
            <a:pPr>
              <a:spcAft>
                <a:spcPts val="500"/>
              </a:spcAft>
            </a:pPr>
            <a:r>
              <a:rPr sz="1400">
                <a:solidFill>
                  <a:srgbClr val="333333"/>
                </a:solidFill>
                <a:latin typeface="Arial"/>
              </a:rPr>
              <a:t>• PC1 + PC2 already capture 96–98% of the shape variance; final step before delivery: normalize all five to unit peak — the delivered product</a:t>
            </a:r>
          </a:p>
        </p:txBody>
      </p:sp>
      <p:pic>
        <p:nvPicPr>
          <p:cNvPr id="5" name="Picture 4" descr="pca_zip7_PAS1.png"/>
          <p:cNvPicPr>
            <a:picLocks noChangeAspect="1"/>
          </p:cNvPicPr>
          <p:nvPr/>
        </p:nvPicPr>
        <p:blipFill>
          <a:blip r:embed="rId2"/>
          <a:stretch>
            <a:fillRect/>
          </a:stretch>
        </p:blipFill>
        <p:spPr>
          <a:xfrm>
            <a:off x="2831374" y="2697480"/>
            <a:ext cx="6498771" cy="1828800"/>
          </a:xfrm>
          <a:prstGeom prst="rect">
            <a:avLst/>
          </a:prstGeom>
        </p:spPr>
      </p:pic>
      <p:pic>
        <p:nvPicPr>
          <p:cNvPr id="6" name="Picture 5" descr="pca_zip7_PBS1.png"/>
          <p:cNvPicPr>
            <a:picLocks noChangeAspect="1"/>
          </p:cNvPicPr>
          <p:nvPr/>
        </p:nvPicPr>
        <p:blipFill>
          <a:blip r:embed="rId3"/>
          <a:stretch>
            <a:fillRect/>
          </a:stretch>
        </p:blipFill>
        <p:spPr>
          <a:xfrm>
            <a:off x="2831374" y="4572000"/>
            <a:ext cx="6498771" cy="1828800"/>
          </a:xfrm>
          <a:prstGeom prst="rect">
            <a:avLst/>
          </a:prstGeom>
        </p:spPr>
      </p:pic>
      <p:sp>
        <p:nvSpPr>
          <p:cNvPr id="7" name="TextBox 6"/>
          <p:cNvSpPr txBox="1"/>
          <p:nvPr/>
        </p:nvSpPr>
        <p:spPr>
          <a:xfrm>
            <a:off x="1371600" y="6430800"/>
            <a:ext cx="9418320" cy="274320"/>
          </a:xfrm>
          <a:prstGeom prst="rect">
            <a:avLst/>
          </a:prstGeom>
          <a:noFill/>
        </p:spPr>
        <p:txBody>
          <a:bodyPr wrap="square">
            <a:spAutoFit/>
          </a:bodyPr>
          <a:lstStyle/>
          <a:p>
            <a:pPr algn="ctr"/>
            <a:r>
              <a:rPr sz="1100" i="1">
                <a:solidFill>
                  <a:srgbClr val="666666"/>
                </a:solidFill>
                <a:latin typeface="Arial"/>
              </a:rPr>
              <a:t>Z7 PAS1 / PBS1: nxm0 (mean) + nxm1–4 (PCs) — the oscillating components encode rise/fall-time variation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0"/>
            <a:ext cx="11247120" cy="4206240"/>
          </a:xfrm>
          <a:prstGeom prst="rect">
            <a:avLst/>
          </a:prstGeom>
          <a:noFill/>
        </p:spPr>
        <p:txBody>
          <a:bodyPr wrap="square">
            <a:spAutoFit/>
          </a:bodyPr>
          <a:lstStyle/>
          <a:p>
            <a:pPr>
              <a:spcAft>
                <a:spcPts val="500"/>
              </a:spcAft>
            </a:pPr>
            <a:r>
              <a:rPr sz="1600">
                <a:solidFill>
                  <a:srgbClr val="333333"/>
                </a:solidFill>
                <a:latin typeface="Arial"/>
              </a:rPr>
              <a:t>• Delivered for all 13 zips, official cdmsbats PulseTemplates layout (zip{N}/{chan}, {chan}nxm0–4, summed PT/PS1/PS2):</a:t>
            </a:r>
          </a:p>
          <a:p>
            <a:pPr lvl="1">
              <a:spcAft>
                <a:spcPts val="500"/>
              </a:spcAft>
            </a:pPr>
            <a:r>
              <a:rPr sz="1400">
                <a:solidFill>
                  <a:srgbClr val="666666"/>
                </a:solidFill>
                <a:latin typeface="Arial"/>
              </a:rPr>
              <a:t>– SNOLAB_R4_20260706_ZhihengLi_zip{N}.root — 2-exp NRMSE-weighted (1x1)</a:t>
            </a:r>
          </a:p>
          <a:p>
            <a:pPr lvl="1">
              <a:spcAft>
                <a:spcPts val="500"/>
              </a:spcAft>
            </a:pPr>
            <a:r>
              <a:rPr sz="1400">
                <a:solidFill>
                  <a:srgbClr val="666666"/>
                </a:solidFill>
                <a:latin typeface="Arial"/>
              </a:rPr>
              <a:t>– SNOLAB_R4_20260707_ZhihengLi_pca_zip{N}.root — NxM PCA (normalized)</a:t>
            </a:r>
          </a:p>
          <a:p>
            <a:pPr>
              <a:spcAft>
                <a:spcPts val="500"/>
              </a:spcAft>
            </a:pPr>
            <a:r>
              <a:rPr sz="1600">
                <a:solidFill>
                  <a:srgbClr val="333333"/>
                </a:solidFill>
                <a:latin typeface="Arial"/>
              </a:rPr>
              <a:t>• Every step is traceable: raw cache → per-series fit checkpoints indexed by EventNumber → self-documenting figures (11 types × 13 zips, all versioned)</a:t>
            </a:r>
          </a:p>
          <a:p>
            <a:pPr>
              <a:spcAft>
                <a:spcPts val="500"/>
              </a:spcAft>
            </a:pPr>
            <a:r>
              <a:rPr sz="1600">
                <a:solidFill>
                  <a:srgbClr val="333333"/>
                </a:solidFill>
                <a:latin typeface="Arial"/>
              </a:rPr>
              <a:t>• Cuts derived from the data, validated in raw traces: NRMSE ≤ 0.4 (bimodal valley), τ_rise ≤ 0.3 ms (drift leakage)</a:t>
            </a:r>
          </a:p>
          <a:p>
            <a:pPr>
              <a:spcAft>
                <a:spcPts val="500"/>
              </a:spcAft>
            </a:pPr>
            <a:r>
              <a:rPr sz="1600">
                <a:solidFill>
                  <a:srgbClr val="333333"/>
                </a:solidFill>
                <a:latin typeface="Arial"/>
              </a:rPr>
              <a:t>• Open items:</a:t>
            </a:r>
          </a:p>
          <a:p>
            <a:pPr lvl="1">
              <a:spcAft>
                <a:spcPts val="500"/>
              </a:spcAft>
            </a:pPr>
            <a:r>
              <a:rPr sz="1400">
                <a:solidFill>
                  <a:srgbClr val="666666"/>
                </a:solidFill>
                <a:latin typeface="Arial"/>
              </a:rPr>
              <a:t>– final decision on the τ_rise ceiling vs the genuine slow-pulse population</a:t>
            </a:r>
          </a:p>
          <a:p>
            <a:pPr lvl="1">
              <a:spcAft>
                <a:spcPts val="500"/>
              </a:spcAft>
            </a:pPr>
            <a:r>
              <a:rPr sz="1400">
                <a:solidFill>
                  <a:srgbClr val="666666"/>
                </a:solidFill>
                <a:latin typeface="Arial"/>
              </a:rPr>
              <a:t>– run the group's template-validation method on the new templates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