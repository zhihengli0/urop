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Low-pass at 100 kilohertz, baseline subtraction, peak normalization, then a two-exponential fit where all five parameters are free, including the pulse onset. The onset is never pinned: real trigger times vary, and the fitted onsets cluster about 230 samples after the nominal pretrigger - pinning it would bias the time constants. Each fit records a physicality flag and an NRMSE; no cut yet. Finally the measured trace is aligned by shifting it by the fitted onset - a pure translation. The two fan plots show the output of the fit step: every fitted curve drawn at the common onset, peak-normalized. On the left, all physical fits - you can see slow components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things look like after alignment - zoomed right on the peak. The blue band is thousands of measured traces stacked on top of each other; red is their average; orange is the weighted average of the fitted curves. On a quiet detector the bundle is very tight - the pulse shape really is highly consistent, so the raw material for a template is good. Now please notice one detail: in both channels there is a faint, displaced little bundle next to the main one - very clear in the left panel. And these two channels sit on opposite faces of the crystal, so this is not a quirk of one channel. Keep it in mind - we'll come back to what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Onset aligned, peak arriving late, consistent across all channels - they are exactly the shadow from the alignment plot.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shadow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onset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 every later cut stays explicit and reversible</a:t>
            </a:r>
          </a:p>
        </p:txBody>
      </p:sp>
      <p:pic>
        <p:nvPicPr>
          <p:cNvPr id="5" name="Picture 4" descr="kline_all_zips.png"/>
          <p:cNvPicPr>
            <a:picLocks noChangeAspect="1"/>
          </p:cNvPicPr>
          <p:nvPr/>
        </p:nvPicPr>
        <p:blipFill>
          <a:blip r:embed="rId2"/>
          <a:stretch>
            <a:fillRect/>
          </a:stretch>
        </p:blipFill>
        <p:spPr>
          <a:xfrm>
            <a:off x="1059892" y="2487168"/>
            <a:ext cx="10078312" cy="3977639"/>
          </a:xfrm>
          <a:prstGeom prst="rect">
            <a:avLst/>
          </a:prstGeom>
        </p:spPr>
      </p:pic>
      <p:sp>
        <p:nvSpPr>
          <p:cNvPr id="6" name="TextBox 5"/>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 red line = fitted mean of the 10.37 keV K-line. Selection window per detector = red-line position ×/÷ 1.35.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free-pretrigger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834640"/>
          </a:xfrm>
          <a:prstGeom prst="rect">
            <a:avLst/>
          </a:prstGeom>
          <a:noFill/>
        </p:spPr>
        <p:txBody>
          <a:bodyPr wrap="square">
            <a:spAutoFit/>
          </a:bodyPr>
          <a:lstStyle/>
          <a:p>
            <a:pPr>
              <a:spcAft>
                <a:spcPts val="500"/>
              </a:spcAft>
            </a:pPr>
            <a:r>
              <a:rPr sz="1500">
                <a:solidFill>
                  <a:srgbClr val="333333"/>
                </a:solidFill>
                <a:latin typeface="Arial"/>
              </a:rPr>
              <a:t>• 1.  100 kHz 4th-order Butterworth low-pass (steady-state init — no filter start-up transient)</a:t>
            </a:r>
          </a:p>
          <a:p>
            <a:pPr>
              <a:spcAft>
                <a:spcPts val="500"/>
              </a:spcAft>
            </a:pPr>
            <a:r>
              <a:rPr sz="1500">
                <a:solidFill>
                  <a:srgbClr val="333333"/>
                </a:solidFill>
                <a:latin typeface="Arial"/>
              </a:rPr>
              <a:t>• 2.  Baseline = median of samples 2000–12000, subtracted; normalize by the global trace peak</a:t>
            </a:r>
          </a:p>
          <a:p>
            <a:pPr>
              <a:spcAft>
                <a:spcPts val="500"/>
              </a:spcAft>
            </a:pPr>
            <a:r>
              <a:rPr sz="1500">
                <a:solidFill>
                  <a:srgbClr val="333333"/>
                </a:solidFill>
                <a:latin typeface="Arial"/>
              </a:rPr>
              <a:t>• 3.  Two-exponential fit — all 5 parameters free, including the onset:</a:t>
            </a:r>
          </a:p>
          <a:p>
            <a:pPr lvl="1">
              <a:spcAft>
                <a:spcPts val="500"/>
              </a:spcAft>
            </a:pPr>
            <a:r>
              <a:rPr sz="1300">
                <a:solidFill>
                  <a:srgbClr val="666666"/>
                </a:solidFill>
                <a:latin typeface="Arial"/>
              </a:rPr>
              <a:t>– y(t) = A·[exp(−(t−t₀)/τ_fall) − exp(−(t−t₀)/τ_rise)] + b,   t₀ ∈ 16050 ± 3000 samples</a:t>
            </a:r>
          </a:p>
          <a:p>
            <a:pPr lvl="1">
              <a:spcAft>
                <a:spcPts val="500"/>
              </a:spcAft>
            </a:pPr>
            <a:r>
              <a:rPr sz="1300">
                <a:solidFill>
                  <a:srgbClr val="666666"/>
                </a:solidFill>
                <a:latin typeface="Arial"/>
              </a:rPr>
              <a:t>– fit window 12550–24050 (stride 4);  τ_rise ∈ [1 µs, 5 ms],  τ_fall ∈ [10 µs, 20 ms]</a:t>
            </a:r>
          </a:p>
          <a:p>
            <a:pPr>
              <a:spcAft>
                <a:spcPts val="500"/>
              </a:spcAft>
            </a:pPr>
            <a:r>
              <a:rPr sz="1500">
                <a:solidFill>
                  <a:srgbClr val="333333"/>
                </a:solidFill>
                <a:latin typeface="Arial"/>
              </a:rPr>
              <a:t>• 4.  Quality numbers — fit_ok := A&gt;0 and 0&lt;τ_rise&lt;τ_fall;  NRMSE := RMS(residual)/fit peak (recorded, no cut yet)</a:t>
            </a:r>
          </a:p>
          <a:p>
            <a:pPr>
              <a:spcAft>
                <a:spcPts val="500"/>
              </a:spcAft>
            </a:pPr>
            <a:r>
              <a:rPr sz="1500">
                <a:solidFill>
                  <a:srgbClr val="333333"/>
                </a:solidFill>
                <a:latin typeface="Arial"/>
              </a:rPr>
              <a:t>• 5.  Align — shift the measured trace by (fitted onset − 16050), sub-sample interpolation: a pure translation</a:t>
            </a:r>
          </a:p>
        </p:txBody>
      </p:sp>
      <p:sp>
        <p:nvSpPr>
          <p:cNvPr id="5" name="TextBox 4"/>
          <p:cNvSpPr txBox="1"/>
          <p:nvPr/>
        </p:nvSpPr>
        <p:spPr>
          <a:xfrm>
            <a:off x="502920" y="4005072"/>
            <a:ext cx="11247120" cy="685800"/>
          </a:xfrm>
          <a:prstGeom prst="rect">
            <a:avLst/>
          </a:prstGeom>
          <a:noFill/>
        </p:spPr>
        <p:txBody>
          <a:bodyPr wrap="square">
            <a:spAutoFit/>
          </a:bodyPr>
          <a:lstStyle/>
          <a:p>
            <a:pPr>
              <a:spcAft>
                <a:spcPts val="500"/>
              </a:spcAft>
            </a:pPr>
            <a:r>
              <a:rPr sz="1400">
                <a:solidFill>
                  <a:srgbClr val="C0504D"/>
                </a:solidFill>
                <a:latin typeface="Arial"/>
              </a:rPr>
              <a:t>• Why a free onset?  Real trigger times vary event-by-event — fitted onsets cluster ≈230 samples after the nominal 16050. Pinning the onset distorts every other parameter.</a:t>
            </a:r>
          </a:p>
        </p:txBody>
      </p:sp>
      <p:pic>
        <p:nvPicPr>
          <p:cNvPr id="6" name="Picture 5" descr="fan_zip7_PBS1_before.png"/>
          <p:cNvPicPr>
            <a:picLocks noChangeAspect="1"/>
          </p:cNvPicPr>
          <p:nvPr/>
        </p:nvPicPr>
        <p:blipFill>
          <a:blip r:embed="rId2"/>
          <a:stretch>
            <a:fillRect/>
          </a:stretch>
        </p:blipFill>
        <p:spPr>
          <a:xfrm>
            <a:off x="594677" y="4800600"/>
            <a:ext cx="5302885" cy="1600200"/>
          </a:xfrm>
          <a:prstGeom prst="rect">
            <a:avLst/>
          </a:prstGeom>
        </p:spPr>
      </p:pic>
      <p:sp>
        <p:nvSpPr>
          <p:cNvPr id="7" name="TextBox 6"/>
          <p:cNvSpPr txBox="1"/>
          <p:nvPr/>
        </p:nvSpPr>
        <p:spPr>
          <a:xfrm>
            <a:off x="502920" y="6430800"/>
            <a:ext cx="5486400" cy="274320"/>
          </a:xfrm>
          <a:prstGeom prst="rect">
            <a:avLst/>
          </a:prstGeom>
          <a:noFill/>
        </p:spPr>
        <p:txBody>
          <a:bodyPr wrap="square">
            <a:spAutoFit/>
          </a:bodyPr>
          <a:lstStyle/>
          <a:p>
            <a:pPr algn="ctr"/>
            <a:r>
              <a:rPr sz="1100" i="1">
                <a:solidFill>
                  <a:srgbClr val="666666"/>
                </a:solidFill>
                <a:latin typeface="Arial"/>
              </a:rPr>
              <a:t>Fitted curves at common onset, peak-normalized — ALL fit_ok events (no cut)</a:t>
            </a:r>
          </a:p>
        </p:txBody>
      </p:sp>
      <p:pic>
        <p:nvPicPr>
          <p:cNvPr id="8" name="Picture 7" descr="fan_zip7_PBS1_nrmse.png"/>
          <p:cNvPicPr>
            <a:picLocks noChangeAspect="1"/>
          </p:cNvPicPr>
          <p:nvPr/>
        </p:nvPicPr>
        <p:blipFill>
          <a:blip r:embed="rId3"/>
          <a:stretch>
            <a:fillRect/>
          </a:stretch>
        </p:blipFill>
        <p:spPr>
          <a:xfrm>
            <a:off x="6355397" y="4800600"/>
            <a:ext cx="5302885" cy="1600200"/>
          </a:xfrm>
          <a:prstGeom prst="rect">
            <a:avLst/>
          </a:prstGeom>
        </p:spPr>
      </p:pic>
      <p:sp>
        <p:nvSpPr>
          <p:cNvPr id="9" name="TextBox 8"/>
          <p:cNvSpPr txBox="1"/>
          <p:nvPr/>
        </p:nvSpPr>
        <p:spPr>
          <a:xfrm>
            <a:off x="6263640" y="6430800"/>
            <a:ext cx="548640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 (Z7 PBS1)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a:p>
            <a:pPr>
              <a:spcAft>
                <a:spcPts val="500"/>
              </a:spcAft>
            </a:pPr>
            <a:r>
              <a:rPr sz="1400">
                <a:solidFill>
                  <a:srgbClr val="333333"/>
                </a:solidFill>
                <a:latin typeface="Arial"/>
              </a:rPr>
              <a:t>• Every figure carries its full processing chain in the header → self-documenting</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Alignment result — overlaid measured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371600"/>
          </a:xfrm>
          <a:prstGeom prst="rect">
            <a:avLst/>
          </a:prstGeom>
          <a:noFill/>
        </p:spPr>
        <p:txBody>
          <a:bodyPr wrap="square">
            <a:spAutoFit/>
          </a:bodyPr>
          <a:lstStyle/>
          <a:p>
            <a:pPr>
              <a:spcAft>
                <a:spcPts val="500"/>
              </a:spcAft>
            </a:pPr>
            <a:r>
              <a:rPr sz="1400">
                <a:solidFill>
                  <a:srgbClr val="333333"/>
                </a:solidFill>
                <a:latin typeface="Arial"/>
              </a:rPr>
              <a:t>• All fit_ok traces shifted to the common onset (blue) + point-by-point mean (red) + NRMSE-weighted mean of the fitted curves (orange, w = 1/max(NRMSE, 0.01)²)</a:t>
            </a:r>
          </a:p>
          <a:p>
            <a:pPr>
              <a:spcAft>
                <a:spcPts val="500"/>
              </a:spcAft>
            </a:pPr>
            <a:r>
              <a:rPr sz="1400">
                <a:solidFill>
                  <a:srgbClr val="333333"/>
                </a:solidFill>
                <a:latin typeface="Arial"/>
              </a:rPr>
              <a:t>• Peak zoom on a quiet detector: a tight bundle — the template input is well defined. Note the faint displaced bundle beside the main one, visible on both crystal faces (S1 and S2) — more on it later</a:t>
            </a:r>
          </a:p>
        </p:txBody>
      </p:sp>
      <p:pic>
        <p:nvPicPr>
          <p:cNvPr id="5" name="Picture 4" descr="aligned_zoom_zip7_PCS1.png"/>
          <p:cNvPicPr>
            <a:picLocks noChangeAspect="1"/>
          </p:cNvPicPr>
          <p:nvPr/>
        </p:nvPicPr>
        <p:blipFill>
          <a:blip r:embed="rId2"/>
          <a:stretch>
            <a:fillRect/>
          </a:stretch>
        </p:blipFill>
        <p:spPr>
          <a:xfrm>
            <a:off x="320040" y="2834640"/>
            <a:ext cx="5623560" cy="2705090"/>
          </a:xfrm>
          <a:prstGeom prst="rect">
            <a:avLst/>
          </a:prstGeom>
        </p:spPr>
      </p:pic>
      <p:sp>
        <p:nvSpPr>
          <p:cNvPr id="6" name="TextBox 5"/>
          <p:cNvSpPr txBox="1"/>
          <p:nvPr/>
        </p:nvSpPr>
        <p:spPr>
          <a:xfrm>
            <a:off x="320040" y="5569730"/>
            <a:ext cx="5623560" cy="274320"/>
          </a:xfrm>
          <a:prstGeom prst="rect">
            <a:avLst/>
          </a:prstGeom>
          <a:noFill/>
        </p:spPr>
        <p:txBody>
          <a:bodyPr wrap="square">
            <a:spAutoFit/>
          </a:bodyPr>
          <a:lstStyle/>
          <a:p>
            <a:pPr algn="ctr"/>
            <a:r>
              <a:rPr sz="1100" i="1">
                <a:solidFill>
                  <a:srgbClr val="666666"/>
                </a:solidFill>
                <a:latin typeface="Arial"/>
              </a:rPr>
              <a:t>Z7 PCS1 (S1 face) — peak zoom; the faint displaced bundle is clearly visible</a:t>
            </a:r>
          </a:p>
        </p:txBody>
      </p:sp>
      <p:pic>
        <p:nvPicPr>
          <p:cNvPr id="7" name="Picture 6" descr="aligned_zoom_zip7_PBS2.png"/>
          <p:cNvPicPr>
            <a:picLocks noChangeAspect="1"/>
          </p:cNvPicPr>
          <p:nvPr/>
        </p:nvPicPr>
        <p:blipFill>
          <a:blip r:embed="rId3"/>
          <a:stretch>
            <a:fillRect/>
          </a:stretch>
        </p:blipFill>
        <p:spPr>
          <a:xfrm>
            <a:off x="6263640" y="2834640"/>
            <a:ext cx="5623560" cy="2705090"/>
          </a:xfrm>
          <a:prstGeom prst="rect">
            <a:avLst/>
          </a:prstGeom>
        </p:spPr>
      </p:pic>
      <p:sp>
        <p:nvSpPr>
          <p:cNvPr id="8" name="TextBox 7"/>
          <p:cNvSpPr txBox="1"/>
          <p:nvPr/>
        </p:nvSpPr>
        <p:spPr>
          <a:xfrm>
            <a:off x="6263640" y="5569730"/>
            <a:ext cx="5623560" cy="274320"/>
          </a:xfrm>
          <a:prstGeom prst="rect">
            <a:avLst/>
          </a:prstGeom>
          <a:noFill/>
        </p:spPr>
        <p:txBody>
          <a:bodyPr wrap="square">
            <a:spAutoFit/>
          </a:bodyPr>
          <a:lstStyle/>
          <a:p>
            <a:pPr algn="ctr"/>
            <a:r>
              <a:rPr sz="1100" i="1">
                <a:solidFill>
                  <a:srgbClr val="666666"/>
                </a:solidFill>
                <a:latin typeface="Arial"/>
              </a:rPr>
              <a:t>Z7 PBS2 (S2 face) — same faint displaced bundle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a:p>
            <a:pPr>
              <a:spcAft>
                <a:spcPts val="500"/>
              </a:spcAft>
            </a:pPr>
            <a:r>
              <a:rPr sz="1400">
                <a:solidFill>
                  <a:srgbClr val="333333"/>
                </a:solidFill>
                <a:latin typeface="Arial"/>
              </a:rPr>
              <a:t>• Fan-cut view: fitted curves that pass (green) vs cut away (red) on top of the aligned data, median NRMSE of each population stamped per channel</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_tfall.png"/>
          <p:cNvPicPr>
            <a:picLocks noChangeAspect="1"/>
          </p:cNvPicPr>
          <p:nvPr/>
        </p:nvPicPr>
        <p:blipFill>
          <a:blip r:embed="rId3"/>
          <a:stretch>
            <a:fillRect/>
          </a:stretch>
        </p:blipFill>
        <p:spPr>
          <a:xfrm>
            <a:off x="7315200" y="2834640"/>
            <a:ext cx="4663440" cy="2926080"/>
          </a:xfrm>
          <a:prstGeom prst="rect">
            <a:avLst/>
          </a:prstGeom>
        </p:spPr>
      </p:pic>
      <p:sp>
        <p:nvSpPr>
          <p:cNvPr id="8" name="TextBox 7"/>
          <p:cNvSpPr txBox="1"/>
          <p:nvPr/>
        </p:nvSpPr>
        <p:spPr>
          <a:xfrm>
            <a:off x="7315200" y="5790720"/>
            <a:ext cx="4663440" cy="274320"/>
          </a:xfrm>
          <a:prstGeom prst="rect">
            <a:avLst/>
          </a:prstGeom>
          <a:noFill/>
        </p:spPr>
        <p:txBody>
          <a:bodyPr wrap="square">
            <a:spAutoFit/>
          </a:bodyPr>
          <a:lstStyle/>
          <a:p>
            <a:pPr algn="ctr"/>
            <a:r>
              <a:rPr sz="1100" i="1">
                <a:solidFill>
                  <a:srgbClr val="666666"/>
                </a:solidFill>
                <a:latin typeface="Arial"/>
              </a:rPr>
              <a:t>Z7 PDS2, fitted τ_fall: broad tail (median 0.51 ms) — the artifact in the distributions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(“shadow”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onset aligned, peak late, consistent across channels</a:t>
            </a:r>
          </a:p>
          <a:p>
            <a:pPr>
              <a:spcAft>
                <a:spcPts val="500"/>
              </a:spcAft>
            </a:pPr>
            <a:r>
              <a:rPr sz="1400">
                <a:solidFill>
                  <a:srgbClr val="333333"/>
                </a:solidFill>
                <a:latin typeface="Arial"/>
              </a:rPr>
              <a:t>• They are the faint displaced bundle in the aligned overlays — a genuine second pulse shape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shadow events (first 4 channels): raw (gray) / LP (blue) / fit (red) — genuine slow pulses, onset aligned, peak 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onset,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nrmse.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onset,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