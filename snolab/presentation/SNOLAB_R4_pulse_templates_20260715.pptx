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Everything starts from the Ge activation data. After Cf activation every detector shows the 10.37 keV K-line. The ops-shift study located the K-line position in the PTOFamps spectrum of each detector - that is the red line in every panel here. Our event selection is exactly one condition: a window around the red line, a factor 1.35 both ways,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per-trace algorithm. Low-pass at 100 kHz,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gives two quality numbers, a physicality flag and an NRMSE, which we only record at this stage. Finally the measured trace is aligned by shifting it by the fitted onset - a pure translation, no analytic re-generation.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After alignment the measured traces stack into a tight bundle - here channel PBS1 and PCS1 of Z7, with the full window on the left and the peak zoom on the right. Red is the plain mean of the measured traces, orange the NRMSE-weighted mean of the fitted curves - already almost a template. In the PCS1 zoom you can see a faint displaced bundle next to the main one; keep it in mind, it comes back in a few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Second cut. On detectors with a noisy window, a smooth slow baseline drift can sneak past the NRMSE cut, because a slow two-exponential can hug it with a tiny residual. But the real pulses have a rise time around 0.1 milliseconds with the 90th percentile at 0.15, far from the drift tail, so a ceiling at 0.3 milliseconds removes the leakage at a signal cost of a few percent. One documented trade-off: the same ceiling also trims a small population of genuine slow pulses - that decision is still open, and here is that population.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Here is that slow population on Z7. These events pass the NRMSE cut - they are well fit - but their rise time is above 0.2 milliseconds. In the raw traces they are clearly real pulses, not noise. They are exactly the faint displaced bundle we saw in the aligned overlay earlier. This is genuine pulse-shape variation, possibly a surface or bulk effect - and it is precisely what a multi-template NxM optimal filter is meant to capture, which motivates the second template family.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One more diagnostic worth showing. On Z7, channel PDS2 has a much broader fall-time distribution than every other channel. Drawing the same events across all channels shows they are perfectly normal fast pulses in the other eleven - so the long fall is a PDS2-only low-frequency disturbance, not slow physics, and it does not contaminate the shape conclusions.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First template family: the analytic one. For each channel we take every physical fitted curve, put them at the common onset, and average them with a weight of one over NRMSE squared - so badly fit events count less but nothing is excluded by hand. The fan plots show the shape distribution before and after the cuts: after the cuts a single tight shape family remains, and its weighted mean is the 1x1 template - smooth and noise-free by construction because it is built from analytic curves.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7.xml"/><Relationship Id="rId3" Type="http://schemas.openxmlformats.org/officeDocument/2006/relationships/notesSlide" Target="../notesSlides/notesSlide2.xml"/><Relationship Id="rId4" Type="http://schemas.openxmlformats.org/officeDocument/2006/relationships/image" Target="../media/image18.png"/><Relationship Id="rId5" Type="http://schemas.openxmlformats.org/officeDocument/2006/relationships/image" Target="../media/image19.png"/></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7.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7.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7.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7.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3.png"/><Relationship Id="rId3" Type="http://schemas.openxmlformats.org/officeDocument/2006/relationships/slideLayout" Target="../slideLayouts/slideLayout7.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7.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7.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panose="020B0604020202090204"/>
              </a:rPr>
              <a:t>Phonon Pulse Templates for SuperCDMS SNOLAB Run 4</a:t>
            </a:r>
            <a:endParaRPr sz="3600" b="1">
              <a:solidFill>
                <a:srgbClr val="1F3864"/>
              </a:solidFill>
              <a:latin typeface="Arial" panose="020B0604020202090204"/>
            </a:endParaRP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panose="020B0604020202090204"/>
              </a:rPr>
              <a:t>K-line event selection  ·  free-pretrigger two-exponential fits  ·  1x1 and NxM (PCA) templates</a:t>
            </a:r>
            <a:endParaRPr sz="1800">
              <a:solidFill>
                <a:srgbClr val="666666"/>
              </a:solidFill>
              <a:latin typeface="Arial" panose="020B0604020202090204"/>
            </a:endParaRP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panose="020B0604020202090204"/>
              </a:rPr>
              <a:t>Zhiheng Li  —  July 15, 2026</a:t>
            </a:r>
            <a:endParaRPr sz="1600">
              <a:solidFill>
                <a:srgbClr val="333333"/>
              </a:solidFill>
              <a:latin typeface="Arial" panose="020B060402020209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From the Ge-activation K-line to an event sample</a:t>
            </a:r>
            <a:endParaRPr sz="2700" b="1">
              <a:solidFill>
                <a:srgbClr val="1F3864"/>
              </a:solidFill>
              <a:latin typeface="Arial" panose="020B0604020202090204"/>
            </a:endParaRPr>
          </a:p>
          <a:p>
            <a:r>
              <a:rPr sz="1400">
                <a:solidFill>
                  <a:srgbClr val="666666"/>
                </a:solidFill>
                <a:latin typeface="Arial" panose="020B0604020202090204"/>
              </a:rPr>
              <a:t>Goal: one clean, minimally-biased pulse population per detector × channel</a:t>
            </a:r>
            <a:endParaRPr sz="1400">
              <a:solidFill>
                <a:srgbClr val="666666"/>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30505" y="1078992"/>
            <a:ext cx="11247120" cy="1325880"/>
          </a:xfrm>
          <a:prstGeom prst="rect">
            <a:avLst/>
          </a:prstGeom>
          <a:noFill/>
        </p:spPr>
        <p:txBody>
          <a:bodyPr wrap="square">
            <a:spAutoFit/>
          </a:bodyPr>
          <a:lstStyle/>
          <a:p>
            <a:pPr>
              <a:spcAft>
                <a:spcPts val="400"/>
              </a:spcAft>
            </a:pPr>
            <a:r>
              <a:rPr sz="1400">
                <a:solidFill>
                  <a:srgbClr val="333333"/>
                </a:solidFill>
                <a:latin typeface="Arial"/>
              </a:rPr>
              <a:t>• Per detector, the ops-shift study marked the 10.37 keV K-line position in PTOFamps — the red line in each panel below</a:t>
            </a:r>
            <a:endParaRPr sz="1400">
              <a:solidFill>
                <a:srgbClr val="333333"/>
              </a:solidFill>
              <a:latin typeface="Arial" panose="020B0604020202090204"/>
            </a:endParaRPr>
          </a:p>
          <a:p>
            <a:pPr>
              <a:spcAft>
                <a:spcPts val="400"/>
              </a:spcAft>
            </a:pPr>
            <a:r>
              <a:rPr sz="1400">
                <a:solidFill>
                  <a:srgbClr val="333333"/>
                </a:solidFill>
                <a:latin typeface="Arial"/>
              </a:rPr>
              <a:t>• Our event selection: a PTOFamps window bracketing the red line (position ×/÷ 1.35) — deliberately minimal, no other cuts</a:t>
            </a:r>
          </a:p>
          <a:p>
            <a:pPr>
              <a:spcAft>
                <a:spcPts val="400"/>
              </a:spcAft>
            </a:pPr>
            <a:r>
              <a:rPr sz="1400">
                <a:solidFill>
                  <a:srgbClr val="333333"/>
                </a:solidFill>
                <a:latin typeface="Arial"/>
              </a:rPr>
              <a:t>• For every selected event: cache the fully unprocessed raw MIDAS traces of all channels + event metadata</a:t>
            </a:r>
          </a:p>
          <a:p>
            <a:pPr>
              <a:spcAft>
                <a:spcPts val="400"/>
              </a:spcAft>
            </a:pPr>
            <a:r>
              <a:rPr sz="1400">
                <a:solidFill>
                  <a:srgbClr val="333333"/>
                </a:solidFill>
                <a:latin typeface="Arial"/>
              </a:rPr>
              <a:t>• 13 detectors (zips) × 27–30 series → ~120 GB raw cache; every later cut stays explicit and reversible</a:t>
            </a:r>
          </a:p>
        </p:txBody>
      </p:sp>
      <p:sp>
        <p:nvSpPr>
          <p:cNvPr id="6" name="TextBox 5"/>
          <p:cNvSpPr txBox="1"/>
          <p:nvPr/>
        </p:nvSpPr>
        <p:spPr>
          <a:xfrm>
            <a:off x="384048" y="6504807"/>
            <a:ext cx="11430000" cy="320040"/>
          </a:xfrm>
          <a:prstGeom prst="rect">
            <a:avLst/>
          </a:prstGeom>
          <a:noFill/>
        </p:spPr>
        <p:txBody>
          <a:bodyPr wrap="square">
            <a:spAutoFit/>
          </a:bodyPr>
          <a:lstStyle/>
          <a:p>
            <a:pPr algn="ctr"/>
            <a:r>
              <a:rPr sz="1200" i="1">
                <a:solidFill>
                  <a:srgbClr val="666666"/>
                </a:solidFill>
                <a:latin typeface="Arial"/>
              </a:rPr>
              <a:t>All 13 detectors, PTOFamps spectra (ops-shift study): red line = fitted mean of the 10.37 keV K-line. Selection window per detector = red-line position ×/÷ 1.35.</a:t>
            </a:r>
          </a:p>
        </p:txBody>
      </p:sp>
      <p:pic>
        <p:nvPicPr>
          <p:cNvPr id="7" name="Picture 6" descr="kline_all_zips.png"/>
          <p:cNvPicPr>
            <a:picLocks noChangeAspect="1"/>
          </p:cNvPicPr>
          <p:nvPr/>
        </p:nvPicPr>
        <p:blipFill>
          <a:blip r:embed="rId5"/>
          <a:stretch>
            <a:fillRect/>
          </a:stretch>
        </p:blipFill>
        <p:spPr>
          <a:xfrm>
            <a:off x="1059892" y="2487168"/>
            <a:ext cx="10078312" cy="397763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Per-trace algorithm: low-pass → free-pretrigger fit → align</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panose="020B0604020202090204"/>
              </a:rPr>
              <a:t>• 1.  100 kHz 4th-order Butterworth low-pass (steady-state init — no filter start-up transient)</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2.  Baseline = median of samples 2000–12000, subtracted; normalize by the global trace peak</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3.  Two-exponential fit — all 5 parameters free, including the onset:</a:t>
            </a:r>
            <a:endParaRPr sz="1500">
              <a:solidFill>
                <a:srgbClr val="333333"/>
              </a:solidFill>
              <a:latin typeface="Arial" panose="020B0604020202090204"/>
            </a:endParaRPr>
          </a:p>
          <a:p>
            <a:pPr lvl="1">
              <a:spcAft>
                <a:spcPts val="500"/>
              </a:spcAft>
            </a:pPr>
            <a:r>
              <a:rPr sz="1300">
                <a:solidFill>
                  <a:srgbClr val="666666"/>
                </a:solidFill>
                <a:latin typeface="Arial" panose="020B0604020202090204"/>
              </a:rPr>
              <a:t>– y(t) = A·[exp(−(t−t₀)/τ_fall) − exp(−(t−t₀)/τ_rise)] + b,   t₀ ∈ 16050 ± 3000 samples</a:t>
            </a:r>
            <a:endParaRPr sz="1300">
              <a:solidFill>
                <a:srgbClr val="666666"/>
              </a:solidFill>
              <a:latin typeface="Arial" panose="020B0604020202090204"/>
            </a:endParaRPr>
          </a:p>
          <a:p>
            <a:pPr lvl="1">
              <a:spcAft>
                <a:spcPts val="500"/>
              </a:spcAft>
            </a:pPr>
            <a:r>
              <a:rPr sz="1300">
                <a:solidFill>
                  <a:srgbClr val="666666"/>
                </a:solidFill>
                <a:latin typeface="Arial" panose="020B0604020202090204"/>
              </a:rPr>
              <a:t>– fit window 12550–24050 (stride 4);  τ_rise ∈ [1 µs, 5 ms],  τ_fall ∈ [10 µs, 20 ms]</a:t>
            </a:r>
            <a:endParaRPr sz="1300">
              <a:solidFill>
                <a:srgbClr val="666666"/>
              </a:solidFill>
              <a:latin typeface="Arial" panose="020B0604020202090204"/>
            </a:endParaRPr>
          </a:p>
          <a:p>
            <a:pPr>
              <a:spcAft>
                <a:spcPts val="500"/>
              </a:spcAft>
            </a:pPr>
            <a:r>
              <a:rPr sz="1500">
                <a:solidFill>
                  <a:srgbClr val="333333"/>
                </a:solidFill>
                <a:latin typeface="Arial" panose="020B0604020202090204"/>
              </a:rPr>
              <a:t>• 4.  Quality numbers — fit_ok := A&gt;0 and 0&lt;τ_rise&lt;τ_fall;  NRMSE := RMS(residual)/fit peak (recorded, no cut yet)</a:t>
            </a:r>
            <a:endParaRPr sz="1500">
              <a:solidFill>
                <a:srgbClr val="333333"/>
              </a:solidFill>
              <a:latin typeface="Arial" panose="020B0604020202090204"/>
            </a:endParaRPr>
          </a:p>
          <a:p>
            <a:pPr>
              <a:spcAft>
                <a:spcPts val="500"/>
              </a:spcAft>
            </a:pPr>
            <a:r>
              <a:rPr sz="1500">
                <a:solidFill>
                  <a:srgbClr val="333333"/>
                </a:solidFill>
                <a:latin typeface="Arial" panose="020B0604020202090204"/>
              </a:rPr>
              <a:t>• 5.  Align — shift the measured trace by (fitted onset − 16050), sub-sample interpolation: a pure translation</a:t>
            </a:r>
            <a:endParaRPr sz="1500">
              <a:solidFill>
                <a:srgbClr val="333333"/>
              </a:solidFill>
              <a:latin typeface="Arial" panose="020B0604020202090204"/>
            </a:endParaRPr>
          </a:p>
        </p:txBody>
      </p:sp>
      <p:sp>
        <p:nvSpPr>
          <p:cNvPr id="5" name="TextBox 4"/>
          <p:cNvSpPr txBox="1"/>
          <p:nvPr/>
        </p:nvSpPr>
        <p:spPr>
          <a:xfrm>
            <a:off x="502920" y="4114800"/>
            <a:ext cx="5120640" cy="1737360"/>
          </a:xfrm>
          <a:prstGeom prst="rect">
            <a:avLst/>
          </a:prstGeom>
          <a:noFill/>
        </p:spPr>
        <p:txBody>
          <a:bodyPr wrap="square">
            <a:spAutoFit/>
          </a:bodyPr>
          <a:lstStyle/>
          <a:p>
            <a:pPr>
              <a:spcAft>
                <a:spcPts val="500"/>
              </a:spcAft>
            </a:pPr>
            <a:r>
              <a:rPr sz="1400">
                <a:solidFill>
                  <a:srgbClr val="C0504D"/>
                </a:solidFill>
                <a:latin typeface="Arial" panose="020B0604020202090204"/>
              </a:rPr>
              <a:t>• Why a free onset?  Real trigger times vary event-by-event — fitted onsets cluster ≈230 samples after the nominal 16050. Pinning the onset distorts every other parameter.</a:t>
            </a:r>
            <a:endParaRPr sz="1400">
              <a:solidFill>
                <a:srgbClr val="C0504D"/>
              </a:solidFill>
              <a:latin typeface="Arial" panose="020B0604020202090204"/>
            </a:endParaRPr>
          </a:p>
        </p:txBody>
      </p:sp>
      <p:pic>
        <p:nvPicPr>
          <p:cNvPr id="6" name="Picture 5" descr="pretrigger_zip7_crop.png"/>
          <p:cNvPicPr>
            <a:picLocks noChangeAspect="1"/>
          </p:cNvPicPr>
          <p:nvPr/>
        </p:nvPicPr>
        <p:blipFill>
          <a:blip r:embed="rId1"/>
          <a:stretch>
            <a:fillRect/>
          </a:stretch>
        </p:blipFill>
        <p:spPr>
          <a:xfrm>
            <a:off x="5852160" y="4037965"/>
            <a:ext cx="5852160" cy="1475283"/>
          </a:xfrm>
          <a:prstGeom prst="rect">
            <a:avLst/>
          </a:prstGeom>
        </p:spPr>
      </p:pic>
      <p:sp>
        <p:nvSpPr>
          <p:cNvPr id="7" name="TextBox 6"/>
          <p:cNvSpPr txBox="1"/>
          <p:nvPr/>
        </p:nvSpPr>
        <p:spPr>
          <a:xfrm>
            <a:off x="5852160" y="5665803"/>
            <a:ext cx="5852160" cy="274320"/>
          </a:xfrm>
          <a:prstGeom prst="rect">
            <a:avLst/>
          </a:prstGeom>
          <a:noFill/>
        </p:spPr>
        <p:txBody>
          <a:bodyPr wrap="square">
            <a:spAutoFit/>
          </a:bodyPr>
          <a:lstStyle/>
          <a:p>
            <a:pPr algn="ctr"/>
            <a:r>
              <a:rPr sz="1100" i="1">
                <a:solidFill>
                  <a:srgbClr val="666666"/>
                </a:solidFill>
                <a:latin typeface="Arial" panose="020B0604020202090204"/>
              </a:rPr>
              <a:t>Z7 PAS1: fitted onset distribution — offset from nominal, narrow core</a:t>
            </a:r>
            <a:endParaRPr sz="1100" i="1">
              <a:solidFill>
                <a:srgbClr val="666666"/>
              </a:solidFill>
              <a:latin typeface="Arial" panose="020B060402020209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Fit quality at a glance — event × channel grids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panose="020B0604020202090204"/>
              </a:rPr>
              <a:t>• One row per event, one column per channel: low-passed trace (blue) vs 2-exp fit (red), NRMSE stamped per panel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same event fits consistently across channels; a noise trigger fails in all channels at once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Every figure carries its full processing chain in the header → self-documenting</a:t>
            </a:r>
            <a:endParaRPr sz="1400">
              <a:solidFill>
                <a:srgbClr val="333333"/>
              </a:solidFill>
              <a:latin typeface="Arial" panose="020B0604020202090204"/>
            </a:endParaRPr>
          </a:p>
        </p:txBody>
      </p:sp>
      <p:pic>
        <p:nvPicPr>
          <p:cNvPr id="5" name="Picture 4" descr="fit_examples_zip7_noise.png"/>
          <p:cNvPicPr>
            <a:picLocks noChangeAspect="1"/>
          </p:cNvPicPr>
          <p:nvPr/>
        </p:nvPicPr>
        <p:blipFill>
          <a:blip r:embed="rId1"/>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panose="020B0604020202090204"/>
              </a:rPr>
              <a:t>Noise triggers: the fit fails in every channel at once</a:t>
            </a:r>
            <a:endParaRPr sz="1100" i="1">
              <a:solidFill>
                <a:srgbClr val="666666"/>
              </a:solidFill>
              <a:latin typeface="Arial" panose="020B0604020202090204"/>
            </a:endParaRPr>
          </a:p>
        </p:txBody>
      </p:sp>
      <p:pic>
        <p:nvPicPr>
          <p:cNvPr id="7" name="Picture 6" descr="fit_examples_zip7_good.png"/>
          <p:cNvPicPr>
            <a:picLocks noChangeAspect="1"/>
          </p:cNvPicPr>
          <p:nvPr/>
        </p:nvPicPr>
        <p:blipFill>
          <a:blip r:embed="rId2"/>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panose="020B0604020202090204"/>
              </a:rPr>
              <a:t>K-line events: consistent good fits across channels</a:t>
            </a:r>
            <a:endParaRPr sz="1100" i="1">
              <a:solidFill>
                <a:srgbClr val="666666"/>
              </a:solidFill>
              <a:latin typeface="Arial" panose="020B060402020209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Alignment result — overlaid measured traces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051560"/>
          </a:xfrm>
          <a:prstGeom prst="rect">
            <a:avLst/>
          </a:prstGeom>
          <a:noFill/>
        </p:spPr>
        <p:txBody>
          <a:bodyPr wrap="square">
            <a:spAutoFit/>
          </a:bodyPr>
          <a:lstStyle/>
          <a:p>
            <a:pPr>
              <a:spcAft>
                <a:spcPts val="500"/>
              </a:spcAft>
            </a:pPr>
            <a:r>
              <a:rPr sz="1400">
                <a:solidFill>
                  <a:srgbClr val="333333"/>
                </a:solidFill>
                <a:latin typeface="Arial" panose="020B0604020202090204"/>
              </a:rPr>
              <a:t>• All fit_ok traces shifted to the common onset (blue) + point-by-point mean (red) + NRMSE-weighted mean of the fitted curves (orange, w = 1/max(NRMSE, 0.01)²)</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Quiet detectors give a tight bundle — the template input is well defined; right panels zoom on the peak</a:t>
            </a:r>
            <a:endParaRPr sz="1400">
              <a:solidFill>
                <a:srgbClr val="333333"/>
              </a:solidFill>
              <a:latin typeface="Arial" panose="020B0604020202090204"/>
            </a:endParaRPr>
          </a:p>
        </p:txBody>
      </p:sp>
      <p:pic>
        <p:nvPicPr>
          <p:cNvPr id="5" name="Picture 4" descr="aligned_overlay_zip7_PBS1.png"/>
          <p:cNvPicPr>
            <a:picLocks noChangeAspect="1"/>
          </p:cNvPicPr>
          <p:nvPr/>
        </p:nvPicPr>
        <p:blipFill>
          <a:blip r:embed="rId1"/>
          <a:stretch>
            <a:fillRect/>
          </a:stretch>
        </p:blipFill>
        <p:spPr>
          <a:xfrm>
            <a:off x="1540995" y="2286000"/>
            <a:ext cx="9079529" cy="2148840"/>
          </a:xfrm>
          <a:prstGeom prst="rect">
            <a:avLst/>
          </a:prstGeom>
        </p:spPr>
      </p:pic>
      <p:pic>
        <p:nvPicPr>
          <p:cNvPr id="6" name="Picture 5" descr="aligned_overlay_zip7_PCS1.png"/>
          <p:cNvPicPr>
            <a:picLocks noChangeAspect="1"/>
          </p:cNvPicPr>
          <p:nvPr/>
        </p:nvPicPr>
        <p:blipFill>
          <a:blip r:embed="rId2"/>
          <a:stretch>
            <a:fillRect/>
          </a:stretch>
        </p:blipFill>
        <p:spPr>
          <a:xfrm>
            <a:off x="1637586" y="4526280"/>
            <a:ext cx="8886347" cy="2103120"/>
          </a:xfrm>
          <a:prstGeom prst="rect">
            <a:avLst/>
          </a:prstGeom>
        </p:spPr>
      </p:pic>
      <p:sp>
        <p:nvSpPr>
          <p:cNvPr id="7" name="TextBox 6"/>
          <p:cNvSpPr txBox="1"/>
          <p:nvPr/>
        </p:nvSpPr>
        <p:spPr>
          <a:xfrm>
            <a:off x="822960" y="6659400"/>
            <a:ext cx="10515600" cy="274320"/>
          </a:xfrm>
          <a:prstGeom prst="rect">
            <a:avLst/>
          </a:prstGeom>
          <a:noFill/>
        </p:spPr>
        <p:txBody>
          <a:bodyPr wrap="square">
            <a:spAutoFit/>
          </a:bodyPr>
          <a:lstStyle/>
          <a:p>
            <a:pPr algn="ctr"/>
            <a:r>
              <a:rPr sz="1100" i="1">
                <a:solidFill>
                  <a:srgbClr val="666666"/>
                </a:solidFill>
                <a:latin typeface="Arial" panose="020B0604020202090204"/>
              </a:rPr>
              <a:t>Z7 PBS1 (top) and PCS1 (bottom). Note the faint displaced bundle in the PCS1 zoom — more on it later</a:t>
            </a:r>
            <a:endParaRPr sz="1100" i="1">
              <a:solidFill>
                <a:srgbClr val="666666"/>
              </a:solidFill>
              <a:latin typeface="Arial" panose="020B060402020209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Quality cut 1: NRMSE ≤ 0.4 — where the number comes from</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NRMSE of fit_ok events is bimodal: good fits (median ≈ 0.05–0.1) vs noise triggers (≈ 1–2), valley at ≈ 0.4–0.5</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cut sits in the valley — it is read off the distribution, not tuned on the templates</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Weak detectors (Z1, Z4, Z6, Z18, Z19, Z22, Z24): the PTOF window admits a noise-dominated mixture — this cut is what extracts the real-pulse population</a:t>
            </a:r>
            <a:endParaRPr sz="1400">
              <a:solidFill>
                <a:srgbClr val="333333"/>
              </a:solidFill>
              <a:latin typeface="Arial" panose="020B0604020202090204"/>
            </a:endParaRPr>
          </a:p>
        </p:txBody>
      </p:sp>
      <p:pic>
        <p:nvPicPr>
          <p:cNvPr id="5" name="Picture 4" descr="nrmse_zip7_PBS1.png"/>
          <p:cNvPicPr>
            <a:picLocks noChangeAspect="1"/>
          </p:cNvPicPr>
          <p:nvPr/>
        </p:nvPicPr>
        <p:blipFill>
          <a:blip r:embed="rId1"/>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panose="020B0604020202090204"/>
              </a:rPr>
              <a:t>Z7 PBS1 (quiet): two clean populations, log-log axes</a:t>
            </a:r>
            <a:endParaRPr sz="1100" i="1">
              <a:solidFill>
                <a:srgbClr val="666666"/>
              </a:solidFill>
              <a:latin typeface="Arial" panose="020B0604020202090204"/>
            </a:endParaRPr>
          </a:p>
        </p:txBody>
      </p:sp>
      <p:pic>
        <p:nvPicPr>
          <p:cNvPr id="7" name="Picture 6" descr="nrmse_zip22_PAS1.png"/>
          <p:cNvPicPr>
            <a:picLocks noChangeAspect="1"/>
          </p:cNvPicPr>
          <p:nvPr/>
        </p:nvPicPr>
        <p:blipFill>
          <a:blip r:embed="rId2"/>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panose="020B0604020202090204"/>
              </a:rPr>
              <a:t>Z22 PAS1 (weak): noise population dominates — the window alone is not enough</a:t>
            </a:r>
            <a:endParaRPr sz="1100" i="1">
              <a:solidFill>
                <a:srgbClr val="666666"/>
              </a:solidFill>
              <a:latin typeface="Arial" panose="020B060402020209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The rejected population is noise — verified in the raw traces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panose="020B0604020202090204"/>
              </a:rPr>
              <a:t>• Event grids of NRMSE-rejected events (median NRMSE &gt; 0.4 across channels): the raw traces show no pulse — the cut removes noise triggers, not physics</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Fan-cut view: fitted curves that pass (green) vs cut away (red) on top of the aligned data, median NRMSE of each population stamped per channel</a:t>
            </a:r>
            <a:endParaRPr sz="1400">
              <a:solidFill>
                <a:srgbClr val="333333"/>
              </a:solidFill>
              <a:latin typeface="Arial" panose="020B0604020202090204"/>
            </a:endParaRPr>
          </a:p>
        </p:txBody>
      </p:sp>
      <p:pic>
        <p:nvPicPr>
          <p:cNvPr id="5" name="Picture 4" descr="slow_rise_zip22_crop.png"/>
          <p:cNvPicPr>
            <a:picLocks noChangeAspect="1"/>
          </p:cNvPicPr>
          <p:nvPr/>
        </p:nvPicPr>
        <p:blipFill>
          <a:blip r:embed="rId1"/>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panose="020B0604020202090204"/>
              </a:rPr>
              <a:t>Z22: NRMSE-rejected events — raw traces are noise</a:t>
            </a:r>
            <a:endParaRPr sz="1100" i="1">
              <a:solidFill>
                <a:srgbClr val="666666"/>
              </a:solidFill>
              <a:latin typeface="Arial" panose="020B0604020202090204"/>
            </a:endParaRPr>
          </a:p>
        </p:txBody>
      </p:sp>
      <p:pic>
        <p:nvPicPr>
          <p:cNvPr id="7" name="Picture 6" descr="fan_cut_zip22_PCS1.png"/>
          <p:cNvPicPr>
            <a:picLocks noChangeAspect="1"/>
          </p:cNvPicPr>
          <p:nvPr/>
        </p:nvPicPr>
        <p:blipFill>
          <a:blip r:embed="rId2"/>
          <a:stretch>
            <a:fillRect/>
          </a:stretch>
        </p:blipFill>
        <p:spPr>
          <a:xfrm>
            <a:off x="6126480" y="3108960"/>
            <a:ext cx="5760720" cy="1479697"/>
          </a:xfrm>
          <a:prstGeom prst="rect">
            <a:avLst/>
          </a:prstGeom>
        </p:spPr>
      </p:pic>
      <p:sp>
        <p:nvSpPr>
          <p:cNvPr id="8" name="TextBox 7"/>
          <p:cNvSpPr txBox="1"/>
          <p:nvPr/>
        </p:nvSpPr>
        <p:spPr>
          <a:xfrm>
            <a:off x="6126480" y="4618657"/>
            <a:ext cx="5760720" cy="274320"/>
          </a:xfrm>
          <a:prstGeom prst="rect">
            <a:avLst/>
          </a:prstGeom>
          <a:noFill/>
        </p:spPr>
        <p:txBody>
          <a:bodyPr wrap="square">
            <a:spAutoFit/>
          </a:bodyPr>
          <a:lstStyle/>
          <a:p>
            <a:pPr algn="ctr"/>
            <a:r>
              <a:rPr sz="1100" i="1">
                <a:solidFill>
                  <a:srgbClr val="666666"/>
                </a:solidFill>
                <a:latin typeface="Arial" panose="020B0604020202090204"/>
              </a:rPr>
              <a:t>Z22 PCS1: pass (green) vs rejected (red)</a:t>
            </a:r>
            <a:endParaRPr sz="1100" i="1">
              <a:solidFill>
                <a:srgbClr val="666666"/>
              </a:solidFill>
              <a:latin typeface="Arial" panose="020B060402020209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Quality cut 2: τ_rise ≤ 0.3 ms — against slow baseline drift</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panose="020B0604020202090204"/>
              </a:rPr>
              <a:t>• On noisy-window detectors a smooth, slow baseline drift can survive the NRMSE cut — a slow 2-exp hugs it with a small residual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 fast-pulse population sits at τ_rise ≈ 0.1 ms (p90 ≈ 0.15 ms) — cleanly separated from the drift tail, so a 0.3 ms ceiling removes the leakage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Cost ≈ 2–5% of signal on quiet detectors; known trade-off: it also trims the small population of genuine slow-rise pulses (final decision pending)</a:t>
            </a:r>
            <a:endParaRPr sz="1400">
              <a:solidFill>
                <a:srgbClr val="333333"/>
              </a:solidFill>
              <a:latin typeface="Arial" panose="020B0604020202090204"/>
            </a:endParaRPr>
          </a:p>
        </p:txBody>
      </p:sp>
      <p:pic>
        <p:nvPicPr>
          <p:cNvPr id="5" name="Picture 4" descr="time_constants_zip7_PAS1.png"/>
          <p:cNvPicPr>
            <a:picLocks noChangeAspect="1"/>
          </p:cNvPicPr>
          <p:nvPr/>
        </p:nvPicPr>
        <p:blipFill>
          <a:blip r:embed="rId1"/>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panose="020B0604020202090204"/>
              </a:rPr>
              <a:t>Z7 PAS1: fitted τ_rise (median 0.105 ms) and τ_fall distributions</a:t>
            </a:r>
            <a:endParaRPr sz="1100" i="1">
              <a:solidFill>
                <a:srgbClr val="666666"/>
              </a:solidFill>
              <a:latin typeface="Arial" panose="020B0604020202090204"/>
            </a:endParaRP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panose="020B0604020202090204"/>
              </a:rPr>
              <a:t>• On quiet detectors both τ_rise and τ_fall distributions are narrow — the pulse shape is stable across events</a:t>
            </a:r>
            <a:endParaRPr sz="1300">
              <a:solidFill>
                <a:srgbClr val="333333"/>
              </a:solidFill>
              <a:latin typeface="Arial" panose="020B060402020209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A genuine slow-pulse population (“shadow” events)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Selection: well-fit (median NRMSE ≤ 0.4) AND slow (median τ_rise &gt; 0.2 ms) — raw traces show real pulses, not noise</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They are the faint displaced bundle seen in the aligned overlays — real shape variation (candidate surface/bulk effect)</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Exactly the kind of shape variation the multi-template NxM method is built to capture</a:t>
            </a:r>
            <a:endParaRPr sz="1400">
              <a:solidFill>
                <a:srgbClr val="333333"/>
              </a:solidFill>
              <a:latin typeface="Arial" panose="020B0604020202090204"/>
            </a:endParaRPr>
          </a:p>
        </p:txBody>
      </p:sp>
      <p:pic>
        <p:nvPicPr>
          <p:cNvPr id="5" name="Picture 4" descr="shadow_zip7_crop.png"/>
          <p:cNvPicPr>
            <a:picLocks noChangeAspect="1"/>
          </p:cNvPicPr>
          <p:nvPr/>
        </p:nvPicPr>
        <p:blipFill>
          <a:blip r:embed="rId1"/>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panose="020B0604020202090204"/>
              </a:rPr>
              <a:t>Z7 shadow events (first 4 channels): raw (gray) / LP (blue) / fit (red) — genuine slow pulses, onset aligned, peak late</a:t>
            </a:r>
            <a:endParaRPr sz="1100" i="1">
              <a:solidFill>
                <a:srgbClr val="666666"/>
              </a:solidFill>
              <a:latin typeface="Arial" panose="020B060402020209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Side finding: long-τ_fall events on Z7 are a one-channel artifact</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panose="020B0604020202090204"/>
              </a:rPr>
              <a:t>• PDS2 shows a broad τ_fall tail (median 0.51 ms vs ≈ 0.25 ms elsewhere) and a smeared τ_rise distribution</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Cross-channel check: the same events are normal fast pulses in the other 11 channels → a PDS2-only low-frequency disturbance, not slow physics</a:t>
            </a:r>
            <a:endParaRPr sz="1400">
              <a:solidFill>
                <a:srgbClr val="333333"/>
              </a:solidFill>
              <a:latin typeface="Arial" panose="020B0604020202090204"/>
            </a:endParaRPr>
          </a:p>
        </p:txBody>
      </p:sp>
      <p:pic>
        <p:nvPicPr>
          <p:cNvPr id="5" name="Picture 4" descr="time_constants_zip7_PAS1.png"/>
          <p:cNvPicPr>
            <a:picLocks noChangeAspect="1"/>
          </p:cNvPicPr>
          <p:nvPr/>
        </p:nvPicPr>
        <p:blipFill>
          <a:blip r:embed="rId1"/>
          <a:stretch>
            <a:fillRect/>
          </a:stretch>
        </p:blipFill>
        <p:spPr>
          <a:xfrm>
            <a:off x="1280160" y="2377440"/>
            <a:ext cx="9601200" cy="1851803"/>
          </a:xfrm>
          <a:prstGeom prst="rect">
            <a:avLst/>
          </a:prstGeom>
        </p:spPr>
      </p:pic>
      <p:sp>
        <p:nvSpPr>
          <p:cNvPr id="6" name="TextBox 5"/>
          <p:cNvSpPr txBox="1"/>
          <p:nvPr/>
        </p:nvSpPr>
        <p:spPr>
          <a:xfrm>
            <a:off x="1280160" y="4259243"/>
            <a:ext cx="9601200" cy="274320"/>
          </a:xfrm>
          <a:prstGeom prst="rect">
            <a:avLst/>
          </a:prstGeom>
          <a:noFill/>
        </p:spPr>
        <p:txBody>
          <a:bodyPr wrap="square">
            <a:spAutoFit/>
          </a:bodyPr>
          <a:lstStyle/>
          <a:p>
            <a:pPr algn="ctr"/>
            <a:r>
              <a:rPr sz="1100" i="1">
                <a:solidFill>
                  <a:srgbClr val="666666"/>
                </a:solidFill>
                <a:latin typeface="Arial" panose="020B0604020202090204"/>
              </a:rPr>
              <a:t>Z7 PAS1 — reference channel: narrow τ_rise / τ_fall</a:t>
            </a:r>
            <a:endParaRPr sz="1100" i="1">
              <a:solidFill>
                <a:srgbClr val="666666"/>
              </a:solidFill>
              <a:latin typeface="Arial" panose="020B0604020202090204"/>
            </a:endParaRPr>
          </a:p>
        </p:txBody>
      </p:sp>
      <p:pic>
        <p:nvPicPr>
          <p:cNvPr id="7" name="Picture 6" descr="time_constants_zip7_PDS2.png"/>
          <p:cNvPicPr>
            <a:picLocks noChangeAspect="1"/>
          </p:cNvPicPr>
          <p:nvPr/>
        </p:nvPicPr>
        <p:blipFill>
          <a:blip r:embed="rId2"/>
          <a:stretch>
            <a:fillRect/>
          </a:stretch>
        </p:blipFill>
        <p:spPr>
          <a:xfrm>
            <a:off x="1280160" y="4480560"/>
            <a:ext cx="9601200" cy="1845094"/>
          </a:xfrm>
          <a:prstGeom prst="rect">
            <a:avLst/>
          </a:prstGeom>
        </p:spPr>
      </p:pic>
      <p:sp>
        <p:nvSpPr>
          <p:cNvPr id="8" name="TextBox 7"/>
          <p:cNvSpPr txBox="1"/>
          <p:nvPr/>
        </p:nvSpPr>
        <p:spPr>
          <a:xfrm>
            <a:off x="1280160" y="6355654"/>
            <a:ext cx="9601200" cy="274320"/>
          </a:xfrm>
          <a:prstGeom prst="rect">
            <a:avLst/>
          </a:prstGeom>
          <a:noFill/>
        </p:spPr>
        <p:txBody>
          <a:bodyPr wrap="square">
            <a:spAutoFit/>
          </a:bodyPr>
          <a:lstStyle/>
          <a:p>
            <a:pPr algn="ctr"/>
            <a:r>
              <a:rPr sz="1100" i="1">
                <a:solidFill>
                  <a:srgbClr val="666666"/>
                </a:solidFill>
                <a:latin typeface="Arial" panose="020B0604020202090204"/>
              </a:rPr>
              <a:t>Z7 PDS2 — broad tails from a channel-specific low-frequency artifact</a:t>
            </a:r>
            <a:endParaRPr sz="1100" i="1">
              <a:solidFill>
                <a:srgbClr val="666666"/>
              </a:solidFill>
              <a:latin typeface="Arial" panose="020B060402020209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Template family 1 — analytic 2-exp, NRMSE-weighted (1x1)</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Per channel: weighted mean of ALL fit_ok fitted curves at the common onset, weight w = 1/max(NRMSE, 0.01)²</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Badly-fit events count less but are never excluded — robust and smooth (noise-free by construction)</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Delivered as peak-normalized 32768-bin ROOT TH1D per channel + summed PT/PS1/PS2 templates</a:t>
            </a:r>
            <a:endParaRPr sz="1400">
              <a:solidFill>
                <a:srgbClr val="333333"/>
              </a:solidFill>
              <a:latin typeface="Arial" panose="020B0604020202090204"/>
            </a:endParaRPr>
          </a:p>
        </p:txBody>
      </p:sp>
      <p:pic>
        <p:nvPicPr>
          <p:cNvPr id="5" name="Picture 4" descr="fan_zip7_PBS1_before.png"/>
          <p:cNvPicPr>
            <a:picLocks noChangeAspect="1"/>
          </p:cNvPicPr>
          <p:nvPr/>
        </p:nvPicPr>
        <p:blipFill>
          <a:blip r:embed="rId1"/>
          <a:stretch>
            <a:fillRect/>
          </a:stretch>
        </p:blipFill>
        <p:spPr>
          <a:xfrm>
            <a:off x="2974786" y="2606040"/>
            <a:ext cx="6211947" cy="1874519"/>
          </a:xfrm>
          <a:prstGeom prst="rect">
            <a:avLst/>
          </a:prstGeom>
        </p:spPr>
      </p:pic>
      <p:sp>
        <p:nvSpPr>
          <p:cNvPr id="6" name="TextBox 5"/>
          <p:cNvSpPr txBox="1"/>
          <p:nvPr/>
        </p:nvSpPr>
        <p:spPr>
          <a:xfrm>
            <a:off x="1554480" y="4510559"/>
            <a:ext cx="9052560" cy="274320"/>
          </a:xfrm>
          <a:prstGeom prst="rect">
            <a:avLst/>
          </a:prstGeom>
          <a:noFill/>
        </p:spPr>
        <p:txBody>
          <a:bodyPr wrap="square">
            <a:spAutoFit/>
          </a:bodyPr>
          <a:lstStyle/>
          <a:p>
            <a:pPr algn="ctr"/>
            <a:r>
              <a:rPr sz="1100" i="1">
                <a:solidFill>
                  <a:srgbClr val="666666"/>
                </a:solidFill>
                <a:latin typeface="Arial" panose="020B0604020202090204"/>
              </a:rPr>
              <a:t>Z7 PBS1, fitted curves at common onset — before cuts</a:t>
            </a:r>
            <a:endParaRPr sz="1100" i="1">
              <a:solidFill>
                <a:srgbClr val="666666"/>
              </a:solidFill>
              <a:latin typeface="Arial" panose="020B0604020202090204"/>
            </a:endParaRPr>
          </a:p>
        </p:txBody>
      </p:sp>
      <p:pic>
        <p:nvPicPr>
          <p:cNvPr id="7" name="Picture 6" descr="fan_zip7_PBS1_after.png"/>
          <p:cNvPicPr>
            <a:picLocks noChangeAspect="1"/>
          </p:cNvPicPr>
          <p:nvPr/>
        </p:nvPicPr>
        <p:blipFill>
          <a:blip r:embed="rId2"/>
          <a:stretch>
            <a:fillRect/>
          </a:stretch>
        </p:blipFill>
        <p:spPr>
          <a:xfrm>
            <a:off x="2974786" y="4617720"/>
            <a:ext cx="6211947" cy="1874519"/>
          </a:xfrm>
          <a:prstGeom prst="rect">
            <a:avLst/>
          </a:prstGeom>
        </p:spPr>
      </p:pic>
      <p:sp>
        <p:nvSpPr>
          <p:cNvPr id="8" name="TextBox 7"/>
          <p:cNvSpPr txBox="1"/>
          <p:nvPr/>
        </p:nvSpPr>
        <p:spPr>
          <a:xfrm>
            <a:off x="1554480" y="6522239"/>
            <a:ext cx="9052560" cy="274320"/>
          </a:xfrm>
          <a:prstGeom prst="rect">
            <a:avLst/>
          </a:prstGeom>
          <a:noFill/>
        </p:spPr>
        <p:txBody>
          <a:bodyPr wrap="square">
            <a:spAutoFit/>
          </a:bodyPr>
          <a:lstStyle/>
          <a:p>
            <a:pPr algn="ctr"/>
            <a:r>
              <a:rPr sz="1100" i="1">
                <a:solidFill>
                  <a:srgbClr val="666666"/>
                </a:solidFill>
                <a:latin typeface="Arial" panose="020B0604020202090204"/>
              </a:rPr>
              <a:t>…after NRMSE ≤ 0.4 and τ_rise ≤ 0.3 ms — a single tight shape family; the weighted mean of these is the 1x1 template</a:t>
            </a:r>
            <a:endParaRPr sz="1100" i="1">
              <a:solidFill>
                <a:srgbClr val="666666"/>
              </a:solidFill>
              <a:latin typeface="Arial" panose="020B060402020209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Template family 2 — NxM PCA templates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panose="020B0604020202090204"/>
              </a:rPr>
              <a:t>• Input: fitted curves passing fit_ok + NRMSE ≤ 0.4 + τ_rise ≤ 0.3 ms, at common onset, peak-normalized (PCA window 15550–24050, ≤ 3000 curves/channel)</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nxm0 = mean shape;  nxm1…nxm4 = first four principal components — a real pulse is fit as Σᵢ ampᵢ · nxmᵢ</a:t>
            </a:r>
            <a:endParaRPr sz="1400">
              <a:solidFill>
                <a:srgbClr val="333333"/>
              </a:solidFill>
              <a:latin typeface="Arial" panose="020B0604020202090204"/>
            </a:endParaRPr>
          </a:p>
          <a:p>
            <a:pPr>
              <a:spcAft>
                <a:spcPts val="500"/>
              </a:spcAft>
            </a:pPr>
            <a:r>
              <a:rPr sz="1400">
                <a:solidFill>
                  <a:srgbClr val="333333"/>
                </a:solidFill>
                <a:latin typeface="Arial" panose="020B0604020202090204"/>
              </a:rPr>
              <a:t>• PC1 + PC2 already capture 96–98% of the shape variance; all five delivered peak-normalized</a:t>
            </a:r>
            <a:endParaRPr sz="1400">
              <a:solidFill>
                <a:srgbClr val="333333"/>
              </a:solidFill>
              <a:latin typeface="Arial" panose="020B0604020202090204"/>
            </a:endParaRPr>
          </a:p>
        </p:txBody>
      </p:sp>
      <p:pic>
        <p:nvPicPr>
          <p:cNvPr id="5" name="Picture 4" descr="pca_zip7_PAS1.png"/>
          <p:cNvPicPr>
            <a:picLocks noChangeAspect="1"/>
          </p:cNvPicPr>
          <p:nvPr/>
        </p:nvPicPr>
        <p:blipFill>
          <a:blip r:embed="rId1"/>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2"/>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panose="020B0604020202090204"/>
              </a:rPr>
              <a:t>Z7 PAS1 / PBS1: nxm0 (mean) + nxm1–4 (PCs) — the oscillating components encode rise/fall-time variation</a:t>
            </a:r>
            <a:endParaRPr sz="1100" i="1">
              <a:solidFill>
                <a:srgbClr val="666666"/>
              </a:solidFill>
              <a:latin typeface="Arial" panose="020B060402020209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panose="020B0604020202090204"/>
              </a:rPr>
              <a:t>Delivered — and what remains</a:t>
            </a:r>
            <a:endParaRPr sz="2700" b="1">
              <a:solidFill>
                <a:srgbClr val="1F3864"/>
              </a:solidFill>
              <a:latin typeface="Arial" panose="020B0604020202090204"/>
            </a:endParaRP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panose="020B0604020202090204"/>
              </a:rPr>
              <a:t>• Delivered for all 13 zips, official cdmsbats PulseTemplates layout (zip{N}/{chan}, {chan}nxm0–4, summed PT/PS1/PS2):</a:t>
            </a:r>
            <a:endParaRPr sz="1600">
              <a:solidFill>
                <a:srgbClr val="333333"/>
              </a:solidFill>
              <a:latin typeface="Arial" panose="020B0604020202090204"/>
            </a:endParaRPr>
          </a:p>
          <a:p>
            <a:pPr lvl="1">
              <a:spcAft>
                <a:spcPts val="500"/>
              </a:spcAft>
            </a:pPr>
            <a:r>
              <a:rPr sz="1400">
                <a:solidFill>
                  <a:srgbClr val="666666"/>
                </a:solidFill>
                <a:latin typeface="Arial" panose="020B0604020202090204"/>
              </a:rPr>
              <a:t>– SNOLAB_R4_20260706_ZhihengLi_zip{N}.root — 2-exp NRMSE-weighted (1x1)</a:t>
            </a:r>
            <a:endParaRPr sz="1400">
              <a:solidFill>
                <a:srgbClr val="666666"/>
              </a:solidFill>
              <a:latin typeface="Arial" panose="020B0604020202090204"/>
            </a:endParaRPr>
          </a:p>
          <a:p>
            <a:pPr lvl="1">
              <a:spcAft>
                <a:spcPts val="500"/>
              </a:spcAft>
            </a:pPr>
            <a:r>
              <a:rPr sz="1400">
                <a:solidFill>
                  <a:srgbClr val="666666"/>
                </a:solidFill>
                <a:latin typeface="Arial" panose="020B0604020202090204"/>
              </a:rPr>
              <a:t>– SNOLAB_R4_20260707_ZhihengLi_pca_zip{N}.root — NxM PCA (normalized)</a:t>
            </a:r>
            <a:endParaRPr sz="1400">
              <a:solidFill>
                <a:srgbClr val="666666"/>
              </a:solidFill>
              <a:latin typeface="Arial" panose="020B0604020202090204"/>
            </a:endParaRPr>
          </a:p>
          <a:p>
            <a:pPr>
              <a:spcAft>
                <a:spcPts val="500"/>
              </a:spcAft>
            </a:pPr>
            <a:r>
              <a:rPr sz="1600">
                <a:solidFill>
                  <a:srgbClr val="333333"/>
                </a:solidFill>
                <a:latin typeface="Arial" panose="020B0604020202090204"/>
              </a:rPr>
              <a:t>• Every step is traceable: raw cache → per-series fit checkpoints indexed by EventNumber → self-documenting figures (11 types × 13 zips, all versioned)</a:t>
            </a:r>
            <a:endParaRPr sz="1600">
              <a:solidFill>
                <a:srgbClr val="333333"/>
              </a:solidFill>
              <a:latin typeface="Arial" panose="020B0604020202090204"/>
            </a:endParaRPr>
          </a:p>
          <a:p>
            <a:pPr>
              <a:spcAft>
                <a:spcPts val="500"/>
              </a:spcAft>
            </a:pPr>
            <a:r>
              <a:rPr sz="1600">
                <a:solidFill>
                  <a:srgbClr val="333333"/>
                </a:solidFill>
                <a:latin typeface="Arial" panose="020B0604020202090204"/>
              </a:rPr>
              <a:t>• Cuts derived from the data, validated in raw traces: NRMSE ≤ 0.4 (bimodal valley), τ_rise ≤ 0.3 ms (drift leakage)</a:t>
            </a:r>
            <a:endParaRPr sz="1600">
              <a:solidFill>
                <a:srgbClr val="333333"/>
              </a:solidFill>
              <a:latin typeface="Arial" panose="020B0604020202090204"/>
            </a:endParaRPr>
          </a:p>
          <a:p>
            <a:pPr>
              <a:spcAft>
                <a:spcPts val="500"/>
              </a:spcAft>
            </a:pPr>
            <a:r>
              <a:rPr sz="1600">
                <a:solidFill>
                  <a:srgbClr val="333333"/>
                </a:solidFill>
                <a:latin typeface="Arial" panose="020B0604020202090204"/>
              </a:rPr>
              <a:t>• Open items:</a:t>
            </a:r>
            <a:endParaRPr sz="1600">
              <a:solidFill>
                <a:srgbClr val="333333"/>
              </a:solidFill>
              <a:latin typeface="Arial" panose="020B0604020202090204"/>
            </a:endParaRPr>
          </a:p>
          <a:p>
            <a:pPr lvl="1">
              <a:spcAft>
                <a:spcPts val="500"/>
              </a:spcAft>
            </a:pPr>
            <a:r>
              <a:rPr sz="1400">
                <a:solidFill>
                  <a:srgbClr val="666666"/>
                </a:solidFill>
                <a:latin typeface="Arial" panose="020B0604020202090204"/>
              </a:rPr>
              <a:t>– final decision on the τ_rise ceiling vs the genuine slow-pulse population</a:t>
            </a:r>
            <a:endParaRPr sz="1400">
              <a:solidFill>
                <a:srgbClr val="666666"/>
              </a:solidFill>
              <a:latin typeface="Arial" panose="020B0604020202090204"/>
            </a:endParaRPr>
          </a:p>
          <a:p>
            <a:pPr lvl="1">
              <a:spcAft>
                <a:spcPts val="500"/>
              </a:spcAft>
            </a:pPr>
            <a:r>
              <a:rPr sz="1400">
                <a:solidFill>
                  <a:srgbClr val="666666"/>
                </a:solidFill>
                <a:latin typeface="Arial" panose="020B0604020202090204"/>
              </a:rPr>
              <a:t>– run the group's template-validation method on the new templates</a:t>
            </a:r>
            <a:endParaRPr sz="1400">
              <a:solidFill>
                <a:srgbClr val="666666"/>
              </a:solidFill>
              <a:latin typeface="Arial" panose="020B060402020209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6709</Words>
  <Application>WPS Writer</Application>
  <PresentationFormat>On-screen Show (4:3)</PresentationFormat>
  <Paragraphs>119</Paragraphs>
  <Slides>13</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13</vt:i4>
      </vt:variant>
    </vt:vector>
  </HeadingPairs>
  <TitlesOfParts>
    <vt:vector size="26" baseType="lpstr">
      <vt:lpstr>Arial</vt:lpstr>
      <vt:lpstr>宋体</vt:lpstr>
      <vt:lpstr>Wingdings</vt:lpstr>
      <vt:lpstr>Arial</vt:lpstr>
      <vt:lpstr>微软雅黑</vt:lpstr>
      <vt:lpstr>汉仪旗黑</vt:lpstr>
      <vt:lpstr>宋体</vt:lpstr>
      <vt:lpstr>Arial Unicode MS</vt:lpstr>
      <vt:lpstr>Calibri</vt:lpstr>
      <vt:lpstr>Helvetica Neue</vt:lpstr>
      <vt:lpstr>宋体-简</vt:lpstr>
      <vt:lpstr>汉仪书宋二KW</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李志恒</cp:lastModifiedBy>
  <cp:revision>2</cp:revision>
  <dcterms:created xsi:type="dcterms:W3CDTF">2026-07-14T22:19:47Z</dcterms:created>
  <dcterms:modified xsi:type="dcterms:W3CDTF">2026-07-14T22:19:47Z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50BBE6575B3FA42603B6566A52AFF5EE_42</vt:lpwstr>
  </property>
  <property fmtid="{D5CDD505-2E9C-101B-9397-08002B2CF9AE}" pid="3" name="KSOProductBuildVer">
    <vt:lpwstr>1033-6.12.0.8899</vt:lpwstr>
  </property>
</Properties>
</file>